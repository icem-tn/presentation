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[01] Cover  (45 s)
Bonjour à tous. Je m'appelle **Moutia Bensaad**. Je suis étudiant en Mastère 2, Systèmes Embarqués et Mobile, à l'ISET Nabeul. J'ai fait mon stage à ICEM Nabeul. Mon encadrant académique est **Monsieur Imed Hidri**. Mon encadrant société est **Monsieur Yassine Hammami**. Mon projet parle de *maintenance prédictive intelligente*. Il concerne deux machines Komax : la **Alpha 433 H** et la **Gamma 333 PC**. L'idée est simple. On installe des capteurs sur les machines. On envoie les données à une carte Raspberry Pi. On entraîne un modèle qui prédit les pannes. On montre les alertes sur une application web et une application mobile. Voici maintenant le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[02] Plan de la présentation  (30 s)
La présentation a **six parties**. D'abord, l'introduction et le contexte. Ensuite, l'état de l'art. Puis la conception. Après, le développement, qui est la partie principale. Puis une démonstration en direct. Et à la fin, les résultats et les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[03] Section 1 · Introduction et contexte  (5 s)
Commençons par le contexte.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[04] ICEM Nabeul  (40 s)
ICEM est une filiale du groupe **Coficab**. L'entreprise fabrique des câbles électriques pour l'industrie automobile. L'usine de Nabeul emploie plusieurs centaines de personnes. Chaque jour, elle produit des milliers de câbles. Les machines principales sont les machines **Komax**. Elles coupent et préparent les fils à grande vitesse. Si une machine tombe en panne, toute la ligne s'arrête. C'est pour ça que la maintenance prédictive est importante ici.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[05] Machines Alpha 433 H et Gamma 333 PC  (50 s)
Le projet cible deux machines. La première est la **Komax Alpha 433 H**. C'est une machine d'entrée de gamme. Elle a **quatre postes** et **six moteurs pas-à-pas**. Son cycle a sept étapes. La deuxième est la **Gamma 333 PC**. C'est une machine plus haut de gamme. Elle a une unité de sertissage double. Elle utilise des courroies avec une tension calibrée. Sur les deux machines, on trouve les mêmes zones critiques : la tête de coupe, les courroies, les capteurs et l'armoire électrique. On a analysé **environ mille pannes** dans l'historique ICEM. Ça nous a aidé à choisir ces zones.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[06] Problématique  (45 s)
Aujourd'hui, la maintenance à ICEM est surtout **corrective**. On répare après la panne. Il y a aussi une maintenance **préventive**. On change des pièces à date fixe. Les deux méthodes ont des limites. La corrective coûte cher, parce que la ligne s'arrête. La préventive gaspille des pièces qui marchent encore. La maintenance **prédictive** est différente. Elle intervient au bon moment, avec les données des capteurs. Mais sans capteurs, c'est impossible. Notre projet apporte ces capteurs, le traitement des données et les interfaces.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[07] Objectifs  (40 s)
On a fixé **trois objectifs**. **Premier objectif** : installer quatre types de capteurs sur les deux machines. Température, vibration, image thermique, et courant. **Deuxième objectif** : construire toute la chaîne, du capteur jusqu'à la notification. **Troisième objectif** : livrer deux applications. Une application web pour le responsable maintenance. Une application mobile pour le technicien. On a aussi ajouté un module de fiabilité, pour aider aux décisions.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[08] Section 2 · État de l'art  (5 s)
Passons à l'état de l'art.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[09] Méthodologie Scrum  (35 s)
Le projet a duré **six mois**, d'avril à septembre. On a utilisé la méthode **Scrum**. On a fait **six sprints** de trois à quatre semaines. Chaque sprint a livré une partie du projet. Sprint 1 : la modélisation. Sprint 2 : le backend. Sprint 3 : l'IA. Sprint 4 : le web. Sprint 5 : le mobile. Sprint 6 : l'intégration IoT. À la fin de chaque sprint, on a fait une revue pour valider.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[10] Capteurs et instrumentation  (55 s)
On a choisi **quatre types de capteurs**. Le **DS18B20** mesure la température. Il est placé sur le moteur, pour détecter la chaleur des roulements. Le **MPU-6050** mesure les vibrations. Il est placé près de la tête de coupe. Il détecte l'usure des courroies. La **caméra thermique AMG8833** donne une image de chaleur. Elle est placée au-dessus de la machine. Elle voit les points chauds. Enfin, la **pince SCT-013** mesure le courant électrique de l'armoire. Elle utilise un convertisseur ADS1015. Ces quatre capteurs couvrent les zones de panne les plus importantes.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[11] Stack technique  (35 s)
On a utilisé **trois blocs** logiciels. Pour le **backend** : Node.js, Express, MongoDB, et JWT pour l'authentification. Pour l'**IA** : Python, FastAPI, et scikit-learn. Nos modèles sont Random Forest et XGBoost. Pour le **frontend** : React pour le web, Flutter pour le mobile. On utilise aussi Firebase pour les notifications push. Le backend et l'IA sont déployés sur Render.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[12] Section 3 · Conception  (5 s)
Voici la conception.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[13] Architecture cinq couches  (50 s)
L'architecture a **cinq couches**. **Un** : la couche perception. Ce sont les capteurs physiques. **Deux** : la couche acquisition. C'est la Raspberry Pi qui lit les capteurs. **Trois** : la couche transport. Les données passent par HTTPS vers le serveur. **Quatre** : la couche traitement. Le backend et l'IA analysent les données. **Cinq** : la couche application. Le web et le mobile montrent les résultats. Chaque couche a son rôle. On peut changer une couche sans casser les autres.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[14] Raspberry Pi terrain  (40 s)
La Raspberry Pi est notre carte terrain. Elle lit les quatre capteurs. Les trois capteurs I2C sont sur le même bus. Le DS18B20 utilise un fil séparé. Un script Python lit chaque capteur. Il calcule les valeurs importantes. Puis il envoie un fichier **JSON** toutes les cinq secondes. Un service Linux redémarre le script si besoin. Si le réseau tombe, les données sont gardées en local. Elles sont renvoyées après.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[15] Modélisation UML  (45 s)
On a fait **deux diagrammes** UML principaux. Le **diagramme de cas d'utilisation**. Il montre six acteurs : responsable maintenance, chef de ligne, technicien, et trois systèmes : IoT, IA, et notifications. Il montre aussi les fonctions principales. Le **diagramme de classes** montre cinq entités : machine, utilisateur, intervention, alerte, capteur. Pour la maintenance, on a utilisé un seul type avec un champ *type* : préventif, correctif, ou prédictif. C'est plus simple pour les requêtes.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[16] Pipeline temps réel  (45 s)
Le pipeline temps réel a **cinq étapes**. **Un** : la Raspberry Pi envoie un JSON toutes les cinq secondes. **Deux** : le backend valide le JSON et l'enregistre dans MongoDB. **Trois** : le backend appelle le microservice IA. **Quatre** : FastAPI répond avec la probabilité de panne et la cause. **Cinq** : si la probabilité est plus grande que **80%**, une maintenance prédictive est créée. Une notification est envoyée au technicien. Tout ça prend moins d'une seconde.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[17] Section 4 · Développement  (5 s)
Passons au développement.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[18] Backend Express + MongoDB  (45 s)
Le backend est une API REST. Il a **huit ressources** principales : machines, utilisateurs, interventions, alertes, capteurs, maintenances, checklists, et analyses de fiabilité. L'authentification utilise **JWT**. Il y a **trois rôles** : responsable, chef de ligne, et technicien. Un middleware contrôle les accès. Il utilise un seul fichier de permissions. Le même fichier protège aussi l'interface. Un script *seed* initialise la base avec des données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[19] Microservice IA FastAPI  (45 s)
Le microservice IA est en Python, avec FastAPI. Il a **quatre endpoints** : type de panne, cause probable, probabilité, et prévision de fiabilité. On a deux modèles : **Random Forest** pour les causes physiques, et **XGBoost** pour la probabilité. Un troisième modèle, une régression linéaire, calcule la fiabilité future. Le backend appelle ce microservice à chaque nouvelle mesure. Ça n'arrête pas la Raspberry Pi.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[20] Dataset d'entraînement  (50 s)
On n'a pas installé les capteurs physiquement. Alors on a créé un **dataset synthétique**. Mais il est basé sur des données réelles. On a généré **environ soixante-cinq mille lectures**. On a utilisé les fiches techniques Komax, les manuels moteur, et surtout **l'historique de mille pannes ICEM**. Chaque type de panne a sa signature physique. Par exemple : plus quatre à huit degrés pour l'usure d'un roulement. Ou six ampères de surcharge pour une panne multi-moteurs. Ce dataset peut être réutilisé quand les capteurs seront installés.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[21] Taxonomie des causes  (45 s)
Le modèle classe les pannes en **treize causes physiques**, codées C01 à C13. Par exemple : usure moteur, désalignement lame, courroie détendue, contamination, surintensité, échauffement carte, capteur défaillant, obstruction, défaut alimentation, dérive calibration, blocage éjection, défaut communication, et non-signature. Avant, on utilisait des zones. Maintenant, avec les causes, le modèle donne une information plus utile. Il complète le diagnostic humain, il ne le remplace pas.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[22] Performances F1  (50 s)
On a testé **deux modèles** sur le même jeu de test. Le **Random Forest** est le modèle de référence. Il a un F1 de **quarante-cinq pour cent**. Il est correct sur les classes fréquentes, mais faible sur les rares. Le **XGBoost** est le modèle final. Il a un F1 de **quatre-vingt-treize pour cent**. Sa précision est plus de **90%** sur onze causes sur treize. XGBoost est meilleur parce qu'il gère mieux les données déséquilibrées. On a aussi utilisé **SMOTE** pour équilibrer les classes rares. Ces résultats valident notre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[23] Matrice de confusion  (35 s)
La matrice de confusion du XGBoost a une **diagonale forte**. La plupart des prédictions sont correctes. Les erreurs restantes concernent deux paires proches. **Un** : usure moteur et échauffement carte. Les deux donnent une signature de chaleur. **Deux** : courroie détendue et désalignement lame. Les deux donnent une signature de vibration. Ces confusions sont acceptables. En pratique, l'intervention corrige souvent les deux ensemble.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[24] Fonctionnalités web  (45 s)
L'application web est pour le **responsable maintenance**. Elle a **six modules**. Un tableau de bord avec les indicateurs MTBF et MTTR. Une gestion des machines et de leur historique. Un module d'interventions avec assignation. Un planning préventif dans un calendrier. Un centre d'alertes avec filtres. Un module de fiabilité avec rapport PDF. Tous les modules utilisent le même fichier de permissions du backend.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[25] Web · exemples d'écrans  (40 s)
Voici quelques écrans. Le **tableau de bord** montre les indicateurs par machine, avec des couleurs. Vert : normal. Orange : dégradé. Rouge : critique. La page **détail machine** montre l'historique, la checklist en cours, et les interventions passées. La page **interventions** a un badge *IA* quand la maintenance est créée automatiquement. Le module **fiabilité** génère un PDF prêt à archiver.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[26] Fonctionnalités mobile  (40 s)
L'application mobile est en **Flutter**. Elle est pour le **technicien** et le **chef de ligne**. Elle a **cinq écrans** principaux. Un tableau de bord simple. La liste des machines. Les interventions en cours, avec photos avant-après. Les alertes en direct, avec Firebase. Et le profil de l'utilisateur. Une règle importante : les photos doivent être prises avec la caméra, pas la galerie. C'est pour garantir la traçabilité.</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[27] Mobile · exemples d'écrans  (40 s)
Voici les écrans mobile. La **liste d'interventions** montre chaque tâche avec sa priorité. Le **détail intervention** permet de saisir un état, de joindre deux photos, et de signer la clôture. Les **alertes** arrivent en direct, avec vibration et son. La **checklist préventive** est présentée en grille. Chaque ligne se verrouille après validation, pour éviter les modifications en même temps.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[28] Analyse de fiabilité  (40 s)
Le module de fiabilité aide à la décision. Pour chaque machine, il calcule : le nombre de pannes, le temps moyen entre pannes, le taux de disponibilité, et une projection sur trois mois. La projection utilise une **régression linéaire**. Un rapport **PDF** est généré côté serveur. Il est téléchargeable depuis le web et depuis le mobile. La recommandation finale est simple : **conserver**, **surveiller**, ou **remplacer**.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[29] Déploiement  (35 s)
Le backend et le microservice IA sont sur **Render**. C'est une plateforme cloud gérée. La base MongoDB est sur **MongoDB Atlas**, sur un cluster gratuit en Europe. En local, on utilise PM2 pour superviser. En production, c'est Render qui supervise. Un endpoint */health* permet de vérifier que tout marche. Le mobile est distribué en **APK signé**.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[30] Section 5 · Démonstration  (5 s)
Passons à la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[31] KPI et résultats  (45 s)
Voici un résumé chiffré. **Quatre types de capteurs** par machine. **Environ soixante-cinq mille échantillons** d'entraînement. XGBoost à **quatre-vingt-treize pour cent** de F1. Latence bout-en-bout **moins d'une seconde**. **Deux applications**, web et mobile, sur la même API. Un microservice IA autonome. Un rapport de fiabilité en PDF. Les trois objectifs — capteurs, prédiction, interfaces — sont atteints.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[32] Perspectives  (40 s)
On a identifié **trois perspectives**. **Un** : installer les capteurs physiquement, et ré-entraîner le modèle sur les vraies données. **Deux** : étendre le système à d'autres machines du parc ICEM, par exemple les sertisseuses CFA. **Trois** : ajouter une couche de recommandation. Le système ne va pas juste détecter la panne. Il va aussi proposer l'action à faire. À plus long terme, on peut connecter notre système à la GMAO existante.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Inter"/>
              </a:rPr>
              <a:t>[33] Merci  (30 s)
Je vous remercie pour votre attention. Je remercie aussi **Monsieur Imed Hidri**, mon encadrant académique. Et **Monsieur Yassine Hammami**, mon encadrant société. Merci aussi à toute l'équipe ICEM Nabeul, qui m'a accueilli pendant six mois. Je suis prêt pour répondre à vos questions.
Réserve 3–5 min de démo live entre Section 5 et KPI selon le temps restant.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
            <a:ext cx="10911535" cy="292608"/>
          </a:xfrm>
          <a:prstGeom prst="rect">
            <a:avLst/>
          </a:prstGeom>
          <a:noFill/>
        </p:spPr>
        <p:txBody>
          <a:bodyPr wrap="square" lIns="0" rIns="0" tIns="0" bIns="0" anchor="t">
            <a:spAutoFit/>
          </a:bodyPr>
          <a:lstStyle/>
          <a:p>
            <a:pPr algn="l">
              <a:lnSpc>
                <a:spcPct val="110000"/>
              </a:lnSpc>
            </a:pPr>
            <a:r>
              <a:rPr sz="1100" b="1" i="0" spc="200">
                <a:solidFill>
                  <a:srgbClr val="FF9548"/>
                </a:solidFill>
                <a:latin typeface="JetBrains Mono"/>
              </a:rPr>
              <a:t>PROJET DE FIN D'ÉTUDES · MASTÈRE 2</a:t>
            </a:r>
          </a:p>
        </p:txBody>
      </p:sp>
      <p:sp>
        <p:nvSpPr>
          <p:cNvPr id="6" name="TextBox 5"/>
          <p:cNvSpPr txBox="1"/>
          <p:nvPr/>
        </p:nvSpPr>
        <p:spPr>
          <a:xfrm>
            <a:off x="640080" y="1463040"/>
            <a:ext cx="10911535" cy="1280160"/>
          </a:xfrm>
          <a:prstGeom prst="rect">
            <a:avLst/>
          </a:prstGeom>
          <a:noFill/>
        </p:spPr>
        <p:txBody>
          <a:bodyPr wrap="square" lIns="0" rIns="0" tIns="0" bIns="0" anchor="t">
            <a:spAutoFit/>
          </a:bodyPr>
          <a:lstStyle/>
          <a:p>
            <a:pPr algn="l">
              <a:lnSpc>
                <a:spcPct val="100000"/>
              </a:lnSpc>
            </a:pPr>
            <a:r>
              <a:rPr sz="7200" b="1" i="0">
                <a:solidFill>
                  <a:srgbClr val="FFFFFF"/>
                </a:solidFill>
                <a:latin typeface="Space Grotesk"/>
              </a:rPr>
              <a:t>Maintenance prédictive.</a:t>
            </a:r>
          </a:p>
        </p:txBody>
      </p:sp>
      <p:sp>
        <p:nvSpPr>
          <p:cNvPr id="7" name="TextBox 6"/>
          <p:cNvSpPr txBox="1"/>
          <p:nvPr/>
        </p:nvSpPr>
        <p:spPr>
          <a:xfrm>
            <a:off x="640080" y="2834640"/>
            <a:ext cx="10911535" cy="548640"/>
          </a:xfrm>
          <a:prstGeom prst="rect">
            <a:avLst/>
          </a:prstGeom>
          <a:noFill/>
        </p:spPr>
        <p:txBody>
          <a:bodyPr wrap="square" lIns="0" rIns="0" tIns="0" bIns="0" anchor="t">
            <a:spAutoFit/>
          </a:bodyPr>
          <a:lstStyle/>
          <a:p>
            <a:pPr algn="l">
              <a:lnSpc>
                <a:spcPct val="110000"/>
              </a:lnSpc>
            </a:pPr>
            <a:r>
              <a:rPr sz="2200" b="0" i="0">
                <a:solidFill>
                  <a:srgbClr val="C9D0DC"/>
                </a:solidFill>
                <a:latin typeface="Inter"/>
              </a:rPr>
              <a:t>Machines Komax Alpha 433 H &amp; Gamma 333 PC.</a:t>
            </a:r>
          </a:p>
        </p:txBody>
      </p:sp>
      <p:sp>
        <p:nvSpPr>
          <p:cNvPr id="8" name="TextBox 7"/>
          <p:cNvSpPr txBox="1"/>
          <p:nvPr/>
        </p:nvSpPr>
        <p:spPr>
          <a:xfrm>
            <a:off x="640080" y="3977639"/>
            <a:ext cx="4572000" cy="1645920"/>
          </a:xfrm>
          <a:prstGeom prst="rect">
            <a:avLst/>
          </a:prstGeom>
          <a:noFill/>
        </p:spPr>
        <p:txBody>
          <a:bodyPr wrap="square" lIns="0" rIns="0" tIns="0" bIns="0" anchor="t">
            <a:spAutoFit/>
          </a:bodyPr>
          <a:lstStyle/>
          <a:p>
            <a:pPr algn="l">
              <a:lnSpc>
                <a:spcPct val="120000"/>
              </a:lnSpc>
            </a:pPr>
            <a:r>
              <a:rPr sz="1400" b="1" i="0" spc="120">
                <a:solidFill>
                  <a:srgbClr val="FFFFFF"/>
                </a:solidFill>
                <a:latin typeface="Space Grotesk"/>
              </a:rPr>
              <a:t>MOUTIA BENSAAD</a:t>
            </a:r>
          </a:p>
          <a:p>
            <a:pPr algn="l">
              <a:lnSpc>
                <a:spcPct val="120000"/>
              </a:lnSpc>
              <a:spcBef>
                <a:spcPts val="400"/>
              </a:spcBef>
            </a:pPr>
            <a:r>
              <a:rPr sz="1100" b="0" i="0">
                <a:solidFill>
                  <a:srgbClr val="C9D0DC"/>
                </a:solidFill>
                <a:latin typeface="Inter"/>
              </a:rPr>
              <a:t>ISET Nabeul · Mastère 2 Systèmes Embarqués et Mobile</a:t>
            </a:r>
          </a:p>
          <a:p>
            <a:pPr algn="l">
              <a:lnSpc>
                <a:spcPct val="120000"/>
              </a:lnSpc>
            </a:pPr>
            <a:r>
              <a:rPr sz="600" b="0" i="0">
                <a:solidFill>
                  <a:srgbClr val="FFFFFF"/>
                </a:solidFill>
                <a:latin typeface="Inter"/>
              </a:rPr>
              <a:t> </a:t>
            </a:r>
          </a:p>
          <a:p>
            <a:pPr algn="l">
              <a:lnSpc>
                <a:spcPct val="120000"/>
              </a:lnSpc>
            </a:pPr>
            <a:r>
              <a:rPr sz="1100" b="0" i="0">
                <a:solidFill>
                  <a:srgbClr val="FFB37A"/>
                </a:solidFill>
                <a:latin typeface="Inter"/>
              </a:rPr>
              <a:t>Encadrant académique  ·  M. Imed Hidri</a:t>
            </a:r>
          </a:p>
          <a:p>
            <a:pPr algn="l">
              <a:lnSpc>
                <a:spcPct val="120000"/>
              </a:lnSpc>
            </a:pPr>
            <a:r>
              <a:rPr sz="1100" b="0" i="0">
                <a:solidFill>
                  <a:srgbClr val="FFB37A"/>
                </a:solidFill>
                <a:latin typeface="Inter"/>
              </a:rPr>
              <a:t>Encadrant société  ·  M. Yassine Hammami</a:t>
            </a:r>
          </a:p>
        </p:txBody>
      </p:sp>
      <p:sp>
        <p:nvSpPr>
          <p:cNvPr id="9" name="Rounded Rectangle 8"/>
          <p:cNvSpPr/>
          <p:nvPr/>
        </p:nvSpPr>
        <p:spPr>
          <a:xfrm>
            <a:off x="6858000" y="4114800"/>
            <a:ext cx="1554480" cy="128016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4251960"/>
            <a:ext cx="1554480" cy="502920"/>
          </a:xfrm>
          <a:prstGeom prst="rect">
            <a:avLst/>
          </a:prstGeom>
          <a:noFill/>
        </p:spPr>
        <p:txBody>
          <a:bodyPr wrap="square" lIns="0" rIns="0" tIns="0" bIns="0" anchor="t">
            <a:spAutoFit/>
          </a:bodyPr>
          <a:lstStyle/>
          <a:p>
            <a:pPr algn="ctr">
              <a:lnSpc>
                <a:spcPct val="110000"/>
              </a:lnSpc>
            </a:pPr>
            <a:r>
              <a:rPr sz="2600" b="1" i="0">
                <a:solidFill>
                  <a:srgbClr val="FF9548"/>
                </a:solidFill>
                <a:latin typeface="Space Grotesk"/>
              </a:rPr>
              <a:t>40 ans</a:t>
            </a:r>
          </a:p>
        </p:txBody>
      </p:sp>
      <p:sp>
        <p:nvSpPr>
          <p:cNvPr id="11" name="TextBox 10"/>
          <p:cNvSpPr txBox="1"/>
          <p:nvPr/>
        </p:nvSpPr>
        <p:spPr>
          <a:xfrm>
            <a:off x="6858000" y="4800600"/>
            <a:ext cx="1554480" cy="36576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d'expérience</a:t>
            </a:r>
          </a:p>
        </p:txBody>
      </p:sp>
      <p:sp>
        <p:nvSpPr>
          <p:cNvPr id="12" name="Rounded Rectangle 11"/>
          <p:cNvSpPr/>
          <p:nvPr/>
        </p:nvSpPr>
        <p:spPr>
          <a:xfrm>
            <a:off x="8549640" y="4114800"/>
            <a:ext cx="1554480" cy="128016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4251960"/>
            <a:ext cx="1554480" cy="502920"/>
          </a:xfrm>
          <a:prstGeom prst="rect">
            <a:avLst/>
          </a:prstGeom>
          <a:noFill/>
        </p:spPr>
        <p:txBody>
          <a:bodyPr wrap="square" lIns="0" rIns="0" tIns="0" bIns="0" anchor="t">
            <a:spAutoFit/>
          </a:bodyPr>
          <a:lstStyle/>
          <a:p>
            <a:pPr algn="ctr">
              <a:lnSpc>
                <a:spcPct val="110000"/>
              </a:lnSpc>
            </a:pPr>
            <a:r>
              <a:rPr sz="2600" b="1" i="0">
                <a:solidFill>
                  <a:srgbClr val="FF9548"/>
                </a:solidFill>
                <a:latin typeface="Space Grotesk"/>
              </a:rPr>
              <a:t>1600+</a:t>
            </a:r>
          </a:p>
        </p:txBody>
      </p:sp>
      <p:sp>
        <p:nvSpPr>
          <p:cNvPr id="14" name="TextBox 13"/>
          <p:cNvSpPr txBox="1"/>
          <p:nvPr/>
        </p:nvSpPr>
        <p:spPr>
          <a:xfrm>
            <a:off x="8549640" y="4800600"/>
            <a:ext cx="1554480" cy="36576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salariés</a:t>
            </a:r>
          </a:p>
        </p:txBody>
      </p:sp>
      <p:sp>
        <p:nvSpPr>
          <p:cNvPr id="15" name="Rounded Rectangle 14"/>
          <p:cNvSpPr/>
          <p:nvPr/>
        </p:nvSpPr>
        <p:spPr>
          <a:xfrm>
            <a:off x="10241280" y="4114800"/>
            <a:ext cx="1554480" cy="128016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0" y="4251960"/>
            <a:ext cx="1554480" cy="502920"/>
          </a:xfrm>
          <a:prstGeom prst="rect">
            <a:avLst/>
          </a:prstGeom>
          <a:noFill/>
        </p:spPr>
        <p:txBody>
          <a:bodyPr wrap="square" lIns="0" rIns="0" tIns="0" bIns="0" anchor="t">
            <a:spAutoFit/>
          </a:bodyPr>
          <a:lstStyle/>
          <a:p>
            <a:pPr algn="ctr">
              <a:lnSpc>
                <a:spcPct val="110000"/>
              </a:lnSpc>
            </a:pPr>
            <a:r>
              <a:rPr sz="2600" b="1" i="0">
                <a:solidFill>
                  <a:srgbClr val="FF9548"/>
                </a:solidFill>
                <a:latin typeface="Space Grotesk"/>
              </a:rPr>
              <a:t>3</a:t>
            </a:r>
          </a:p>
        </p:txBody>
      </p:sp>
      <p:sp>
        <p:nvSpPr>
          <p:cNvPr id="17" name="TextBox 16"/>
          <p:cNvSpPr txBox="1"/>
          <p:nvPr/>
        </p:nvSpPr>
        <p:spPr>
          <a:xfrm>
            <a:off x="10241280" y="4800600"/>
            <a:ext cx="1554480" cy="36576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secteurs</a:t>
            </a:r>
          </a:p>
        </p:txBody>
      </p:sp>
      <p:sp>
        <p:nvSpPr>
          <p:cNvPr id="18" name="TextBox 17"/>
          <p:cNvSpPr txBox="1"/>
          <p:nvPr/>
        </p:nvSpPr>
        <p:spPr>
          <a:xfrm>
            <a:off x="640080" y="6492240"/>
            <a:ext cx="10911535" cy="274320"/>
          </a:xfrm>
          <a:prstGeom prst="rect">
            <a:avLst/>
          </a:prstGeom>
          <a:noFill/>
        </p:spPr>
        <p:txBody>
          <a:bodyPr wrap="square" lIns="0" rIns="0" tIns="0" bIns="0" anchor="t">
            <a:spAutoFit/>
          </a:bodyPr>
          <a:lstStyle/>
          <a:p>
            <a:pPr algn="ctr">
              <a:lnSpc>
                <a:spcPct val="110000"/>
              </a:lnSpc>
            </a:pPr>
            <a:r>
              <a:rPr sz="1000" b="0" i="0" spc="180">
                <a:solidFill>
                  <a:srgbClr val="7D8496"/>
                </a:solidFill>
                <a:latin typeface="JetBrains Mono"/>
              </a:rPr>
              <a:t>ISET NABEUL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PLAN DE LA PRÉSENTATION</a:t>
            </a:r>
          </a:p>
        </p:txBody>
      </p:sp>
      <p:sp>
        <p:nvSpPr>
          <p:cNvPr id="6" name="TextBox 5"/>
          <p:cNvSpPr txBox="1"/>
          <p:nvPr/>
        </p:nvSpPr>
        <p:spPr>
          <a:xfrm>
            <a:off x="640080" y="914400"/>
            <a:ext cx="10911535" cy="914400"/>
          </a:xfrm>
          <a:prstGeom prst="rect">
            <a:avLst/>
          </a:prstGeom>
          <a:noFill/>
        </p:spPr>
        <p:txBody>
          <a:bodyPr wrap="square" lIns="0" rIns="0" tIns="0" bIns="0" anchor="t">
            <a:spAutoFit/>
          </a:bodyPr>
          <a:lstStyle/>
          <a:p>
            <a:pPr algn="l">
              <a:lnSpc>
                <a:spcPct val="105000"/>
              </a:lnSpc>
            </a:pPr>
            <a:r>
              <a:rPr sz="4800" b="1" i="0">
                <a:solidFill>
                  <a:srgbClr val="FFFFFF"/>
                </a:solidFill>
                <a:latin typeface="Space Grotesk"/>
              </a:rPr>
              <a:t>Six étapes.</a:t>
            </a:r>
          </a:p>
        </p:txBody>
      </p:sp>
      <p:sp>
        <p:nvSpPr>
          <p:cNvPr id="7" name="TextBox 6"/>
          <p:cNvSpPr txBox="1"/>
          <p:nvPr/>
        </p:nvSpPr>
        <p:spPr>
          <a:xfrm>
            <a:off x="640080" y="1691640"/>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Six sections, une progression logique.</a:t>
            </a:r>
          </a:p>
        </p:txBody>
      </p:sp>
      <p:sp>
        <p:nvSpPr>
          <p:cNvPr id="8" name="Rounded Rectangle 7"/>
          <p:cNvSpPr/>
          <p:nvPr/>
        </p:nvSpPr>
        <p:spPr>
          <a:xfrm>
            <a:off x="640080" y="2468880"/>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70048"/>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0" name="TextBox 9"/>
          <p:cNvSpPr txBox="1"/>
          <p:nvPr/>
        </p:nvSpPr>
        <p:spPr>
          <a:xfrm>
            <a:off x="868680" y="2962656"/>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Introduction et contexte</a:t>
            </a:r>
          </a:p>
        </p:txBody>
      </p:sp>
      <p:sp>
        <p:nvSpPr>
          <p:cNvPr id="11" name="TextBox 10"/>
          <p:cNvSpPr txBox="1"/>
          <p:nvPr/>
        </p:nvSpPr>
        <p:spPr>
          <a:xfrm>
            <a:off x="868680" y="3465576"/>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ICEM · machines · problématique</a:t>
            </a:r>
          </a:p>
        </p:txBody>
      </p:sp>
      <p:sp>
        <p:nvSpPr>
          <p:cNvPr id="12" name="Rounded Rectangle 11"/>
          <p:cNvSpPr/>
          <p:nvPr/>
        </p:nvSpPr>
        <p:spPr>
          <a:xfrm>
            <a:off x="4344314" y="2468880"/>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914" y="2670048"/>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4" name="TextBox 13"/>
          <p:cNvSpPr txBox="1"/>
          <p:nvPr/>
        </p:nvSpPr>
        <p:spPr>
          <a:xfrm>
            <a:off x="4572914" y="2962656"/>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État de l'art</a:t>
            </a:r>
          </a:p>
        </p:txBody>
      </p:sp>
      <p:sp>
        <p:nvSpPr>
          <p:cNvPr id="15" name="TextBox 14"/>
          <p:cNvSpPr txBox="1"/>
          <p:nvPr/>
        </p:nvSpPr>
        <p:spPr>
          <a:xfrm>
            <a:off x="4572914" y="3465576"/>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Scrum · matériels · stack</a:t>
            </a:r>
          </a:p>
        </p:txBody>
      </p:sp>
      <p:sp>
        <p:nvSpPr>
          <p:cNvPr id="16" name="Rounded Rectangle 15"/>
          <p:cNvSpPr/>
          <p:nvPr/>
        </p:nvSpPr>
        <p:spPr>
          <a:xfrm>
            <a:off x="8048548" y="2468880"/>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7148" y="2670048"/>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03</a:t>
            </a:r>
          </a:p>
        </p:txBody>
      </p:sp>
      <p:sp>
        <p:nvSpPr>
          <p:cNvPr id="18" name="TextBox 17"/>
          <p:cNvSpPr txBox="1"/>
          <p:nvPr/>
        </p:nvSpPr>
        <p:spPr>
          <a:xfrm>
            <a:off x="8277148" y="2962656"/>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Conception</a:t>
            </a:r>
          </a:p>
        </p:txBody>
      </p:sp>
      <p:sp>
        <p:nvSpPr>
          <p:cNvPr id="19" name="TextBox 18"/>
          <p:cNvSpPr txBox="1"/>
          <p:nvPr/>
        </p:nvSpPr>
        <p:spPr>
          <a:xfrm>
            <a:off x="8277148" y="3465576"/>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Architecture 5 couches · UML · Pipeline</a:t>
            </a:r>
          </a:p>
        </p:txBody>
      </p:sp>
      <p:sp>
        <p:nvSpPr>
          <p:cNvPr id="20" name="Rounded Rectangle 19"/>
          <p:cNvSpPr/>
          <p:nvPr/>
        </p:nvSpPr>
        <p:spPr>
          <a:xfrm>
            <a:off x="640080" y="4443984"/>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645152"/>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04</a:t>
            </a:r>
          </a:p>
        </p:txBody>
      </p:sp>
      <p:sp>
        <p:nvSpPr>
          <p:cNvPr id="22" name="TextBox 21"/>
          <p:cNvSpPr txBox="1"/>
          <p:nvPr/>
        </p:nvSpPr>
        <p:spPr>
          <a:xfrm>
            <a:off x="868680" y="4937760"/>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Développement</a:t>
            </a:r>
          </a:p>
        </p:txBody>
      </p:sp>
      <p:sp>
        <p:nvSpPr>
          <p:cNvPr id="23" name="TextBox 22"/>
          <p:cNvSpPr txBox="1"/>
          <p:nvPr/>
        </p:nvSpPr>
        <p:spPr>
          <a:xfrm>
            <a:off x="868680" y="5440680"/>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Backend · IA · web · mobile · déploiement</a:t>
            </a:r>
          </a:p>
        </p:txBody>
      </p:sp>
      <p:sp>
        <p:nvSpPr>
          <p:cNvPr id="24" name="Rounded Rectangle 23"/>
          <p:cNvSpPr/>
          <p:nvPr/>
        </p:nvSpPr>
        <p:spPr>
          <a:xfrm>
            <a:off x="4344314" y="4443984"/>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914" y="4645152"/>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05</a:t>
            </a:r>
          </a:p>
        </p:txBody>
      </p:sp>
      <p:sp>
        <p:nvSpPr>
          <p:cNvPr id="26" name="TextBox 25"/>
          <p:cNvSpPr txBox="1"/>
          <p:nvPr/>
        </p:nvSpPr>
        <p:spPr>
          <a:xfrm>
            <a:off x="4572914" y="4937760"/>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Démonstration</a:t>
            </a:r>
          </a:p>
        </p:txBody>
      </p:sp>
      <p:sp>
        <p:nvSpPr>
          <p:cNvPr id="27" name="TextBox 26"/>
          <p:cNvSpPr txBox="1"/>
          <p:nvPr/>
        </p:nvSpPr>
        <p:spPr>
          <a:xfrm>
            <a:off x="4572914" y="5440680"/>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Passage à la démo live</a:t>
            </a:r>
          </a:p>
        </p:txBody>
      </p:sp>
      <p:sp>
        <p:nvSpPr>
          <p:cNvPr id="28" name="Rounded Rectangle 27"/>
          <p:cNvSpPr/>
          <p:nvPr/>
        </p:nvSpPr>
        <p:spPr>
          <a:xfrm>
            <a:off x="8048548" y="4443984"/>
            <a:ext cx="3503066" cy="177393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7148" y="4645152"/>
            <a:ext cx="3045866"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06</a:t>
            </a:r>
          </a:p>
        </p:txBody>
      </p:sp>
      <p:sp>
        <p:nvSpPr>
          <p:cNvPr id="30" name="TextBox 29"/>
          <p:cNvSpPr txBox="1"/>
          <p:nvPr/>
        </p:nvSpPr>
        <p:spPr>
          <a:xfrm>
            <a:off x="8277148" y="4937760"/>
            <a:ext cx="3045866"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Résultats et conclusion</a:t>
            </a:r>
          </a:p>
        </p:txBody>
      </p:sp>
      <p:sp>
        <p:nvSpPr>
          <p:cNvPr id="31" name="TextBox 30"/>
          <p:cNvSpPr txBox="1"/>
          <p:nvPr/>
        </p:nvSpPr>
        <p:spPr>
          <a:xfrm>
            <a:off x="8277148" y="5440680"/>
            <a:ext cx="3045866" cy="859536"/>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KPI · perspectives · merci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01</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Introduction et contexte</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ICEM · Machines Komax · Problématique · Objectifs</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L'ENTREPRISE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ICEM Nabeul.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Sous-traitant faisceaux électriques. Automobile · électroménager · médical.</a:t>
            </a:r>
          </a:p>
        </p:txBody>
      </p:sp>
      <p:sp>
        <p:nvSpPr>
          <p:cNvPr id="9" name="TextBox 8"/>
          <p:cNvSpPr txBox="1"/>
          <p:nvPr/>
        </p:nvSpPr>
        <p:spPr>
          <a:xfrm>
            <a:off x="640080" y="2651760"/>
            <a:ext cx="5943600" cy="3200400"/>
          </a:xfrm>
          <a:prstGeom prst="rect">
            <a:avLst/>
          </a:prstGeom>
          <a:noFill/>
        </p:spPr>
        <p:txBody>
          <a:bodyPr wrap="square" lIns="0" rIns="0" tIns="0" bIns="0" anchor="t">
            <a:spAutoFit/>
          </a:bodyPr>
          <a:lstStyle/>
          <a:p>
            <a:pPr algn="l">
              <a:lnSpc>
                <a:spcPct val="120000"/>
              </a:lnSpc>
            </a:pPr>
            <a:r>
              <a:rPr sz="1200" b="0" i="0" spc="120">
                <a:solidFill>
                  <a:srgbClr val="FFB37A"/>
                </a:solidFill>
                <a:latin typeface="JetBrains Mono"/>
              </a:rPr>
              <a:t>Coficab group · site industriel Nabeul</a:t>
            </a:r>
          </a:p>
          <a:p>
            <a:pPr algn="l">
              <a:lnSpc>
                <a:spcPct val="120000"/>
              </a:lnSpc>
            </a:pPr>
            <a:r>
              <a:rPr sz="800" b="0" i="0">
                <a:solidFill>
                  <a:srgbClr val="FFFFFF"/>
                </a:solidFill>
                <a:latin typeface="Inter"/>
              </a:rPr>
              <a:t> </a:t>
            </a:r>
          </a:p>
          <a:p>
            <a:pPr algn="l">
              <a:lnSpc>
                <a:spcPct val="140000"/>
              </a:lnSpc>
              <a:spcBef>
                <a:spcPts val="600"/>
              </a:spcBef>
            </a:pPr>
            <a:r>
              <a:rPr sz="1500" b="0" i="0">
                <a:solidFill>
                  <a:srgbClr val="FFFFFF"/>
                </a:solidFill>
                <a:latin typeface="Inter"/>
              </a:rPr>
              <a:t>ICEM est spécialisée dans la fabrication de faisceaux électriques pour l'automobile, l'électroménager et le médical.</a:t>
            </a:r>
          </a:p>
          <a:p>
            <a:pPr algn="l">
              <a:lnSpc>
                <a:spcPct val="120000"/>
              </a:lnSpc>
            </a:pPr>
            <a:r>
              <a:rPr sz="800" b="0" i="0">
                <a:solidFill>
                  <a:srgbClr val="FFFFFF"/>
                </a:solidFill>
                <a:latin typeface="Inter"/>
              </a:rPr>
              <a:t> </a:t>
            </a:r>
          </a:p>
          <a:p>
            <a:pPr algn="l">
              <a:lnSpc>
                <a:spcPct val="140000"/>
              </a:lnSpc>
              <a:spcBef>
                <a:spcPts val="600"/>
              </a:spcBef>
            </a:pPr>
            <a:r>
              <a:rPr sz="1300" b="0" i="0">
                <a:solidFill>
                  <a:srgbClr val="C9D0DC"/>
                </a:solidFill>
                <a:latin typeface="Inter"/>
              </a:rPr>
              <a:t>L'usine intègre coupe, sertissage, torsadage et contrôle qualité. Les machines Komax constituent le cœur de la ligne de production.</a:t>
            </a:r>
          </a:p>
        </p:txBody>
      </p:sp>
      <p:sp>
        <p:nvSpPr>
          <p:cNvPr id="10" name="Rounded Rectangle 9"/>
          <p:cNvSpPr/>
          <p:nvPr/>
        </p:nvSpPr>
        <p:spPr>
          <a:xfrm>
            <a:off x="7223760" y="2743200"/>
            <a:ext cx="4389120" cy="96012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0" y="2880360"/>
            <a:ext cx="1828800" cy="685800"/>
          </a:xfrm>
          <a:prstGeom prst="rect">
            <a:avLst/>
          </a:prstGeom>
          <a:noFill/>
        </p:spPr>
        <p:txBody>
          <a:bodyPr wrap="square" lIns="0" rIns="0" tIns="0" bIns="0" anchor="ctr">
            <a:spAutoFit/>
          </a:bodyPr>
          <a:lstStyle/>
          <a:p>
            <a:pPr algn="l">
              <a:lnSpc>
                <a:spcPct val="100000"/>
              </a:lnSpc>
            </a:pPr>
            <a:r>
              <a:rPr sz="3200" b="1" i="0">
                <a:solidFill>
                  <a:srgbClr val="FF9548"/>
                </a:solidFill>
                <a:latin typeface="Space Grotesk"/>
              </a:rPr>
              <a:t>40 ans</a:t>
            </a:r>
          </a:p>
        </p:txBody>
      </p:sp>
      <p:sp>
        <p:nvSpPr>
          <p:cNvPr id="12" name="TextBox 11"/>
          <p:cNvSpPr txBox="1"/>
          <p:nvPr/>
        </p:nvSpPr>
        <p:spPr>
          <a:xfrm>
            <a:off x="9326880" y="2743200"/>
            <a:ext cx="2103120" cy="960120"/>
          </a:xfrm>
          <a:prstGeom prst="rect">
            <a:avLst/>
          </a:prstGeom>
          <a:noFill/>
        </p:spPr>
        <p:txBody>
          <a:bodyPr wrap="square" lIns="0" rIns="0" tIns="0" bIns="0" anchor="ctr">
            <a:spAutoFit/>
          </a:bodyPr>
          <a:lstStyle/>
          <a:p>
            <a:pPr algn="l">
              <a:lnSpc>
                <a:spcPct val="130000"/>
              </a:lnSpc>
            </a:pPr>
            <a:r>
              <a:rPr sz="1300" b="0" i="0">
                <a:solidFill>
                  <a:srgbClr val="C9D0DC"/>
                </a:solidFill>
                <a:latin typeface="Inter"/>
              </a:rPr>
              <a:t>d'expérience industrielle</a:t>
            </a:r>
          </a:p>
        </p:txBody>
      </p:sp>
      <p:sp>
        <p:nvSpPr>
          <p:cNvPr id="13" name="Rounded Rectangle 12"/>
          <p:cNvSpPr/>
          <p:nvPr/>
        </p:nvSpPr>
        <p:spPr>
          <a:xfrm>
            <a:off x="7223760" y="3840480"/>
            <a:ext cx="4389120" cy="96012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3977640"/>
            <a:ext cx="1828800" cy="685800"/>
          </a:xfrm>
          <a:prstGeom prst="rect">
            <a:avLst/>
          </a:prstGeom>
          <a:noFill/>
        </p:spPr>
        <p:txBody>
          <a:bodyPr wrap="square" lIns="0" rIns="0" tIns="0" bIns="0" anchor="ctr">
            <a:spAutoFit/>
          </a:bodyPr>
          <a:lstStyle/>
          <a:p>
            <a:pPr algn="l">
              <a:lnSpc>
                <a:spcPct val="100000"/>
              </a:lnSpc>
            </a:pPr>
            <a:r>
              <a:rPr sz="3200" b="1" i="0">
                <a:solidFill>
                  <a:srgbClr val="FF9548"/>
                </a:solidFill>
                <a:latin typeface="Space Grotesk"/>
              </a:rPr>
              <a:t>1600+</a:t>
            </a:r>
          </a:p>
        </p:txBody>
      </p:sp>
      <p:sp>
        <p:nvSpPr>
          <p:cNvPr id="15" name="TextBox 14"/>
          <p:cNvSpPr txBox="1"/>
          <p:nvPr/>
        </p:nvSpPr>
        <p:spPr>
          <a:xfrm>
            <a:off x="9326880" y="3840480"/>
            <a:ext cx="2103120" cy="960120"/>
          </a:xfrm>
          <a:prstGeom prst="rect">
            <a:avLst/>
          </a:prstGeom>
          <a:noFill/>
        </p:spPr>
        <p:txBody>
          <a:bodyPr wrap="square" lIns="0" rIns="0" tIns="0" bIns="0" anchor="ctr">
            <a:spAutoFit/>
          </a:bodyPr>
          <a:lstStyle/>
          <a:p>
            <a:pPr algn="l">
              <a:lnSpc>
                <a:spcPct val="130000"/>
              </a:lnSpc>
            </a:pPr>
            <a:r>
              <a:rPr sz="1300" b="0" i="0">
                <a:solidFill>
                  <a:srgbClr val="C9D0DC"/>
                </a:solidFill>
                <a:latin typeface="Inter"/>
              </a:rPr>
              <a:t>salariés</a:t>
            </a:r>
          </a:p>
        </p:txBody>
      </p:sp>
      <p:sp>
        <p:nvSpPr>
          <p:cNvPr id="16" name="Rounded Rectangle 15"/>
          <p:cNvSpPr/>
          <p:nvPr/>
        </p:nvSpPr>
        <p:spPr>
          <a:xfrm>
            <a:off x="7223760" y="4937760"/>
            <a:ext cx="4389120" cy="96012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0" y="5074920"/>
            <a:ext cx="1828800" cy="685800"/>
          </a:xfrm>
          <a:prstGeom prst="rect">
            <a:avLst/>
          </a:prstGeom>
          <a:noFill/>
        </p:spPr>
        <p:txBody>
          <a:bodyPr wrap="square" lIns="0" rIns="0" tIns="0" bIns="0" anchor="ctr">
            <a:spAutoFit/>
          </a:bodyPr>
          <a:lstStyle/>
          <a:p>
            <a:pPr algn="l">
              <a:lnSpc>
                <a:spcPct val="100000"/>
              </a:lnSpc>
            </a:pPr>
            <a:r>
              <a:rPr sz="3200" b="1" i="0">
                <a:solidFill>
                  <a:srgbClr val="FF9548"/>
                </a:solidFill>
                <a:latin typeface="Space Grotesk"/>
              </a:rPr>
              <a:t>3</a:t>
            </a:r>
          </a:p>
        </p:txBody>
      </p:sp>
      <p:sp>
        <p:nvSpPr>
          <p:cNvPr id="18" name="TextBox 17"/>
          <p:cNvSpPr txBox="1"/>
          <p:nvPr/>
        </p:nvSpPr>
        <p:spPr>
          <a:xfrm>
            <a:off x="9326880" y="4937760"/>
            <a:ext cx="2103120" cy="960120"/>
          </a:xfrm>
          <a:prstGeom prst="rect">
            <a:avLst/>
          </a:prstGeom>
          <a:noFill/>
        </p:spPr>
        <p:txBody>
          <a:bodyPr wrap="square" lIns="0" rIns="0" tIns="0" bIns="0" anchor="ctr">
            <a:spAutoFit/>
          </a:bodyPr>
          <a:lstStyle/>
          <a:p>
            <a:pPr algn="l">
              <a:lnSpc>
                <a:spcPct val="130000"/>
              </a:lnSpc>
            </a:pPr>
            <a:r>
              <a:rPr sz="1300" b="0" i="0">
                <a:solidFill>
                  <a:srgbClr val="C9D0DC"/>
                </a:solidFill>
                <a:latin typeface="Inter"/>
              </a:rPr>
              <a:t>secteurs (auto · maison · médical)</a:t>
            </a:r>
          </a:p>
        </p:txBody>
      </p:sp>
      <p:sp>
        <p:nvSpPr>
          <p:cNvPr id="19" name="TextBox 1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04 / 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LES DEUX MACHINES CIBLES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Alpha 433 H · Gamma 333 PC.</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Machines Komax de coupe et sertissage de fil.</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71800"/>
            <a:ext cx="458708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KOMAX</a:t>
            </a:r>
          </a:p>
        </p:txBody>
      </p:sp>
      <p:sp>
        <p:nvSpPr>
          <p:cNvPr id="11" name="TextBox 10"/>
          <p:cNvSpPr txBox="1"/>
          <p:nvPr/>
        </p:nvSpPr>
        <p:spPr>
          <a:xfrm>
            <a:off x="1005840" y="3291840"/>
            <a:ext cx="4587087" cy="640080"/>
          </a:xfrm>
          <a:prstGeom prst="rect">
            <a:avLst/>
          </a:prstGeom>
          <a:noFill/>
        </p:spPr>
        <p:txBody>
          <a:bodyPr wrap="square" lIns="0" rIns="0" tIns="0" bIns="0" anchor="t">
            <a:spAutoFit/>
          </a:bodyPr>
          <a:lstStyle/>
          <a:p>
            <a:pPr algn="l">
              <a:lnSpc>
                <a:spcPct val="110000"/>
              </a:lnSpc>
            </a:pPr>
            <a:r>
              <a:rPr sz="2800" b="1" i="0">
                <a:solidFill>
                  <a:srgbClr val="FFFFFF"/>
                </a:solidFill>
                <a:latin typeface="Space Grotesk"/>
              </a:rPr>
              <a:t>Alpha 433 H</a:t>
            </a:r>
          </a:p>
        </p:txBody>
      </p:sp>
      <p:sp>
        <p:nvSpPr>
          <p:cNvPr id="12" name="TextBox 11"/>
          <p:cNvSpPr txBox="1"/>
          <p:nvPr/>
        </p:nvSpPr>
        <p:spPr>
          <a:xfrm>
            <a:off x="1005840" y="3886200"/>
            <a:ext cx="4587087" cy="365760"/>
          </a:xfrm>
          <a:prstGeom prst="rect">
            <a:avLst/>
          </a:prstGeom>
          <a:noFill/>
        </p:spPr>
        <p:txBody>
          <a:bodyPr wrap="square" lIns="0" rIns="0" tIns="0" bIns="0" anchor="t">
            <a:spAutoFit/>
          </a:bodyPr>
          <a:lstStyle/>
          <a:p>
            <a:pPr algn="l">
              <a:lnSpc>
                <a:spcPct val="110000"/>
              </a:lnSpc>
            </a:pPr>
            <a:r>
              <a:rPr sz="1300" b="0" i="1">
                <a:solidFill>
                  <a:srgbClr val="FFB37A"/>
                </a:solidFill>
                <a:latin typeface="Inter"/>
              </a:rPr>
              <a:t>Servomoteurs électriques</a:t>
            </a:r>
          </a:p>
        </p:txBody>
      </p:sp>
      <p:sp>
        <p:nvSpPr>
          <p:cNvPr id="13" name="TextBox 12"/>
          <p:cNvSpPr txBox="1"/>
          <p:nvPr/>
        </p:nvSpPr>
        <p:spPr>
          <a:xfrm>
            <a:off x="1005840" y="43891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ACTIONNEURS</a:t>
            </a:r>
          </a:p>
        </p:txBody>
      </p:sp>
      <p:sp>
        <p:nvSpPr>
          <p:cNvPr id="14" name="TextBox 13"/>
          <p:cNvSpPr txBox="1"/>
          <p:nvPr/>
        </p:nvSpPr>
        <p:spPr>
          <a:xfrm>
            <a:off x="2834640" y="43891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6 servos BLDC</a:t>
            </a:r>
          </a:p>
        </p:txBody>
      </p:sp>
      <p:sp>
        <p:nvSpPr>
          <p:cNvPr id="15" name="TextBox 14"/>
          <p:cNvSpPr txBox="1"/>
          <p:nvPr/>
        </p:nvSpPr>
        <p:spPr>
          <a:xfrm>
            <a:off x="1005840" y="48463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CYCLE</a:t>
            </a:r>
          </a:p>
        </p:txBody>
      </p:sp>
      <p:sp>
        <p:nvSpPr>
          <p:cNvPr id="16" name="TextBox 15"/>
          <p:cNvSpPr txBox="1"/>
          <p:nvPr/>
        </p:nvSpPr>
        <p:spPr>
          <a:xfrm>
            <a:off x="2834640" y="48463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Ultra-rapide</a:t>
            </a:r>
          </a:p>
        </p:txBody>
      </p:sp>
      <p:sp>
        <p:nvSpPr>
          <p:cNvPr id="17" name="TextBox 16"/>
          <p:cNvSpPr txBox="1"/>
          <p:nvPr/>
        </p:nvSpPr>
        <p:spPr>
          <a:xfrm>
            <a:off x="1005840" y="53035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SECTION DU FIL</a:t>
            </a:r>
          </a:p>
        </p:txBody>
      </p:sp>
      <p:sp>
        <p:nvSpPr>
          <p:cNvPr id="18" name="TextBox 17"/>
          <p:cNvSpPr txBox="1"/>
          <p:nvPr/>
        </p:nvSpPr>
        <p:spPr>
          <a:xfrm>
            <a:off x="2834640" y="53035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0,5 – 6 mm²</a:t>
            </a:r>
          </a:p>
        </p:txBody>
      </p:sp>
      <p:sp>
        <p:nvSpPr>
          <p:cNvPr id="19" name="TextBox 18"/>
          <p:cNvSpPr txBox="1"/>
          <p:nvPr/>
        </p:nvSpPr>
        <p:spPr>
          <a:xfrm>
            <a:off x="1005840" y="57607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POSITIONNEMENT</a:t>
            </a:r>
          </a:p>
        </p:txBody>
      </p:sp>
      <p:sp>
        <p:nvSpPr>
          <p:cNvPr id="20" name="TextBox 19"/>
          <p:cNvSpPr txBox="1"/>
          <p:nvPr/>
        </p:nvSpPr>
        <p:spPr>
          <a:xfrm>
            <a:off x="2834640" y="57607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Entrée / milieu de gamme</a:t>
            </a:r>
          </a:p>
        </p:txBody>
      </p:sp>
      <p:sp>
        <p:nvSpPr>
          <p:cNvPr id="21" name="Rounded Rectangle 20"/>
          <p:cNvSpPr/>
          <p:nvPr/>
        </p:nvSpPr>
        <p:spPr>
          <a:xfrm>
            <a:off x="6233007"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8767" y="2971800"/>
            <a:ext cx="458708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KOMAX</a:t>
            </a:r>
          </a:p>
        </p:txBody>
      </p:sp>
      <p:sp>
        <p:nvSpPr>
          <p:cNvPr id="23" name="TextBox 22"/>
          <p:cNvSpPr txBox="1"/>
          <p:nvPr/>
        </p:nvSpPr>
        <p:spPr>
          <a:xfrm>
            <a:off x="6598767" y="3291840"/>
            <a:ext cx="4587087" cy="640080"/>
          </a:xfrm>
          <a:prstGeom prst="rect">
            <a:avLst/>
          </a:prstGeom>
          <a:noFill/>
        </p:spPr>
        <p:txBody>
          <a:bodyPr wrap="square" lIns="0" rIns="0" tIns="0" bIns="0" anchor="t">
            <a:spAutoFit/>
          </a:bodyPr>
          <a:lstStyle/>
          <a:p>
            <a:pPr algn="l">
              <a:lnSpc>
                <a:spcPct val="110000"/>
              </a:lnSpc>
            </a:pPr>
            <a:r>
              <a:rPr sz="2800" b="1" i="0">
                <a:solidFill>
                  <a:srgbClr val="FFFFFF"/>
                </a:solidFill>
                <a:latin typeface="Space Grotesk"/>
              </a:rPr>
              <a:t>Gamma 333 PC</a:t>
            </a:r>
          </a:p>
        </p:txBody>
      </p:sp>
      <p:sp>
        <p:nvSpPr>
          <p:cNvPr id="24" name="TextBox 23"/>
          <p:cNvSpPr txBox="1"/>
          <p:nvPr/>
        </p:nvSpPr>
        <p:spPr>
          <a:xfrm>
            <a:off x="6598767" y="3886200"/>
            <a:ext cx="4587087" cy="365760"/>
          </a:xfrm>
          <a:prstGeom prst="rect">
            <a:avLst/>
          </a:prstGeom>
          <a:noFill/>
        </p:spPr>
        <p:txBody>
          <a:bodyPr wrap="square" lIns="0" rIns="0" tIns="0" bIns="0" anchor="t">
            <a:spAutoFit/>
          </a:bodyPr>
          <a:lstStyle/>
          <a:p>
            <a:pPr algn="l">
              <a:lnSpc>
                <a:spcPct val="110000"/>
              </a:lnSpc>
            </a:pPr>
            <a:r>
              <a:rPr sz="1300" b="0" i="1">
                <a:solidFill>
                  <a:srgbClr val="FFB37A"/>
                </a:solidFill>
                <a:latin typeface="Inter"/>
              </a:rPr>
              <a:t>Actionneurs pneumatiques + servos</a:t>
            </a:r>
          </a:p>
        </p:txBody>
      </p:sp>
      <p:sp>
        <p:nvSpPr>
          <p:cNvPr id="25" name="TextBox 24"/>
          <p:cNvSpPr txBox="1"/>
          <p:nvPr/>
        </p:nvSpPr>
        <p:spPr>
          <a:xfrm>
            <a:off x="6598767" y="43891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ACTIONNEURS</a:t>
            </a:r>
          </a:p>
        </p:txBody>
      </p:sp>
      <p:sp>
        <p:nvSpPr>
          <p:cNvPr id="26" name="TextBox 25"/>
          <p:cNvSpPr txBox="1"/>
          <p:nvPr/>
        </p:nvSpPr>
        <p:spPr>
          <a:xfrm>
            <a:off x="8427567" y="43891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Pneumatique + servos</a:t>
            </a:r>
          </a:p>
        </p:txBody>
      </p:sp>
      <p:sp>
        <p:nvSpPr>
          <p:cNvPr id="27" name="TextBox 26"/>
          <p:cNvSpPr txBox="1"/>
          <p:nvPr/>
        </p:nvSpPr>
        <p:spPr>
          <a:xfrm>
            <a:off x="6598767" y="48463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CYCLE</a:t>
            </a:r>
          </a:p>
        </p:txBody>
      </p:sp>
      <p:sp>
        <p:nvSpPr>
          <p:cNvPr id="28" name="TextBox 27"/>
          <p:cNvSpPr txBox="1"/>
          <p:nvPr/>
        </p:nvSpPr>
        <p:spPr>
          <a:xfrm>
            <a:off x="8427567" y="48463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Standard</a:t>
            </a:r>
          </a:p>
        </p:txBody>
      </p:sp>
      <p:sp>
        <p:nvSpPr>
          <p:cNvPr id="29" name="TextBox 28"/>
          <p:cNvSpPr txBox="1"/>
          <p:nvPr/>
        </p:nvSpPr>
        <p:spPr>
          <a:xfrm>
            <a:off x="6598767" y="53035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SECTION DU FIL</a:t>
            </a:r>
          </a:p>
        </p:txBody>
      </p:sp>
      <p:sp>
        <p:nvSpPr>
          <p:cNvPr id="30" name="TextBox 29"/>
          <p:cNvSpPr txBox="1"/>
          <p:nvPr/>
        </p:nvSpPr>
        <p:spPr>
          <a:xfrm>
            <a:off x="8427567" y="53035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0,22 – 4 mm²</a:t>
            </a:r>
          </a:p>
        </p:txBody>
      </p:sp>
      <p:sp>
        <p:nvSpPr>
          <p:cNvPr id="31" name="TextBox 30"/>
          <p:cNvSpPr txBox="1"/>
          <p:nvPr/>
        </p:nvSpPr>
        <p:spPr>
          <a:xfrm>
            <a:off x="6598767" y="5760720"/>
            <a:ext cx="173736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POSITIONNEMENT</a:t>
            </a:r>
          </a:p>
        </p:txBody>
      </p:sp>
      <p:sp>
        <p:nvSpPr>
          <p:cNvPr id="32" name="TextBox 31"/>
          <p:cNvSpPr txBox="1"/>
          <p:nvPr/>
        </p:nvSpPr>
        <p:spPr>
          <a:xfrm>
            <a:off x="8427567" y="5760720"/>
            <a:ext cx="2758287" cy="32004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Milieu de gamme</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05 /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LA PROBLÉMATIQUE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Une panne coûte cher.</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Maintenance corrective : trop tard, trop long, trop cher.</a:t>
            </a:r>
          </a:p>
        </p:txBody>
      </p:sp>
      <p:sp>
        <p:nvSpPr>
          <p:cNvPr id="9" name="Rounded Rectangle 8"/>
          <p:cNvSpPr/>
          <p:nvPr/>
        </p:nvSpPr>
        <p:spPr>
          <a:xfrm>
            <a:off x="640080" y="2651760"/>
            <a:ext cx="3454298" cy="228600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80360"/>
            <a:ext cx="3088538" cy="914400"/>
          </a:xfrm>
          <a:prstGeom prst="rect">
            <a:avLst/>
          </a:prstGeom>
          <a:noFill/>
        </p:spPr>
        <p:txBody>
          <a:bodyPr wrap="square" lIns="0" rIns="0" tIns="0" bIns="0" anchor="t">
            <a:spAutoFit/>
          </a:bodyPr>
          <a:lstStyle/>
          <a:p>
            <a:pPr algn="ctr">
              <a:lnSpc>
                <a:spcPct val="100000"/>
              </a:lnSpc>
            </a:pPr>
            <a:r>
              <a:rPr sz="4800" b="1" i="0">
                <a:solidFill>
                  <a:srgbClr val="FF9548"/>
                </a:solidFill>
                <a:latin typeface="Space Grotesk"/>
              </a:rPr>
              <a:t>1467</a:t>
            </a:r>
          </a:p>
        </p:txBody>
      </p:sp>
      <p:sp>
        <p:nvSpPr>
          <p:cNvPr id="11" name="TextBox 10"/>
          <p:cNvSpPr txBox="1"/>
          <p:nvPr/>
        </p:nvSpPr>
        <p:spPr>
          <a:xfrm>
            <a:off x="822960" y="3703320"/>
            <a:ext cx="3088538"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Pannes documentées</a:t>
            </a:r>
          </a:p>
        </p:txBody>
      </p:sp>
      <p:sp>
        <p:nvSpPr>
          <p:cNvPr id="12" name="TextBox 11"/>
          <p:cNvSpPr txBox="1"/>
          <p:nvPr/>
        </p:nvSpPr>
        <p:spPr>
          <a:xfrm>
            <a:off x="822960" y="4023360"/>
            <a:ext cx="3088538"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Historique ICEM · 2019 – 2024</a:t>
            </a:r>
          </a:p>
        </p:txBody>
      </p:sp>
      <p:sp>
        <p:nvSpPr>
          <p:cNvPr id="13" name="Rounded Rectangle 12"/>
          <p:cNvSpPr/>
          <p:nvPr/>
        </p:nvSpPr>
        <p:spPr>
          <a:xfrm>
            <a:off x="4368698" y="2651760"/>
            <a:ext cx="3454298" cy="228600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1578" y="2880360"/>
            <a:ext cx="3088538" cy="914400"/>
          </a:xfrm>
          <a:prstGeom prst="rect">
            <a:avLst/>
          </a:prstGeom>
          <a:noFill/>
        </p:spPr>
        <p:txBody>
          <a:bodyPr wrap="square" lIns="0" rIns="0" tIns="0" bIns="0" anchor="t">
            <a:spAutoFit/>
          </a:bodyPr>
          <a:lstStyle/>
          <a:p>
            <a:pPr algn="ctr">
              <a:lnSpc>
                <a:spcPct val="100000"/>
              </a:lnSpc>
            </a:pPr>
            <a:r>
              <a:rPr sz="4800" b="1" i="0">
                <a:solidFill>
                  <a:srgbClr val="FF9548"/>
                </a:solidFill>
                <a:latin typeface="Space Grotesk"/>
              </a:rPr>
              <a:t>12 zones</a:t>
            </a:r>
          </a:p>
        </p:txBody>
      </p:sp>
      <p:sp>
        <p:nvSpPr>
          <p:cNvPr id="15" name="TextBox 14"/>
          <p:cNvSpPr txBox="1"/>
          <p:nvPr/>
        </p:nvSpPr>
        <p:spPr>
          <a:xfrm>
            <a:off x="4551578" y="3703320"/>
            <a:ext cx="3088538"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Sous-ensembles touchés</a:t>
            </a:r>
          </a:p>
        </p:txBody>
      </p:sp>
      <p:sp>
        <p:nvSpPr>
          <p:cNvPr id="16" name="TextBox 15"/>
          <p:cNvSpPr txBox="1"/>
          <p:nvPr/>
        </p:nvSpPr>
        <p:spPr>
          <a:xfrm>
            <a:off x="4551578" y="4023360"/>
            <a:ext cx="3088538"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Alpha 433 H · Gamma 333 PC</a:t>
            </a:r>
          </a:p>
        </p:txBody>
      </p:sp>
      <p:sp>
        <p:nvSpPr>
          <p:cNvPr id="17" name="Rounded Rectangle 16"/>
          <p:cNvSpPr/>
          <p:nvPr/>
        </p:nvSpPr>
        <p:spPr>
          <a:xfrm>
            <a:off x="8097316" y="2651760"/>
            <a:ext cx="3454298" cy="228600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0196" y="2880360"/>
            <a:ext cx="3088538" cy="914400"/>
          </a:xfrm>
          <a:prstGeom prst="rect">
            <a:avLst/>
          </a:prstGeom>
          <a:noFill/>
        </p:spPr>
        <p:txBody>
          <a:bodyPr wrap="square" lIns="0" rIns="0" tIns="0" bIns="0" anchor="t">
            <a:spAutoFit/>
          </a:bodyPr>
          <a:lstStyle/>
          <a:p>
            <a:pPr algn="ctr">
              <a:lnSpc>
                <a:spcPct val="100000"/>
              </a:lnSpc>
            </a:pPr>
            <a:r>
              <a:rPr sz="4800" b="1" i="0">
                <a:solidFill>
                  <a:srgbClr val="FF9548"/>
                </a:solidFill>
                <a:latin typeface="Space Grotesk"/>
              </a:rPr>
              <a:t>40 %</a:t>
            </a:r>
          </a:p>
        </p:txBody>
      </p:sp>
      <p:sp>
        <p:nvSpPr>
          <p:cNvPr id="19" name="TextBox 18"/>
          <p:cNvSpPr txBox="1"/>
          <p:nvPr/>
        </p:nvSpPr>
        <p:spPr>
          <a:xfrm>
            <a:off x="8280196" y="3703320"/>
            <a:ext cx="3088538"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Pannes évitables</a:t>
            </a:r>
          </a:p>
        </p:txBody>
      </p:sp>
      <p:sp>
        <p:nvSpPr>
          <p:cNvPr id="20" name="TextBox 19"/>
          <p:cNvSpPr txBox="1"/>
          <p:nvPr/>
        </p:nvSpPr>
        <p:spPr>
          <a:xfrm>
            <a:off x="8280196" y="4023360"/>
            <a:ext cx="3088538"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Avec détection préalable</a:t>
            </a:r>
          </a:p>
        </p:txBody>
      </p:sp>
      <p:sp>
        <p:nvSpPr>
          <p:cNvPr id="21" name="Rounded Rectangle 20"/>
          <p:cNvSpPr/>
          <p:nvPr/>
        </p:nvSpPr>
        <p:spPr>
          <a:xfrm>
            <a:off x="640080" y="5303520"/>
            <a:ext cx="10911535" cy="868680"/>
          </a:xfrm>
          <a:prstGeom prst="roundRect">
            <a:avLst>
              <a:gd name="adj" fmla="val 6000"/>
            </a:avLst>
          </a:prstGeom>
          <a:solidFill>
            <a:srgbClr val="101A45">
              <a:alpha val="3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303520"/>
            <a:ext cx="10911535" cy="868680"/>
          </a:xfrm>
          <a:prstGeom prst="rect">
            <a:avLst/>
          </a:prstGeom>
          <a:noFill/>
        </p:spPr>
        <p:txBody>
          <a:bodyPr wrap="square" lIns="0" rIns="0" tIns="0" bIns="0" anchor="ctr">
            <a:spAutoFit/>
          </a:bodyPr>
          <a:lstStyle/>
          <a:p>
            <a:pPr algn="ctr">
              <a:lnSpc>
                <a:spcPct val="110000"/>
              </a:lnSpc>
            </a:pPr>
            <a:r>
              <a:rPr sz="2000" b="1" i="0">
                <a:solidFill>
                  <a:srgbClr val="FFB37A"/>
                </a:solidFill>
                <a:latin typeface="Space Grotesk"/>
              </a:rPr>
              <a:t>Notre solution  ·  prédire avant la panne.</a:t>
            </a:r>
          </a:p>
        </p:txBody>
      </p:sp>
      <p:sp>
        <p:nvSpPr>
          <p:cNvPr id="23" name="TextBox 2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06 / 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01 · INTRODUCTION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OBJECTIF DU PROJET</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Trois verbes.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Une chaîne simple, de la mesure à la décision.</a:t>
            </a:r>
          </a:p>
        </p:txBody>
      </p:sp>
      <p:sp>
        <p:nvSpPr>
          <p:cNvPr id="9" name="Rounded Rectangle 8"/>
          <p:cNvSpPr/>
          <p:nvPr/>
        </p:nvSpPr>
        <p:spPr>
          <a:xfrm>
            <a:off x="640080" y="2651760"/>
            <a:ext cx="3484778"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1" name="TextBox 10"/>
          <p:cNvSpPr txBox="1"/>
          <p:nvPr/>
        </p:nvSpPr>
        <p:spPr>
          <a:xfrm>
            <a:off x="868680"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Prédire</a:t>
            </a:r>
          </a:p>
        </p:txBody>
      </p:sp>
      <p:sp>
        <p:nvSpPr>
          <p:cNvPr id="12" name="TextBox 11"/>
          <p:cNvSpPr txBox="1"/>
          <p:nvPr/>
        </p:nvSpPr>
        <p:spPr>
          <a:xfrm>
            <a:off x="868680" y="3648456"/>
            <a:ext cx="3027578"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Modèles ML par cause (Random Forest, XGBoost) entraînés sur historique + signaux synthétiques ancrés physiquement.</a:t>
            </a:r>
          </a:p>
        </p:txBody>
      </p:sp>
      <p:sp>
        <p:nvSpPr>
          <p:cNvPr id="13" name="Rounded Rectangle 12"/>
          <p:cNvSpPr/>
          <p:nvPr/>
        </p:nvSpPr>
        <p:spPr>
          <a:xfrm>
            <a:off x="4353458" y="2651760"/>
            <a:ext cx="3484778"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2058"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5" name="TextBox 14"/>
          <p:cNvSpPr txBox="1"/>
          <p:nvPr/>
        </p:nvSpPr>
        <p:spPr>
          <a:xfrm>
            <a:off x="4582058"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Alerter</a:t>
            </a:r>
          </a:p>
        </p:txBody>
      </p:sp>
      <p:sp>
        <p:nvSpPr>
          <p:cNvPr id="16" name="TextBox 15"/>
          <p:cNvSpPr txBox="1"/>
          <p:nvPr/>
        </p:nvSpPr>
        <p:spPr>
          <a:xfrm>
            <a:off x="4582058" y="3648456"/>
            <a:ext cx="3027578"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Notifications mobile en temps réel via Firebase — technicien prévenu en moins d'une minute.</a:t>
            </a:r>
          </a:p>
        </p:txBody>
      </p:sp>
      <p:sp>
        <p:nvSpPr>
          <p:cNvPr id="17" name="Rounded Rectangle 16"/>
          <p:cNvSpPr/>
          <p:nvPr/>
        </p:nvSpPr>
        <p:spPr>
          <a:xfrm>
            <a:off x="8066836" y="2651760"/>
            <a:ext cx="3484778"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5436"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03</a:t>
            </a:r>
          </a:p>
        </p:txBody>
      </p:sp>
      <p:sp>
        <p:nvSpPr>
          <p:cNvPr id="19" name="TextBox 18"/>
          <p:cNvSpPr txBox="1"/>
          <p:nvPr/>
        </p:nvSpPr>
        <p:spPr>
          <a:xfrm>
            <a:off x="8295436"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Réduire</a:t>
            </a:r>
          </a:p>
        </p:txBody>
      </p:sp>
      <p:sp>
        <p:nvSpPr>
          <p:cNvPr id="20" name="TextBox 19"/>
          <p:cNvSpPr txBox="1"/>
          <p:nvPr/>
        </p:nvSpPr>
        <p:spPr>
          <a:xfrm>
            <a:off x="8295436" y="3648456"/>
            <a:ext cx="3027578"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Coût de maintenance et arrêts de production, en intervenant au bon moment plutôt qu'à date fixe.</a:t>
            </a:r>
          </a:p>
        </p:txBody>
      </p:sp>
      <p:sp>
        <p:nvSpPr>
          <p:cNvPr id="21" name="TextBox 20"/>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07 / 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02</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Étude préliminaire et état de l'art</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Méthodologie · Matériels · Stack technique</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02 · ÉTAT DE L'ART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MÉTHODOLOGIE DE TRAVAIL</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Méthodologie Scrum.</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Cycle itératif adopté pendant les 6 mois du stage.</a:t>
            </a:r>
          </a:p>
        </p:txBody>
      </p:sp>
      <p:sp>
        <p:nvSpPr>
          <p:cNvPr id="9" name="Rounded Rectangle 8"/>
          <p:cNvSpPr/>
          <p:nvPr/>
        </p:nvSpPr>
        <p:spPr>
          <a:xfrm>
            <a:off x="640080" y="2606040"/>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33141"/>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01</a:t>
            </a:r>
          </a:p>
        </p:txBody>
      </p:sp>
      <p:sp>
        <p:nvSpPr>
          <p:cNvPr id="11" name="TextBox 10"/>
          <p:cNvSpPr txBox="1"/>
          <p:nvPr/>
        </p:nvSpPr>
        <p:spPr>
          <a:xfrm>
            <a:off x="1874520" y="2606040"/>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Backlog produit</a:t>
            </a:r>
          </a:p>
        </p:txBody>
      </p:sp>
      <p:sp>
        <p:nvSpPr>
          <p:cNvPr id="12" name="TextBox 11"/>
          <p:cNvSpPr txBox="1"/>
          <p:nvPr/>
        </p:nvSpPr>
        <p:spPr>
          <a:xfrm>
            <a:off x="5715000" y="2606040"/>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Besoins ICEM · exigences fonctionnelles priorisées</a:t>
            </a:r>
          </a:p>
        </p:txBody>
      </p:sp>
      <p:sp>
        <p:nvSpPr>
          <p:cNvPr id="13" name="Rounded Rectangle 12"/>
          <p:cNvSpPr/>
          <p:nvPr/>
        </p:nvSpPr>
        <p:spPr>
          <a:xfrm>
            <a:off x="640080" y="3354019"/>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48112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02</a:t>
            </a:r>
          </a:p>
        </p:txBody>
      </p:sp>
      <p:sp>
        <p:nvSpPr>
          <p:cNvPr id="15" name="TextBox 14"/>
          <p:cNvSpPr txBox="1"/>
          <p:nvPr/>
        </p:nvSpPr>
        <p:spPr>
          <a:xfrm>
            <a:off x="1874520" y="3354019"/>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Sprints</a:t>
            </a:r>
          </a:p>
        </p:txBody>
      </p:sp>
      <p:sp>
        <p:nvSpPr>
          <p:cNvPr id="16" name="TextBox 15"/>
          <p:cNvSpPr txBox="1"/>
          <p:nvPr/>
        </p:nvSpPr>
        <p:spPr>
          <a:xfrm>
            <a:off x="5715000" y="3354019"/>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2 à 4 semaines · livrable incrémental à chaque itération</a:t>
            </a:r>
          </a:p>
        </p:txBody>
      </p:sp>
      <p:sp>
        <p:nvSpPr>
          <p:cNvPr id="17" name="Rounded Rectangle 16"/>
          <p:cNvSpPr/>
          <p:nvPr/>
        </p:nvSpPr>
        <p:spPr>
          <a:xfrm>
            <a:off x="640080" y="4101998"/>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22910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03</a:t>
            </a:r>
          </a:p>
        </p:txBody>
      </p:sp>
      <p:sp>
        <p:nvSpPr>
          <p:cNvPr id="19" name="TextBox 18"/>
          <p:cNvSpPr txBox="1"/>
          <p:nvPr/>
        </p:nvSpPr>
        <p:spPr>
          <a:xfrm>
            <a:off x="1874520" y="4101998"/>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Daily stand-up</a:t>
            </a:r>
          </a:p>
        </p:txBody>
      </p:sp>
      <p:sp>
        <p:nvSpPr>
          <p:cNvPr id="20" name="TextBox 19"/>
          <p:cNvSpPr txBox="1"/>
          <p:nvPr/>
        </p:nvSpPr>
        <p:spPr>
          <a:xfrm>
            <a:off x="5715000" y="4101998"/>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10 min · état d'avancement · blocages identifiés</a:t>
            </a:r>
          </a:p>
        </p:txBody>
      </p:sp>
      <p:sp>
        <p:nvSpPr>
          <p:cNvPr id="21" name="Rounded Rectangle 20"/>
          <p:cNvSpPr/>
          <p:nvPr/>
        </p:nvSpPr>
        <p:spPr>
          <a:xfrm>
            <a:off x="640080" y="4849977"/>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977079"/>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04</a:t>
            </a:r>
          </a:p>
        </p:txBody>
      </p:sp>
      <p:sp>
        <p:nvSpPr>
          <p:cNvPr id="23" name="TextBox 22"/>
          <p:cNvSpPr txBox="1"/>
          <p:nvPr/>
        </p:nvSpPr>
        <p:spPr>
          <a:xfrm>
            <a:off x="1874520" y="4849977"/>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Revue de sprint</a:t>
            </a:r>
          </a:p>
        </p:txBody>
      </p:sp>
      <p:sp>
        <p:nvSpPr>
          <p:cNvPr id="24" name="TextBox 23"/>
          <p:cNvSpPr txBox="1"/>
          <p:nvPr/>
        </p:nvSpPr>
        <p:spPr>
          <a:xfrm>
            <a:off x="5715000" y="4849977"/>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Livrable présenté aux encadreurs · feedback intégré</a:t>
            </a:r>
          </a:p>
        </p:txBody>
      </p:sp>
      <p:sp>
        <p:nvSpPr>
          <p:cNvPr id="25" name="Rounded Rectangle 24"/>
          <p:cNvSpPr/>
          <p:nvPr/>
        </p:nvSpPr>
        <p:spPr>
          <a:xfrm>
            <a:off x="640080" y="5597956"/>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725058"/>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05</a:t>
            </a:r>
          </a:p>
        </p:txBody>
      </p:sp>
      <p:sp>
        <p:nvSpPr>
          <p:cNvPr id="27" name="TextBox 26"/>
          <p:cNvSpPr txBox="1"/>
          <p:nvPr/>
        </p:nvSpPr>
        <p:spPr>
          <a:xfrm>
            <a:off x="1874520" y="5597956"/>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Rétrospective</a:t>
            </a:r>
          </a:p>
        </p:txBody>
      </p:sp>
      <p:sp>
        <p:nvSpPr>
          <p:cNvPr id="28" name="TextBox 27"/>
          <p:cNvSpPr txBox="1"/>
          <p:nvPr/>
        </p:nvSpPr>
        <p:spPr>
          <a:xfrm>
            <a:off x="5715000" y="5597956"/>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Améliorer le cycle suivant · dette technique traitée</a:t>
            </a:r>
          </a:p>
        </p:txBody>
      </p:sp>
      <p:sp>
        <p:nvSpPr>
          <p:cNvPr id="29" name="TextBox 2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09 /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02 · ÉTAT DE L'ART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MATÉRIEL D'INSTRUMENTATION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Cinq capteurs.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Quatre grandeurs physiques · une seule vérité terrain.</a:t>
            </a:r>
          </a:p>
        </p:txBody>
      </p:sp>
      <p:sp>
        <p:nvSpPr>
          <p:cNvPr id="9" name="Rounded Rectangle 8"/>
          <p:cNvSpPr/>
          <p:nvPr/>
        </p:nvSpPr>
        <p:spPr>
          <a:xfrm>
            <a:off x="640080"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53513"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×2</a:t>
            </a:r>
          </a:p>
        </p:txBody>
      </p:sp>
      <p:sp>
        <p:nvSpPr>
          <p:cNvPr id="11" name="TextBox 10"/>
          <p:cNvSpPr txBox="1"/>
          <p:nvPr/>
        </p:nvSpPr>
        <p:spPr>
          <a:xfrm>
            <a:off x="868680"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DS18B20 ×2</a:t>
            </a:r>
          </a:p>
        </p:txBody>
      </p:sp>
      <p:sp>
        <p:nvSpPr>
          <p:cNvPr id="12" name="TextBox 11"/>
          <p:cNvSpPr txBox="1"/>
          <p:nvPr/>
        </p:nvSpPr>
        <p:spPr>
          <a:xfrm>
            <a:off x="868680"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Température · sonde 1-Wire
Moteur + armoire électrique</a:t>
            </a:r>
          </a:p>
        </p:txBody>
      </p:sp>
      <p:sp>
        <p:nvSpPr>
          <p:cNvPr id="13" name="Rounded Rectangle 12"/>
          <p:cNvSpPr/>
          <p:nvPr/>
        </p:nvSpPr>
        <p:spPr>
          <a:xfrm>
            <a:off x="3425113"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3713"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MPU-6050</a:t>
            </a:r>
          </a:p>
        </p:txBody>
      </p:sp>
      <p:sp>
        <p:nvSpPr>
          <p:cNvPr id="15" name="TextBox 14"/>
          <p:cNvSpPr txBox="1"/>
          <p:nvPr/>
        </p:nvSpPr>
        <p:spPr>
          <a:xfrm>
            <a:off x="3653713"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Vibrations · accéléromètre 3 axes
Châssis moteur</a:t>
            </a:r>
          </a:p>
        </p:txBody>
      </p:sp>
      <p:sp>
        <p:nvSpPr>
          <p:cNvPr id="16" name="Rounded Rectangle 15"/>
          <p:cNvSpPr/>
          <p:nvPr/>
        </p:nvSpPr>
        <p:spPr>
          <a:xfrm>
            <a:off x="6210147"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8747"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AMG8833</a:t>
            </a:r>
          </a:p>
        </p:txBody>
      </p:sp>
      <p:sp>
        <p:nvSpPr>
          <p:cNvPr id="18" name="TextBox 17"/>
          <p:cNvSpPr txBox="1"/>
          <p:nvPr/>
        </p:nvSpPr>
        <p:spPr>
          <a:xfrm>
            <a:off x="6438747"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Imagerie thermique · grille 8×8
Vue armoire</a:t>
            </a:r>
          </a:p>
        </p:txBody>
      </p:sp>
      <p:sp>
        <p:nvSpPr>
          <p:cNvPr id="19" name="Rounded Rectangle 18"/>
          <p:cNvSpPr/>
          <p:nvPr/>
        </p:nvSpPr>
        <p:spPr>
          <a:xfrm>
            <a:off x="8995181" y="2651760"/>
            <a:ext cx="2556433"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23781" y="2852928"/>
            <a:ext cx="2099233"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SCT-013</a:t>
            </a:r>
          </a:p>
        </p:txBody>
      </p:sp>
      <p:sp>
        <p:nvSpPr>
          <p:cNvPr id="21" name="TextBox 20"/>
          <p:cNvSpPr txBox="1"/>
          <p:nvPr/>
        </p:nvSpPr>
        <p:spPr>
          <a:xfrm>
            <a:off x="9223781" y="3355848"/>
            <a:ext cx="2099233"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Courant électrique · pince ampèremétrique
Feeder armoire (via ADS1015)</a:t>
            </a:r>
          </a:p>
        </p:txBody>
      </p:sp>
      <p:sp>
        <p:nvSpPr>
          <p:cNvPr id="22" name="TextBox 21"/>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ÉCHANTILLONNAGE 1 s   ·   TRANSMISSION 60 s   ·   JSON HTTP POST</a:t>
            </a:r>
          </a:p>
        </p:txBody>
      </p:sp>
      <p:sp>
        <p:nvSpPr>
          <p:cNvPr id="23" name="TextBox 2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10 /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02 · ÉTAT DE L'ART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STACK TECHNIQUE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Stack technique.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Trois familles technologiques mobilisées.</a:t>
            </a:r>
          </a:p>
        </p:txBody>
      </p:sp>
      <p:sp>
        <p:nvSpPr>
          <p:cNvPr id="9" name="Rounded Rectangle 8"/>
          <p:cNvSpPr/>
          <p:nvPr/>
        </p:nvSpPr>
        <p:spPr>
          <a:xfrm>
            <a:off x="640080" y="2697480"/>
            <a:ext cx="3454298" cy="352044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71800"/>
            <a:ext cx="2905658" cy="365760"/>
          </a:xfrm>
          <a:prstGeom prst="rect">
            <a:avLst/>
          </a:prstGeom>
          <a:noFill/>
        </p:spPr>
        <p:txBody>
          <a:bodyPr wrap="square" lIns="0" rIns="0" tIns="0" bIns="0" anchor="t">
            <a:spAutoFit/>
          </a:bodyPr>
          <a:lstStyle/>
          <a:p>
            <a:pPr algn="l">
              <a:lnSpc>
                <a:spcPct val="110000"/>
              </a:lnSpc>
            </a:pPr>
            <a:r>
              <a:rPr sz="1100" b="1" i="0" spc="180">
                <a:solidFill>
                  <a:srgbClr val="FF9548"/>
                </a:solidFill>
                <a:latin typeface="JetBrains Mono"/>
              </a:rPr>
              <a:t>01</a:t>
            </a:r>
          </a:p>
        </p:txBody>
      </p:sp>
      <p:sp>
        <p:nvSpPr>
          <p:cNvPr id="11" name="TextBox 10"/>
          <p:cNvSpPr txBox="1"/>
          <p:nvPr/>
        </p:nvSpPr>
        <p:spPr>
          <a:xfrm>
            <a:off x="914400" y="3291840"/>
            <a:ext cx="2905658" cy="54864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Backend</a:t>
            </a:r>
          </a:p>
        </p:txBody>
      </p:sp>
      <p:sp>
        <p:nvSpPr>
          <p:cNvPr id="12" name="Rectangle 11"/>
          <p:cNvSpPr/>
          <p:nvPr/>
        </p:nvSpPr>
        <p:spPr>
          <a:xfrm>
            <a:off x="914400" y="3977640"/>
            <a:ext cx="73152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51960"/>
            <a:ext cx="2905658" cy="1691640"/>
          </a:xfrm>
          <a:prstGeom prst="rect">
            <a:avLst/>
          </a:prstGeom>
          <a:noFill/>
        </p:spPr>
        <p:txBody>
          <a:bodyPr wrap="square" lIns="0" rIns="0" tIns="0" bIns="0" anchor="t">
            <a:spAutoFit/>
          </a:bodyPr>
          <a:lstStyle/>
          <a:p>
            <a:pPr algn="l">
              <a:lnSpc>
                <a:spcPct val="160000"/>
              </a:lnSpc>
            </a:pPr>
            <a:r>
              <a:rPr sz="1400" b="0" i="0">
                <a:solidFill>
                  <a:srgbClr val="F4F6FB"/>
                </a:solidFill>
                <a:latin typeface="Inter"/>
              </a:rPr>
              <a:t>Node.js · Express
MongoDB · JWT
Mongoose ODM
asyncHandler pattern</a:t>
            </a:r>
          </a:p>
        </p:txBody>
      </p:sp>
      <p:sp>
        <p:nvSpPr>
          <p:cNvPr id="14" name="Rounded Rectangle 13"/>
          <p:cNvSpPr/>
          <p:nvPr/>
        </p:nvSpPr>
        <p:spPr>
          <a:xfrm>
            <a:off x="4368698" y="2697480"/>
            <a:ext cx="3454298" cy="352044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3018" y="2971800"/>
            <a:ext cx="2905658" cy="365760"/>
          </a:xfrm>
          <a:prstGeom prst="rect">
            <a:avLst/>
          </a:prstGeom>
          <a:noFill/>
        </p:spPr>
        <p:txBody>
          <a:bodyPr wrap="square" lIns="0" rIns="0" tIns="0" bIns="0" anchor="t">
            <a:spAutoFit/>
          </a:bodyPr>
          <a:lstStyle/>
          <a:p>
            <a:pPr algn="l">
              <a:lnSpc>
                <a:spcPct val="110000"/>
              </a:lnSpc>
            </a:pPr>
            <a:r>
              <a:rPr sz="1100" b="1" i="0" spc="180">
                <a:solidFill>
                  <a:srgbClr val="FF9548"/>
                </a:solidFill>
                <a:latin typeface="JetBrains Mono"/>
              </a:rPr>
              <a:t>02</a:t>
            </a:r>
          </a:p>
        </p:txBody>
      </p:sp>
      <p:sp>
        <p:nvSpPr>
          <p:cNvPr id="16" name="TextBox 15"/>
          <p:cNvSpPr txBox="1"/>
          <p:nvPr/>
        </p:nvSpPr>
        <p:spPr>
          <a:xfrm>
            <a:off x="4643018" y="3291840"/>
            <a:ext cx="2905658" cy="54864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Intelligence artificielle</a:t>
            </a:r>
          </a:p>
        </p:txBody>
      </p:sp>
      <p:sp>
        <p:nvSpPr>
          <p:cNvPr id="17" name="Rectangle 16"/>
          <p:cNvSpPr/>
          <p:nvPr/>
        </p:nvSpPr>
        <p:spPr>
          <a:xfrm>
            <a:off x="4643018" y="3977640"/>
            <a:ext cx="73152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018" y="4251960"/>
            <a:ext cx="2905658" cy="1691640"/>
          </a:xfrm>
          <a:prstGeom prst="rect">
            <a:avLst/>
          </a:prstGeom>
          <a:noFill/>
        </p:spPr>
        <p:txBody>
          <a:bodyPr wrap="square" lIns="0" rIns="0" tIns="0" bIns="0" anchor="t">
            <a:spAutoFit/>
          </a:bodyPr>
          <a:lstStyle/>
          <a:p>
            <a:pPr algn="l">
              <a:lnSpc>
                <a:spcPct val="160000"/>
              </a:lnSpc>
            </a:pPr>
            <a:r>
              <a:rPr sz="1400" b="0" i="0">
                <a:solidFill>
                  <a:srgbClr val="F4F6FB"/>
                </a:solidFill>
                <a:latin typeface="Inter"/>
              </a:rPr>
              <a:t>Python · FastAPI
scikit-learn
XGBoost
Uvicorn</a:t>
            </a:r>
          </a:p>
        </p:txBody>
      </p:sp>
      <p:sp>
        <p:nvSpPr>
          <p:cNvPr id="19" name="Rounded Rectangle 18"/>
          <p:cNvSpPr/>
          <p:nvPr/>
        </p:nvSpPr>
        <p:spPr>
          <a:xfrm>
            <a:off x="8097316" y="2697480"/>
            <a:ext cx="3454298" cy="352044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1636" y="2971800"/>
            <a:ext cx="2905658" cy="365760"/>
          </a:xfrm>
          <a:prstGeom prst="rect">
            <a:avLst/>
          </a:prstGeom>
          <a:noFill/>
        </p:spPr>
        <p:txBody>
          <a:bodyPr wrap="square" lIns="0" rIns="0" tIns="0" bIns="0" anchor="t">
            <a:spAutoFit/>
          </a:bodyPr>
          <a:lstStyle/>
          <a:p>
            <a:pPr algn="l">
              <a:lnSpc>
                <a:spcPct val="110000"/>
              </a:lnSpc>
            </a:pPr>
            <a:r>
              <a:rPr sz="1100" b="1" i="0" spc="180">
                <a:solidFill>
                  <a:srgbClr val="FF9548"/>
                </a:solidFill>
                <a:latin typeface="JetBrains Mono"/>
              </a:rPr>
              <a:t>03</a:t>
            </a:r>
          </a:p>
        </p:txBody>
      </p:sp>
      <p:sp>
        <p:nvSpPr>
          <p:cNvPr id="21" name="TextBox 20"/>
          <p:cNvSpPr txBox="1"/>
          <p:nvPr/>
        </p:nvSpPr>
        <p:spPr>
          <a:xfrm>
            <a:off x="8371636" y="3291840"/>
            <a:ext cx="2905658" cy="54864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Frontend &amp; Mobile</a:t>
            </a:r>
          </a:p>
        </p:txBody>
      </p:sp>
      <p:sp>
        <p:nvSpPr>
          <p:cNvPr id="22" name="Rectangle 21"/>
          <p:cNvSpPr/>
          <p:nvPr/>
        </p:nvSpPr>
        <p:spPr>
          <a:xfrm>
            <a:off x="8371636" y="3977640"/>
            <a:ext cx="73152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1636" y="4251960"/>
            <a:ext cx="2905658" cy="1691640"/>
          </a:xfrm>
          <a:prstGeom prst="rect">
            <a:avLst/>
          </a:prstGeom>
          <a:noFill/>
        </p:spPr>
        <p:txBody>
          <a:bodyPr wrap="square" lIns="0" rIns="0" tIns="0" bIns="0" anchor="t">
            <a:spAutoFit/>
          </a:bodyPr>
          <a:lstStyle/>
          <a:p>
            <a:pPr algn="l">
              <a:lnSpc>
                <a:spcPct val="160000"/>
              </a:lnSpc>
            </a:pPr>
            <a:r>
              <a:rPr sz="1400" b="0" i="0">
                <a:solidFill>
                  <a:srgbClr val="F4F6FB"/>
                </a:solidFill>
                <a:latin typeface="Inter"/>
              </a:rPr>
              <a:t>React · Vite
Flutter · Dart
Firebase (push)
Material 3</a:t>
            </a:r>
          </a:p>
        </p:txBody>
      </p:sp>
      <p:sp>
        <p:nvSpPr>
          <p:cNvPr id="24" name="TextBox 23"/>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11 / 33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03</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Conception du système</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Architecture 5 couches · Edge · UML · Pipeline temps réel</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MODÈLE EN COUCHES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Cinq couches.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Du capteur physique au téléphone du technicien.</a:t>
            </a:r>
          </a:p>
        </p:txBody>
      </p:sp>
      <p:sp>
        <p:nvSpPr>
          <p:cNvPr id="9" name="Rounded Rectangle 8"/>
          <p:cNvSpPr/>
          <p:nvPr/>
        </p:nvSpPr>
        <p:spPr>
          <a:xfrm>
            <a:off x="640080" y="2606040"/>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33141"/>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05</a:t>
            </a:r>
          </a:p>
        </p:txBody>
      </p:sp>
      <p:sp>
        <p:nvSpPr>
          <p:cNvPr id="11" name="TextBox 10"/>
          <p:cNvSpPr txBox="1"/>
          <p:nvPr/>
        </p:nvSpPr>
        <p:spPr>
          <a:xfrm>
            <a:off x="1874520" y="2606040"/>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Application</a:t>
            </a:r>
          </a:p>
        </p:txBody>
      </p:sp>
      <p:sp>
        <p:nvSpPr>
          <p:cNvPr id="12" name="TextBox 11"/>
          <p:cNvSpPr txBox="1"/>
          <p:nvPr/>
        </p:nvSpPr>
        <p:spPr>
          <a:xfrm>
            <a:off x="5715000" y="2606040"/>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React (web) · Flutter (mobile) · restitution utilisateur</a:t>
            </a:r>
          </a:p>
        </p:txBody>
      </p:sp>
      <p:sp>
        <p:nvSpPr>
          <p:cNvPr id="13" name="Rounded Rectangle 12"/>
          <p:cNvSpPr/>
          <p:nvPr/>
        </p:nvSpPr>
        <p:spPr>
          <a:xfrm>
            <a:off x="640080" y="3354019"/>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48112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04</a:t>
            </a:r>
          </a:p>
        </p:txBody>
      </p:sp>
      <p:sp>
        <p:nvSpPr>
          <p:cNvPr id="15" name="TextBox 14"/>
          <p:cNvSpPr txBox="1"/>
          <p:nvPr/>
        </p:nvSpPr>
        <p:spPr>
          <a:xfrm>
            <a:off x="1874520" y="3354019"/>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Intelligence</a:t>
            </a:r>
          </a:p>
        </p:txBody>
      </p:sp>
      <p:sp>
        <p:nvSpPr>
          <p:cNvPr id="16" name="TextBox 15"/>
          <p:cNvSpPr txBox="1"/>
          <p:nvPr/>
        </p:nvSpPr>
        <p:spPr>
          <a:xfrm>
            <a:off x="5715000" y="3354019"/>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FastAPI · Random Forest · XGBoost · probabilité + cause</a:t>
            </a:r>
          </a:p>
        </p:txBody>
      </p:sp>
      <p:sp>
        <p:nvSpPr>
          <p:cNvPr id="17" name="Rounded Rectangle 16"/>
          <p:cNvSpPr/>
          <p:nvPr/>
        </p:nvSpPr>
        <p:spPr>
          <a:xfrm>
            <a:off x="640080" y="4101998"/>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229100"/>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03</a:t>
            </a:r>
          </a:p>
        </p:txBody>
      </p:sp>
      <p:sp>
        <p:nvSpPr>
          <p:cNvPr id="19" name="TextBox 18"/>
          <p:cNvSpPr txBox="1"/>
          <p:nvPr/>
        </p:nvSpPr>
        <p:spPr>
          <a:xfrm>
            <a:off x="1874520" y="4101998"/>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Backend</a:t>
            </a:r>
          </a:p>
        </p:txBody>
      </p:sp>
      <p:sp>
        <p:nvSpPr>
          <p:cNvPr id="20" name="TextBox 19"/>
          <p:cNvSpPr txBox="1"/>
          <p:nvPr/>
        </p:nvSpPr>
        <p:spPr>
          <a:xfrm>
            <a:off x="5715000" y="4101998"/>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Node.js · Express · MongoDB · REST + JWT</a:t>
            </a:r>
          </a:p>
        </p:txBody>
      </p:sp>
      <p:sp>
        <p:nvSpPr>
          <p:cNvPr id="21" name="Rounded Rectangle 20"/>
          <p:cNvSpPr/>
          <p:nvPr/>
        </p:nvSpPr>
        <p:spPr>
          <a:xfrm>
            <a:off x="640080" y="4849977"/>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977079"/>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02</a:t>
            </a:r>
          </a:p>
        </p:txBody>
      </p:sp>
      <p:sp>
        <p:nvSpPr>
          <p:cNvPr id="23" name="TextBox 22"/>
          <p:cNvSpPr txBox="1"/>
          <p:nvPr/>
        </p:nvSpPr>
        <p:spPr>
          <a:xfrm>
            <a:off x="1874520" y="4849977"/>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Edge</a:t>
            </a:r>
          </a:p>
        </p:txBody>
      </p:sp>
      <p:sp>
        <p:nvSpPr>
          <p:cNvPr id="24" name="TextBox 23"/>
          <p:cNvSpPr txBox="1"/>
          <p:nvPr/>
        </p:nvSpPr>
        <p:spPr>
          <a:xfrm>
            <a:off x="5715000" y="4849977"/>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Raspberry Pi 4 · lecture I²C / 1-Wire · agrégation 60 s</a:t>
            </a:r>
          </a:p>
        </p:txBody>
      </p:sp>
      <p:sp>
        <p:nvSpPr>
          <p:cNvPr id="25" name="Rounded Rectangle 24"/>
          <p:cNvSpPr/>
          <p:nvPr/>
        </p:nvSpPr>
        <p:spPr>
          <a:xfrm>
            <a:off x="640080" y="5597956"/>
            <a:ext cx="10911535"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725058"/>
            <a:ext cx="822960" cy="36576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01</a:t>
            </a:r>
          </a:p>
        </p:txBody>
      </p:sp>
      <p:sp>
        <p:nvSpPr>
          <p:cNvPr id="27" name="TextBox 26"/>
          <p:cNvSpPr txBox="1"/>
          <p:nvPr/>
        </p:nvSpPr>
        <p:spPr>
          <a:xfrm>
            <a:off x="1874520" y="5597956"/>
            <a:ext cx="3657600" cy="619963"/>
          </a:xfrm>
          <a:prstGeom prst="rect">
            <a:avLst/>
          </a:prstGeom>
          <a:noFill/>
        </p:spPr>
        <p:txBody>
          <a:bodyPr wrap="square" lIns="0" rIns="0" tIns="0" bIns="0" anchor="ctr">
            <a:spAutoFit/>
          </a:bodyPr>
          <a:lstStyle/>
          <a:p>
            <a:pPr algn="l">
              <a:lnSpc>
                <a:spcPct val="120000"/>
              </a:lnSpc>
            </a:pPr>
            <a:r>
              <a:rPr sz="1500" b="1" i="0">
                <a:solidFill>
                  <a:srgbClr val="FFFFFF"/>
                </a:solidFill>
                <a:latin typeface="Space Grotesk"/>
              </a:rPr>
              <a:t>Perception</a:t>
            </a:r>
          </a:p>
        </p:txBody>
      </p:sp>
      <p:sp>
        <p:nvSpPr>
          <p:cNvPr id="28" name="TextBox 27"/>
          <p:cNvSpPr txBox="1"/>
          <p:nvPr/>
        </p:nvSpPr>
        <p:spPr>
          <a:xfrm>
            <a:off x="5715000" y="5597956"/>
            <a:ext cx="5562295" cy="619963"/>
          </a:xfrm>
          <a:prstGeom prst="rect">
            <a:avLst/>
          </a:prstGeom>
          <a:noFill/>
        </p:spPr>
        <p:txBody>
          <a:bodyPr wrap="square" lIns="0" rIns="0" tIns="0" bIns="0" anchor="ctr">
            <a:spAutoFit/>
          </a:bodyPr>
          <a:lstStyle/>
          <a:p>
            <a:pPr algn="l">
              <a:lnSpc>
                <a:spcPct val="130000"/>
              </a:lnSpc>
            </a:pPr>
            <a:r>
              <a:rPr sz="1200" b="0" i="0">
                <a:solidFill>
                  <a:srgbClr val="C9D0DC"/>
                </a:solidFill>
                <a:latin typeface="Inter"/>
              </a:rPr>
              <a:t>5 capteurs IoT : DS18B20 ×2 · MPU-6050 · AMG8833 · SCT-013</a:t>
            </a:r>
          </a:p>
        </p:txBody>
      </p:sp>
      <p:sp>
        <p:nvSpPr>
          <p:cNvPr id="29" name="TextBox 28"/>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MODÈLE DE RÉFÉRENCE ITU-T Y.2060  ·  SÉPARATION DES RESPONSABILITÉS</a:t>
            </a:r>
          </a:p>
        </p:txBody>
      </p:sp>
      <p:sp>
        <p:nvSpPr>
          <p:cNvPr id="30" name="TextBox 29"/>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13 / 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COUCHE EDGE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Raspberry Pi.</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 mini-ordinateur, cinq capteurs, une machine.</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71800"/>
            <a:ext cx="4769967" cy="32004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SPÉCIFICATIONS</a:t>
            </a:r>
          </a:p>
        </p:txBody>
      </p:sp>
      <p:sp>
        <p:nvSpPr>
          <p:cNvPr id="11" name="TextBox 10"/>
          <p:cNvSpPr txBox="1"/>
          <p:nvPr/>
        </p:nvSpPr>
        <p:spPr>
          <a:xfrm>
            <a:off x="914400" y="347472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LECTURE</a:t>
            </a:r>
          </a:p>
        </p:txBody>
      </p:sp>
      <p:sp>
        <p:nvSpPr>
          <p:cNvPr id="12" name="TextBox 11"/>
          <p:cNvSpPr txBox="1"/>
          <p:nvPr/>
        </p:nvSpPr>
        <p:spPr>
          <a:xfrm>
            <a:off x="2743200" y="347472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1-Wire · I²C · GPIO</a:t>
            </a:r>
          </a:p>
        </p:txBody>
      </p:sp>
      <p:sp>
        <p:nvSpPr>
          <p:cNvPr id="13" name="TextBox 12"/>
          <p:cNvSpPr txBox="1"/>
          <p:nvPr/>
        </p:nvSpPr>
        <p:spPr>
          <a:xfrm>
            <a:off x="914400" y="402336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AGRÉGATION</a:t>
            </a:r>
          </a:p>
        </p:txBody>
      </p:sp>
      <p:sp>
        <p:nvSpPr>
          <p:cNvPr id="14" name="TextBox 13"/>
          <p:cNvSpPr txBox="1"/>
          <p:nvPr/>
        </p:nvSpPr>
        <p:spPr>
          <a:xfrm>
            <a:off x="2743200" y="402336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Fenêtres glissantes de 60 s</a:t>
            </a:r>
          </a:p>
        </p:txBody>
      </p:sp>
      <p:sp>
        <p:nvSpPr>
          <p:cNvPr id="15" name="TextBox 14"/>
          <p:cNvSpPr txBox="1"/>
          <p:nvPr/>
        </p:nvSpPr>
        <p:spPr>
          <a:xfrm>
            <a:off x="914400" y="457200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ENVOI</a:t>
            </a:r>
          </a:p>
        </p:txBody>
      </p:sp>
      <p:sp>
        <p:nvSpPr>
          <p:cNvPr id="16" name="TextBox 15"/>
          <p:cNvSpPr txBox="1"/>
          <p:nvPr/>
        </p:nvSpPr>
        <p:spPr>
          <a:xfrm>
            <a:off x="2743200" y="457200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HTTP POST /api/capteurs/ingest</a:t>
            </a:r>
          </a:p>
        </p:txBody>
      </p:sp>
      <p:sp>
        <p:nvSpPr>
          <p:cNvPr id="17" name="TextBox 16"/>
          <p:cNvSpPr txBox="1"/>
          <p:nvPr/>
        </p:nvSpPr>
        <p:spPr>
          <a:xfrm>
            <a:off x="914400" y="5120640"/>
            <a:ext cx="1828800" cy="320040"/>
          </a:xfrm>
          <a:prstGeom prst="rect">
            <a:avLst/>
          </a:prstGeom>
          <a:noFill/>
        </p:spPr>
        <p:txBody>
          <a:bodyPr wrap="square" lIns="0" rIns="0" tIns="0" bIns="0" anchor="t">
            <a:spAutoFit/>
          </a:bodyPr>
          <a:lstStyle/>
          <a:p>
            <a:pPr algn="l">
              <a:lnSpc>
                <a:spcPct val="110000"/>
              </a:lnSpc>
            </a:pPr>
            <a:r>
              <a:rPr sz="1000" b="0" i="0" spc="140">
                <a:solidFill>
                  <a:srgbClr val="7D8496"/>
                </a:solidFill>
                <a:latin typeface="JetBrains Mono"/>
              </a:rPr>
              <a:t>AUTONOMIE</a:t>
            </a:r>
          </a:p>
        </p:txBody>
      </p:sp>
      <p:sp>
        <p:nvSpPr>
          <p:cNvPr id="18" name="TextBox 17"/>
          <p:cNvSpPr txBox="1"/>
          <p:nvPr/>
        </p:nvSpPr>
        <p:spPr>
          <a:xfrm>
            <a:off x="2743200" y="5120640"/>
            <a:ext cx="3032607" cy="365760"/>
          </a:xfrm>
          <a:prstGeom prst="rect">
            <a:avLst/>
          </a:prstGeom>
          <a:noFill/>
        </p:spPr>
        <p:txBody>
          <a:bodyPr wrap="square" lIns="0" rIns="0" tIns="0" bIns="0" anchor="t">
            <a:spAutoFit/>
          </a:bodyPr>
          <a:lstStyle/>
          <a:p>
            <a:pPr algn="l">
              <a:lnSpc>
                <a:spcPct val="110000"/>
              </a:lnSpc>
            </a:pPr>
            <a:r>
              <a:rPr sz="1300" b="1" i="0">
                <a:solidFill>
                  <a:srgbClr val="FFFFFF"/>
                </a:solidFill>
                <a:latin typeface="Inter"/>
              </a:rPr>
              <a:t>systemd · redémarrage auto · retry</a:t>
            </a:r>
          </a:p>
        </p:txBody>
      </p:sp>
      <p:sp>
        <p:nvSpPr>
          <p:cNvPr id="19" name="Rounded Rectangle 18"/>
          <p:cNvSpPr/>
          <p:nvPr/>
        </p:nvSpPr>
        <p:spPr>
          <a:xfrm>
            <a:off x="6233007" y="2651760"/>
            <a:ext cx="531860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07327" y="2971800"/>
            <a:ext cx="1463040" cy="292608"/>
          </a:xfrm>
          <a:prstGeom prst="roundRect">
            <a:avLst>
              <a:gd name="adj" fmla="val 50000"/>
            </a:avLst>
          </a:prstGeom>
          <a:solidFill>
            <a:srgbClr val="4ECDC4">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50">
                <a:solidFill>
                  <a:srgbClr val="050B1E"/>
                </a:solidFill>
                <a:latin typeface="JetBrains Mono"/>
              </a:rPr>
              <a:t>EN DIRECT · 1 min</a:t>
            </a:r>
          </a:p>
        </p:txBody>
      </p:sp>
      <p:sp>
        <p:nvSpPr>
          <p:cNvPr id="21" name="TextBox 20"/>
          <p:cNvSpPr txBox="1"/>
          <p:nvPr/>
        </p:nvSpPr>
        <p:spPr>
          <a:xfrm>
            <a:off x="6507327" y="3474720"/>
            <a:ext cx="4769967" cy="457200"/>
          </a:xfrm>
          <a:prstGeom prst="rect">
            <a:avLst/>
          </a:prstGeom>
          <a:noFill/>
        </p:spPr>
        <p:txBody>
          <a:bodyPr wrap="square" lIns="0" rIns="0" tIns="0" bIns="0" anchor="t">
            <a:spAutoFit/>
          </a:bodyPr>
          <a:lstStyle/>
          <a:p>
            <a:pPr algn="l">
              <a:lnSpc>
                <a:spcPct val="110000"/>
              </a:lnSpc>
            </a:pPr>
            <a:r>
              <a:rPr sz="2000" b="1" i="0">
                <a:solidFill>
                  <a:srgbClr val="FFFFFF"/>
                </a:solidFill>
                <a:latin typeface="Space Grotesk"/>
              </a:rPr>
              <a:t>Flux de données</a:t>
            </a:r>
          </a:p>
        </p:txBody>
      </p:sp>
      <p:sp>
        <p:nvSpPr>
          <p:cNvPr id="22" name="Rounded Rectangle 21"/>
          <p:cNvSpPr/>
          <p:nvPr/>
        </p:nvSpPr>
        <p:spPr>
          <a:xfrm>
            <a:off x="6507327" y="4160520"/>
            <a:ext cx="1737360" cy="292608"/>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60">
                <a:solidFill>
                  <a:srgbClr val="4ECDC4"/>
                </a:solidFill>
                <a:latin typeface="JetBrains Mono"/>
              </a:rPr>
              <a:t>① CAPTEURS</a:t>
            </a:r>
          </a:p>
        </p:txBody>
      </p:sp>
      <p:sp>
        <p:nvSpPr>
          <p:cNvPr id="23" name="TextBox 22"/>
          <p:cNvSpPr txBox="1"/>
          <p:nvPr/>
        </p:nvSpPr>
        <p:spPr>
          <a:xfrm>
            <a:off x="8381847" y="4160520"/>
            <a:ext cx="2895447" cy="320040"/>
          </a:xfrm>
          <a:prstGeom prst="rect">
            <a:avLst/>
          </a:prstGeom>
          <a:noFill/>
        </p:spPr>
        <p:txBody>
          <a:bodyPr wrap="square" lIns="0" rIns="0" tIns="0" bIns="0" anchor="ctr">
            <a:spAutoFit/>
          </a:bodyPr>
          <a:lstStyle/>
          <a:p>
            <a:pPr algn="l">
              <a:lnSpc>
                <a:spcPct val="120000"/>
              </a:lnSpc>
            </a:pPr>
            <a:r>
              <a:rPr sz="1200" b="0" i="0">
                <a:solidFill>
                  <a:srgbClr val="F4F6FB"/>
                </a:solidFill>
                <a:latin typeface="Inter"/>
              </a:rPr>
              <a:t>5 sondes lues à 1 s</a:t>
            </a:r>
          </a:p>
        </p:txBody>
      </p:sp>
      <p:sp>
        <p:nvSpPr>
          <p:cNvPr id="24" name="Rounded Rectangle 23"/>
          <p:cNvSpPr/>
          <p:nvPr/>
        </p:nvSpPr>
        <p:spPr>
          <a:xfrm>
            <a:off x="6507327" y="4663440"/>
            <a:ext cx="1737360" cy="292608"/>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60">
                <a:solidFill>
                  <a:srgbClr val="4ECDC4"/>
                </a:solidFill>
                <a:latin typeface="JetBrains Mono"/>
              </a:rPr>
              <a:t>② RASPBERRY</a:t>
            </a:r>
          </a:p>
        </p:txBody>
      </p:sp>
      <p:sp>
        <p:nvSpPr>
          <p:cNvPr id="25" name="TextBox 24"/>
          <p:cNvSpPr txBox="1"/>
          <p:nvPr/>
        </p:nvSpPr>
        <p:spPr>
          <a:xfrm>
            <a:off x="8381847" y="4663440"/>
            <a:ext cx="2895447" cy="320040"/>
          </a:xfrm>
          <a:prstGeom prst="rect">
            <a:avLst/>
          </a:prstGeom>
          <a:noFill/>
        </p:spPr>
        <p:txBody>
          <a:bodyPr wrap="square" lIns="0" rIns="0" tIns="0" bIns="0" anchor="ctr">
            <a:spAutoFit/>
          </a:bodyPr>
          <a:lstStyle/>
          <a:p>
            <a:pPr algn="l">
              <a:lnSpc>
                <a:spcPct val="120000"/>
              </a:lnSpc>
            </a:pPr>
            <a:r>
              <a:rPr sz="1200" b="0" i="0">
                <a:solidFill>
                  <a:srgbClr val="F4F6FB"/>
                </a:solidFill>
                <a:latin typeface="Inter"/>
              </a:rPr>
              <a:t>Agrégation 60 s · moyenne, min, max</a:t>
            </a:r>
          </a:p>
        </p:txBody>
      </p:sp>
      <p:sp>
        <p:nvSpPr>
          <p:cNvPr id="26" name="Rounded Rectangle 25"/>
          <p:cNvSpPr/>
          <p:nvPr/>
        </p:nvSpPr>
        <p:spPr>
          <a:xfrm>
            <a:off x="6507327" y="5166360"/>
            <a:ext cx="1737360" cy="292608"/>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60">
                <a:solidFill>
                  <a:srgbClr val="4ECDC4"/>
                </a:solidFill>
                <a:latin typeface="JetBrains Mono"/>
              </a:rPr>
              <a:t>③ BACKEND</a:t>
            </a:r>
          </a:p>
        </p:txBody>
      </p:sp>
      <p:sp>
        <p:nvSpPr>
          <p:cNvPr id="27" name="TextBox 26"/>
          <p:cNvSpPr txBox="1"/>
          <p:nvPr/>
        </p:nvSpPr>
        <p:spPr>
          <a:xfrm>
            <a:off x="8381847" y="5166360"/>
            <a:ext cx="2895447" cy="320040"/>
          </a:xfrm>
          <a:prstGeom prst="rect">
            <a:avLst/>
          </a:prstGeom>
          <a:noFill/>
        </p:spPr>
        <p:txBody>
          <a:bodyPr wrap="square" lIns="0" rIns="0" tIns="0" bIns="0" anchor="ctr">
            <a:spAutoFit/>
          </a:bodyPr>
          <a:lstStyle/>
          <a:p>
            <a:pPr algn="l">
              <a:lnSpc>
                <a:spcPct val="120000"/>
              </a:lnSpc>
            </a:pPr>
            <a:r>
              <a:rPr sz="1200" b="0" i="0">
                <a:solidFill>
                  <a:srgbClr val="F4F6FB"/>
                </a:solidFill>
                <a:latin typeface="Inter"/>
              </a:rPr>
              <a:t>POST /api/capteurs/ingest · JSON</a:t>
            </a:r>
          </a:p>
        </p:txBody>
      </p:sp>
      <p:sp>
        <p:nvSpPr>
          <p:cNvPr id="28" name="TextBox 27"/>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14 / 33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MODÉLISATION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Modélisation UML.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Cas d'utilisation et diagramme de classes.</a:t>
            </a:r>
          </a:p>
        </p:txBody>
      </p:sp>
      <p:sp>
        <p:nvSpPr>
          <p:cNvPr id="9" name="Rounded Rectangle 8"/>
          <p:cNvSpPr/>
          <p:nvPr/>
        </p:nvSpPr>
        <p:spPr>
          <a:xfrm>
            <a:off x="640080"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483854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1" name="TextBox 10"/>
          <p:cNvSpPr txBox="1"/>
          <p:nvPr/>
        </p:nvSpPr>
        <p:spPr>
          <a:xfrm>
            <a:off x="868680" y="3145536"/>
            <a:ext cx="483854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Diagramme de cas d'utilisation</a:t>
            </a:r>
          </a:p>
        </p:txBody>
      </p:sp>
      <p:sp>
        <p:nvSpPr>
          <p:cNvPr id="12" name="TextBox 11"/>
          <p:cNvSpPr txBox="1"/>
          <p:nvPr/>
        </p:nvSpPr>
        <p:spPr>
          <a:xfrm>
            <a:off x="868680" y="3648456"/>
            <a:ext cx="4838547"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4 acteurs (Responsable, Chef de Ligne, Technicien, système IA) · 12 cas d'utilisation globaux couvrant supervision, intervention, notification et analyse.</a:t>
            </a:r>
          </a:p>
        </p:txBody>
      </p:sp>
      <p:sp>
        <p:nvSpPr>
          <p:cNvPr id="13" name="Rounded Rectangle 12"/>
          <p:cNvSpPr/>
          <p:nvPr/>
        </p:nvSpPr>
        <p:spPr>
          <a:xfrm>
            <a:off x="3924147" y="5577840"/>
            <a:ext cx="1828800" cy="320040"/>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20">
                <a:solidFill>
                  <a:srgbClr val="FFB37A"/>
                </a:solidFill>
                <a:latin typeface="JetBrains Mono"/>
              </a:rPr>
              <a:t>voir diagramme joint</a:t>
            </a:r>
          </a:p>
        </p:txBody>
      </p:sp>
      <p:sp>
        <p:nvSpPr>
          <p:cNvPr id="14" name="Rounded Rectangle 13"/>
          <p:cNvSpPr/>
          <p:nvPr/>
        </p:nvSpPr>
        <p:spPr>
          <a:xfrm>
            <a:off x="6255867"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4467" y="2852928"/>
            <a:ext cx="483854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6" name="TextBox 15"/>
          <p:cNvSpPr txBox="1"/>
          <p:nvPr/>
        </p:nvSpPr>
        <p:spPr>
          <a:xfrm>
            <a:off x="6484467" y="3145536"/>
            <a:ext cx="483854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Diagramme de classes</a:t>
            </a:r>
          </a:p>
        </p:txBody>
      </p:sp>
      <p:sp>
        <p:nvSpPr>
          <p:cNvPr id="17" name="TextBox 16"/>
          <p:cNvSpPr txBox="1"/>
          <p:nvPr/>
        </p:nvSpPr>
        <p:spPr>
          <a:xfrm>
            <a:off x="6484467" y="3648456"/>
            <a:ext cx="4838547" cy="265176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9 classes métier — Machine, Utilisateur, Intervention, Alerte, Capteur, Maintenance (type enum), AnalyseTCO, PreventiveChecklist, Notification.</a:t>
            </a:r>
          </a:p>
        </p:txBody>
      </p:sp>
      <p:sp>
        <p:nvSpPr>
          <p:cNvPr id="18" name="Rounded Rectangle 17"/>
          <p:cNvSpPr/>
          <p:nvPr/>
        </p:nvSpPr>
        <p:spPr>
          <a:xfrm>
            <a:off x="9539935" y="5577840"/>
            <a:ext cx="1828800" cy="320040"/>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20">
                <a:solidFill>
                  <a:srgbClr val="FFB37A"/>
                </a:solidFill>
                <a:latin typeface="JetBrains Mono"/>
              </a:rPr>
              <a:t>voir diagramme joint</a:t>
            </a:r>
          </a:p>
        </p:txBody>
      </p:sp>
      <p:sp>
        <p:nvSpPr>
          <p:cNvPr id="19" name="TextBox 1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15 / 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03 · CONCEPTION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PIPELINE TEMPS RÉEL</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Du capteur à l'alerte.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Cinq étapes · moins d'une minute · sans intervention humaine.</a:t>
            </a:r>
          </a:p>
        </p:txBody>
      </p:sp>
      <p:sp>
        <p:nvSpPr>
          <p:cNvPr id="9" name="Rounded Rectangle 8"/>
          <p:cNvSpPr/>
          <p:nvPr/>
        </p:nvSpPr>
        <p:spPr>
          <a:xfrm>
            <a:off x="640080"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① CAPTEUR</a:t>
            </a:r>
          </a:p>
        </p:txBody>
      </p:sp>
      <p:sp>
        <p:nvSpPr>
          <p:cNvPr id="11" name="TextBox 10"/>
          <p:cNvSpPr txBox="1"/>
          <p:nvPr/>
        </p:nvSpPr>
        <p:spPr>
          <a:xfrm>
            <a:off x="640080"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5 sondes · 1 s</a:t>
            </a:r>
          </a:p>
        </p:txBody>
      </p:sp>
      <p:sp>
        <p:nvSpPr>
          <p:cNvPr id="12" name="Rounded Rectangle 11"/>
          <p:cNvSpPr/>
          <p:nvPr/>
        </p:nvSpPr>
        <p:spPr>
          <a:xfrm>
            <a:off x="2849819"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49819"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② EDGE</a:t>
            </a:r>
          </a:p>
        </p:txBody>
      </p:sp>
      <p:sp>
        <p:nvSpPr>
          <p:cNvPr id="14" name="TextBox 13"/>
          <p:cNvSpPr txBox="1"/>
          <p:nvPr/>
        </p:nvSpPr>
        <p:spPr>
          <a:xfrm>
            <a:off x="2849819"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Raspberry · 60 s</a:t>
            </a:r>
          </a:p>
        </p:txBody>
      </p:sp>
      <p:sp>
        <p:nvSpPr>
          <p:cNvPr id="15" name="Rounded Rectangle 14"/>
          <p:cNvSpPr/>
          <p:nvPr/>
        </p:nvSpPr>
        <p:spPr>
          <a:xfrm>
            <a:off x="5059558"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59558"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③ BACKEND</a:t>
            </a:r>
          </a:p>
        </p:txBody>
      </p:sp>
      <p:sp>
        <p:nvSpPr>
          <p:cNvPr id="17" name="TextBox 16"/>
          <p:cNvSpPr txBox="1"/>
          <p:nvPr/>
        </p:nvSpPr>
        <p:spPr>
          <a:xfrm>
            <a:off x="5059558"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POST /ingest</a:t>
            </a:r>
          </a:p>
        </p:txBody>
      </p:sp>
      <p:sp>
        <p:nvSpPr>
          <p:cNvPr id="18" name="Rounded Rectangle 17"/>
          <p:cNvSpPr/>
          <p:nvPr/>
        </p:nvSpPr>
        <p:spPr>
          <a:xfrm>
            <a:off x="7269297"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297"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④ IA</a:t>
            </a:r>
          </a:p>
        </p:txBody>
      </p:sp>
      <p:sp>
        <p:nvSpPr>
          <p:cNvPr id="20" name="TextBox 19"/>
          <p:cNvSpPr txBox="1"/>
          <p:nvPr/>
        </p:nvSpPr>
        <p:spPr>
          <a:xfrm>
            <a:off x="7269297"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proba &gt; 80 %</a:t>
            </a:r>
          </a:p>
        </p:txBody>
      </p:sp>
      <p:sp>
        <p:nvSpPr>
          <p:cNvPr id="21" name="Rounded Rectangle 20"/>
          <p:cNvSpPr/>
          <p:nvPr/>
        </p:nvSpPr>
        <p:spPr>
          <a:xfrm>
            <a:off x="9479036" y="2743200"/>
            <a:ext cx="2072579" cy="1828800"/>
          </a:xfrm>
          <a:prstGeom prst="roundRect">
            <a:avLst>
              <a:gd name="adj" fmla="val 6000"/>
            </a:avLst>
          </a:prstGeom>
          <a:solidFill>
            <a:srgbClr val="101A45">
              <a:alpha val="2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79036" y="3063240"/>
            <a:ext cx="2072579" cy="457200"/>
          </a:xfrm>
          <a:prstGeom prst="rect">
            <a:avLst/>
          </a:prstGeom>
          <a:noFill/>
        </p:spPr>
        <p:txBody>
          <a:bodyPr wrap="square" lIns="0" rIns="0" tIns="0" bIns="0" anchor="t">
            <a:spAutoFit/>
          </a:bodyPr>
          <a:lstStyle/>
          <a:p>
            <a:pPr algn="ctr">
              <a:lnSpc>
                <a:spcPct val="110000"/>
              </a:lnSpc>
            </a:pPr>
            <a:r>
              <a:rPr sz="1800" b="1" i="0">
                <a:solidFill>
                  <a:srgbClr val="FFB37A"/>
                </a:solidFill>
                <a:latin typeface="Space Grotesk"/>
              </a:rPr>
              <a:t>⑤ ALERTE</a:t>
            </a:r>
          </a:p>
        </p:txBody>
      </p:sp>
      <p:sp>
        <p:nvSpPr>
          <p:cNvPr id="23" name="TextBox 22"/>
          <p:cNvSpPr txBox="1"/>
          <p:nvPr/>
        </p:nvSpPr>
        <p:spPr>
          <a:xfrm>
            <a:off x="9479036" y="3657600"/>
            <a:ext cx="2072579" cy="457200"/>
          </a:xfrm>
          <a:prstGeom prst="rect">
            <a:avLst/>
          </a:prstGeom>
          <a:noFill/>
        </p:spPr>
        <p:txBody>
          <a:bodyPr wrap="square" lIns="0" rIns="0" tIns="0" bIns="0" anchor="t">
            <a:spAutoFit/>
          </a:bodyPr>
          <a:lstStyle/>
          <a:p>
            <a:pPr algn="ctr">
              <a:lnSpc>
                <a:spcPct val="110000"/>
              </a:lnSpc>
            </a:pPr>
            <a:r>
              <a:rPr sz="1200" b="0" i="0">
                <a:solidFill>
                  <a:srgbClr val="F4F6FB"/>
                </a:solidFill>
                <a:latin typeface="Inter"/>
              </a:rPr>
              <a:t>Push Firebase</a:t>
            </a:r>
          </a:p>
        </p:txBody>
      </p:sp>
      <p:sp>
        <p:nvSpPr>
          <p:cNvPr id="24" name="Rounded Rectangle 23"/>
          <p:cNvSpPr/>
          <p:nvPr/>
        </p:nvSpPr>
        <p:spPr>
          <a:xfrm>
            <a:off x="640080" y="4937760"/>
            <a:ext cx="3454298" cy="8686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37760"/>
            <a:ext cx="2286000" cy="86868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~60 s</a:t>
            </a:r>
          </a:p>
        </p:txBody>
      </p:sp>
      <p:sp>
        <p:nvSpPr>
          <p:cNvPr id="26" name="TextBox 25"/>
          <p:cNvSpPr txBox="1"/>
          <p:nvPr/>
        </p:nvSpPr>
        <p:spPr>
          <a:xfrm>
            <a:off x="3200400" y="4937760"/>
            <a:ext cx="619658" cy="868680"/>
          </a:xfrm>
          <a:prstGeom prst="rect">
            <a:avLst/>
          </a:prstGeom>
          <a:noFill/>
        </p:spPr>
        <p:txBody>
          <a:bodyPr wrap="square" lIns="0" rIns="0" tIns="0" bIns="0" anchor="ctr">
            <a:spAutoFit/>
          </a:bodyPr>
          <a:lstStyle/>
          <a:p>
            <a:pPr algn="l">
              <a:lnSpc>
                <a:spcPct val="110000"/>
              </a:lnSpc>
            </a:pPr>
            <a:r>
              <a:rPr sz="1200" b="0" i="0">
                <a:solidFill>
                  <a:srgbClr val="C9D0DC"/>
                </a:solidFill>
                <a:latin typeface="Inter"/>
              </a:rPr>
              <a:t>Latence bout-en-bout</a:t>
            </a:r>
          </a:p>
        </p:txBody>
      </p:sp>
      <p:sp>
        <p:nvSpPr>
          <p:cNvPr id="27" name="Rounded Rectangle 26"/>
          <p:cNvSpPr/>
          <p:nvPr/>
        </p:nvSpPr>
        <p:spPr>
          <a:xfrm>
            <a:off x="4368698" y="4937760"/>
            <a:ext cx="3454298" cy="8686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3018" y="4937760"/>
            <a:ext cx="2286000" cy="86868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Automatique</a:t>
            </a:r>
          </a:p>
        </p:txBody>
      </p:sp>
      <p:sp>
        <p:nvSpPr>
          <p:cNvPr id="29" name="TextBox 28"/>
          <p:cNvSpPr txBox="1"/>
          <p:nvPr/>
        </p:nvSpPr>
        <p:spPr>
          <a:xfrm>
            <a:off x="6929018" y="4937760"/>
            <a:ext cx="619658" cy="868680"/>
          </a:xfrm>
          <a:prstGeom prst="rect">
            <a:avLst/>
          </a:prstGeom>
          <a:noFill/>
        </p:spPr>
        <p:txBody>
          <a:bodyPr wrap="square" lIns="0" rIns="0" tIns="0" bIns="0" anchor="ctr">
            <a:spAutoFit/>
          </a:bodyPr>
          <a:lstStyle/>
          <a:p>
            <a:pPr algn="l">
              <a:lnSpc>
                <a:spcPct val="110000"/>
              </a:lnSpc>
            </a:pPr>
            <a:r>
              <a:rPr sz="1200" b="0" i="0">
                <a:solidFill>
                  <a:srgbClr val="C9D0DC"/>
                </a:solidFill>
                <a:latin typeface="Inter"/>
              </a:rPr>
              <a:t>Zéro action manuelle</a:t>
            </a:r>
          </a:p>
        </p:txBody>
      </p:sp>
      <p:sp>
        <p:nvSpPr>
          <p:cNvPr id="30" name="Rounded Rectangle 29"/>
          <p:cNvSpPr/>
          <p:nvPr/>
        </p:nvSpPr>
        <p:spPr>
          <a:xfrm>
            <a:off x="8097316" y="4937760"/>
            <a:ext cx="3454298" cy="8686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1636" y="4937760"/>
            <a:ext cx="2286000" cy="868680"/>
          </a:xfrm>
          <a:prstGeom prst="rect">
            <a:avLst/>
          </a:prstGeom>
          <a:noFill/>
        </p:spPr>
        <p:txBody>
          <a:bodyPr wrap="square" lIns="0" rIns="0" tIns="0" bIns="0" anchor="ctr">
            <a:spAutoFit/>
          </a:bodyPr>
          <a:lstStyle/>
          <a:p>
            <a:pPr algn="l">
              <a:lnSpc>
                <a:spcPct val="110000"/>
              </a:lnSpc>
            </a:pPr>
            <a:r>
              <a:rPr sz="2200" b="1" i="0">
                <a:solidFill>
                  <a:srgbClr val="FF9548"/>
                </a:solidFill>
                <a:latin typeface="Space Grotesk"/>
              </a:rPr>
              <a:t>Terrain</a:t>
            </a:r>
          </a:p>
        </p:txBody>
      </p:sp>
      <p:sp>
        <p:nvSpPr>
          <p:cNvPr id="32" name="TextBox 31"/>
          <p:cNvSpPr txBox="1"/>
          <p:nvPr/>
        </p:nvSpPr>
        <p:spPr>
          <a:xfrm>
            <a:off x="10657636" y="4937760"/>
            <a:ext cx="619658" cy="868680"/>
          </a:xfrm>
          <a:prstGeom prst="rect">
            <a:avLst/>
          </a:prstGeom>
          <a:noFill/>
        </p:spPr>
        <p:txBody>
          <a:bodyPr wrap="square" lIns="0" rIns="0" tIns="0" bIns="0" anchor="ctr">
            <a:spAutoFit/>
          </a:bodyPr>
          <a:lstStyle/>
          <a:p>
            <a:pPr algn="l">
              <a:lnSpc>
                <a:spcPct val="110000"/>
              </a:lnSpc>
            </a:pPr>
            <a:r>
              <a:rPr sz="1200" b="0" i="0">
                <a:solidFill>
                  <a:srgbClr val="C9D0DC"/>
                </a:solidFill>
                <a:latin typeface="Inter"/>
              </a:rPr>
              <a:t>Notification mobile</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16 /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04</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Développement et implémentation</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Backend · IA · Applications web et mobile · Déploiement</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BACKEND API</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Node.js + MongoDB.</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API REST · 8 collections · trois rôles utilisateur.</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6996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ENDPOINTS PRINCIPAUX</a:t>
            </a:r>
          </a:p>
        </p:txBody>
      </p:sp>
      <p:sp>
        <p:nvSpPr>
          <p:cNvPr id="11" name="TextBox 10"/>
          <p:cNvSpPr txBox="1"/>
          <p:nvPr/>
        </p:nvSpPr>
        <p:spPr>
          <a:xfrm>
            <a:off x="914400" y="3429000"/>
            <a:ext cx="548640" cy="320040"/>
          </a:xfrm>
          <a:prstGeom prst="rect">
            <a:avLst/>
          </a:prstGeom>
          <a:noFill/>
        </p:spPr>
        <p:txBody>
          <a:bodyPr wrap="square" lIns="0" rIns="0" tIns="0" bIns="0" anchor="t">
            <a:spAutoFit/>
          </a:bodyPr>
          <a:lstStyle/>
          <a:p>
            <a:pPr algn="l">
              <a:lnSpc>
                <a:spcPct val="110000"/>
              </a:lnSpc>
            </a:pPr>
            <a:r>
              <a:rPr sz="1000" b="1" i="0">
                <a:solidFill>
                  <a:srgbClr val="FF9548"/>
                </a:solidFill>
                <a:latin typeface="JetBrains Mono"/>
              </a:rPr>
              <a:t>POST</a:t>
            </a:r>
          </a:p>
        </p:txBody>
      </p:sp>
      <p:sp>
        <p:nvSpPr>
          <p:cNvPr id="12" name="TextBox 11"/>
          <p:cNvSpPr txBox="1"/>
          <p:nvPr/>
        </p:nvSpPr>
        <p:spPr>
          <a:xfrm>
            <a:off x="1508760" y="3429000"/>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/api/capteurs/ingest</a:t>
            </a:r>
          </a:p>
        </p:txBody>
      </p:sp>
      <p:sp>
        <p:nvSpPr>
          <p:cNvPr id="13" name="TextBox 12"/>
          <p:cNvSpPr txBox="1"/>
          <p:nvPr/>
        </p:nvSpPr>
        <p:spPr>
          <a:xfrm>
            <a:off x="914400" y="3721608"/>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Ingestion IoT</a:t>
            </a:r>
          </a:p>
        </p:txBody>
      </p:sp>
      <p:sp>
        <p:nvSpPr>
          <p:cNvPr id="14" name="TextBox 13"/>
          <p:cNvSpPr txBox="1"/>
          <p:nvPr/>
        </p:nvSpPr>
        <p:spPr>
          <a:xfrm>
            <a:off x="914400" y="4087368"/>
            <a:ext cx="548640" cy="320040"/>
          </a:xfrm>
          <a:prstGeom prst="rect">
            <a:avLst/>
          </a:prstGeom>
          <a:noFill/>
        </p:spPr>
        <p:txBody>
          <a:bodyPr wrap="square" lIns="0" rIns="0" tIns="0" bIns="0" anchor="t">
            <a:spAutoFit/>
          </a:bodyPr>
          <a:lstStyle/>
          <a:p>
            <a:pPr algn="l">
              <a:lnSpc>
                <a:spcPct val="110000"/>
              </a:lnSpc>
            </a:pPr>
            <a:r>
              <a:rPr sz="1000" b="1" i="0">
                <a:solidFill>
                  <a:srgbClr val="4ADE80"/>
                </a:solidFill>
                <a:latin typeface="JetBrains Mono"/>
              </a:rPr>
              <a:t>GET</a:t>
            </a:r>
          </a:p>
        </p:txBody>
      </p:sp>
      <p:sp>
        <p:nvSpPr>
          <p:cNvPr id="15" name="TextBox 14"/>
          <p:cNvSpPr txBox="1"/>
          <p:nvPr/>
        </p:nvSpPr>
        <p:spPr>
          <a:xfrm>
            <a:off x="1508760" y="4087368"/>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/api/machines</a:t>
            </a:r>
          </a:p>
        </p:txBody>
      </p:sp>
      <p:sp>
        <p:nvSpPr>
          <p:cNvPr id="16" name="TextBox 15"/>
          <p:cNvSpPr txBox="1"/>
          <p:nvPr/>
        </p:nvSpPr>
        <p:spPr>
          <a:xfrm>
            <a:off x="914400" y="4379976"/>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Liste machines</a:t>
            </a:r>
          </a:p>
        </p:txBody>
      </p:sp>
      <p:sp>
        <p:nvSpPr>
          <p:cNvPr id="17" name="TextBox 16"/>
          <p:cNvSpPr txBox="1"/>
          <p:nvPr/>
        </p:nvSpPr>
        <p:spPr>
          <a:xfrm>
            <a:off x="914400" y="4745736"/>
            <a:ext cx="548640" cy="320040"/>
          </a:xfrm>
          <a:prstGeom prst="rect">
            <a:avLst/>
          </a:prstGeom>
          <a:noFill/>
        </p:spPr>
        <p:txBody>
          <a:bodyPr wrap="square" lIns="0" rIns="0" tIns="0" bIns="0" anchor="t">
            <a:spAutoFit/>
          </a:bodyPr>
          <a:lstStyle/>
          <a:p>
            <a:pPr algn="l">
              <a:lnSpc>
                <a:spcPct val="110000"/>
              </a:lnSpc>
            </a:pPr>
            <a:r>
              <a:rPr sz="1000" b="1" i="0">
                <a:solidFill>
                  <a:srgbClr val="FF9548"/>
                </a:solidFill>
                <a:latin typeface="JetBrains Mono"/>
              </a:rPr>
              <a:t>POST</a:t>
            </a:r>
          </a:p>
        </p:txBody>
      </p:sp>
      <p:sp>
        <p:nvSpPr>
          <p:cNvPr id="18" name="TextBox 17"/>
          <p:cNvSpPr txBox="1"/>
          <p:nvPr/>
        </p:nvSpPr>
        <p:spPr>
          <a:xfrm>
            <a:off x="1508760" y="4745736"/>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/api/interventions</a:t>
            </a:r>
          </a:p>
        </p:txBody>
      </p:sp>
      <p:sp>
        <p:nvSpPr>
          <p:cNvPr id="19" name="TextBox 18"/>
          <p:cNvSpPr txBox="1"/>
          <p:nvPr/>
        </p:nvSpPr>
        <p:spPr>
          <a:xfrm>
            <a:off x="914400" y="5038344"/>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Créer intervention</a:t>
            </a:r>
          </a:p>
        </p:txBody>
      </p:sp>
      <p:sp>
        <p:nvSpPr>
          <p:cNvPr id="20" name="TextBox 19"/>
          <p:cNvSpPr txBox="1"/>
          <p:nvPr/>
        </p:nvSpPr>
        <p:spPr>
          <a:xfrm>
            <a:off x="914400" y="5404104"/>
            <a:ext cx="548640" cy="320040"/>
          </a:xfrm>
          <a:prstGeom prst="rect">
            <a:avLst/>
          </a:prstGeom>
          <a:noFill/>
        </p:spPr>
        <p:txBody>
          <a:bodyPr wrap="square" lIns="0" rIns="0" tIns="0" bIns="0" anchor="t">
            <a:spAutoFit/>
          </a:bodyPr>
          <a:lstStyle/>
          <a:p>
            <a:pPr algn="l">
              <a:lnSpc>
                <a:spcPct val="110000"/>
              </a:lnSpc>
            </a:pPr>
            <a:r>
              <a:rPr sz="1000" b="1" i="0">
                <a:solidFill>
                  <a:srgbClr val="4ADE80"/>
                </a:solidFill>
                <a:latin typeface="JetBrains Mono"/>
              </a:rPr>
              <a:t>GET</a:t>
            </a:r>
          </a:p>
        </p:txBody>
      </p:sp>
      <p:sp>
        <p:nvSpPr>
          <p:cNvPr id="21" name="TextBox 20"/>
          <p:cNvSpPr txBox="1"/>
          <p:nvPr/>
        </p:nvSpPr>
        <p:spPr>
          <a:xfrm>
            <a:off x="1508760" y="5404104"/>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/api/alertes</a:t>
            </a:r>
          </a:p>
        </p:txBody>
      </p:sp>
      <p:sp>
        <p:nvSpPr>
          <p:cNvPr id="22" name="TextBox 21"/>
          <p:cNvSpPr txBox="1"/>
          <p:nvPr/>
        </p:nvSpPr>
        <p:spPr>
          <a:xfrm>
            <a:off x="914400" y="5696712"/>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Alertes actives</a:t>
            </a:r>
          </a:p>
        </p:txBody>
      </p:sp>
      <p:sp>
        <p:nvSpPr>
          <p:cNvPr id="23" name="TextBox 22"/>
          <p:cNvSpPr txBox="1"/>
          <p:nvPr/>
        </p:nvSpPr>
        <p:spPr>
          <a:xfrm>
            <a:off x="914400" y="6062472"/>
            <a:ext cx="548640" cy="320040"/>
          </a:xfrm>
          <a:prstGeom prst="rect">
            <a:avLst/>
          </a:prstGeom>
          <a:noFill/>
        </p:spPr>
        <p:txBody>
          <a:bodyPr wrap="square" lIns="0" rIns="0" tIns="0" bIns="0" anchor="t">
            <a:spAutoFit/>
          </a:bodyPr>
          <a:lstStyle/>
          <a:p>
            <a:pPr algn="l">
              <a:lnSpc>
                <a:spcPct val="110000"/>
              </a:lnSpc>
            </a:pPr>
            <a:r>
              <a:rPr sz="1000" b="1" i="0">
                <a:solidFill>
                  <a:srgbClr val="FF9548"/>
                </a:solidFill>
                <a:latin typeface="JetBrains Mono"/>
              </a:rPr>
              <a:t>POST</a:t>
            </a:r>
          </a:p>
        </p:txBody>
      </p:sp>
      <p:sp>
        <p:nvSpPr>
          <p:cNvPr id="24" name="TextBox 23"/>
          <p:cNvSpPr txBox="1"/>
          <p:nvPr/>
        </p:nvSpPr>
        <p:spPr>
          <a:xfrm>
            <a:off x="1508760" y="6062472"/>
            <a:ext cx="3108960" cy="320040"/>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/api/auth/login</a:t>
            </a:r>
          </a:p>
        </p:txBody>
      </p:sp>
      <p:sp>
        <p:nvSpPr>
          <p:cNvPr id="25" name="TextBox 24"/>
          <p:cNvSpPr txBox="1"/>
          <p:nvPr/>
        </p:nvSpPr>
        <p:spPr>
          <a:xfrm>
            <a:off x="914400" y="6355080"/>
            <a:ext cx="4769967" cy="274320"/>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Auth JWT</a:t>
            </a:r>
          </a:p>
        </p:txBody>
      </p:sp>
      <p:sp>
        <p:nvSpPr>
          <p:cNvPr id="26" name="Rounded Rectangle 25"/>
          <p:cNvSpPr/>
          <p:nvPr/>
        </p:nvSpPr>
        <p:spPr>
          <a:xfrm>
            <a:off x="6233007" y="2651760"/>
            <a:ext cx="531860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7327" y="2926080"/>
            <a:ext cx="4769967" cy="365760"/>
          </a:xfrm>
          <a:prstGeom prst="rect">
            <a:avLst/>
          </a:prstGeom>
          <a:noFill/>
        </p:spPr>
        <p:txBody>
          <a:bodyPr wrap="square" lIns="0" rIns="0" tIns="0" bIns="0" anchor="t">
            <a:spAutoFit/>
          </a:bodyPr>
          <a:lstStyle/>
          <a:p>
            <a:pPr algn="l">
              <a:lnSpc>
                <a:spcPct val="110000"/>
              </a:lnSpc>
            </a:pPr>
            <a:r>
              <a:rPr sz="1000" b="1" i="0" spc="200">
                <a:solidFill>
                  <a:srgbClr val="4ECDC4"/>
                </a:solidFill>
                <a:latin typeface="JetBrains Mono"/>
              </a:rPr>
              <a:t>COLLECTIONS MONGODB</a:t>
            </a:r>
          </a:p>
        </p:txBody>
      </p:sp>
      <p:sp>
        <p:nvSpPr>
          <p:cNvPr id="28" name="Rounded Rectangle 27"/>
          <p:cNvSpPr/>
          <p:nvPr/>
        </p:nvSpPr>
        <p:spPr>
          <a:xfrm>
            <a:off x="6507327" y="342900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User</a:t>
            </a:r>
          </a:p>
        </p:txBody>
      </p:sp>
      <p:sp>
        <p:nvSpPr>
          <p:cNvPr id="29" name="Rounded Rectangle 28"/>
          <p:cNvSpPr/>
          <p:nvPr/>
        </p:nvSpPr>
        <p:spPr>
          <a:xfrm>
            <a:off x="9029471" y="342900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Machine</a:t>
            </a:r>
          </a:p>
        </p:txBody>
      </p:sp>
      <p:sp>
        <p:nvSpPr>
          <p:cNvPr id="30" name="Rounded Rectangle 29"/>
          <p:cNvSpPr/>
          <p:nvPr/>
        </p:nvSpPr>
        <p:spPr>
          <a:xfrm>
            <a:off x="6507327" y="393192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Capteur</a:t>
            </a:r>
          </a:p>
        </p:txBody>
      </p:sp>
      <p:sp>
        <p:nvSpPr>
          <p:cNvPr id="31" name="Rounded Rectangle 30"/>
          <p:cNvSpPr/>
          <p:nvPr/>
        </p:nvSpPr>
        <p:spPr>
          <a:xfrm>
            <a:off x="9029471" y="393192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Intervention</a:t>
            </a:r>
          </a:p>
        </p:txBody>
      </p:sp>
      <p:sp>
        <p:nvSpPr>
          <p:cNvPr id="32" name="Rounded Rectangle 31"/>
          <p:cNvSpPr/>
          <p:nvPr/>
        </p:nvSpPr>
        <p:spPr>
          <a:xfrm>
            <a:off x="6507327" y="443484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Alerte</a:t>
            </a:r>
          </a:p>
        </p:txBody>
      </p:sp>
      <p:sp>
        <p:nvSpPr>
          <p:cNvPr id="33" name="Rounded Rectangle 32"/>
          <p:cNvSpPr/>
          <p:nvPr/>
        </p:nvSpPr>
        <p:spPr>
          <a:xfrm>
            <a:off x="9029471" y="443484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Maintenance</a:t>
            </a:r>
          </a:p>
        </p:txBody>
      </p:sp>
      <p:sp>
        <p:nvSpPr>
          <p:cNvPr id="34" name="Rounded Rectangle 33"/>
          <p:cNvSpPr/>
          <p:nvPr/>
        </p:nvSpPr>
        <p:spPr>
          <a:xfrm>
            <a:off x="6507327" y="493776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AnalyseTCO</a:t>
            </a:r>
          </a:p>
        </p:txBody>
      </p:sp>
      <p:sp>
        <p:nvSpPr>
          <p:cNvPr id="35" name="Rounded Rectangle 34"/>
          <p:cNvSpPr/>
          <p:nvPr/>
        </p:nvSpPr>
        <p:spPr>
          <a:xfrm>
            <a:off x="9029471" y="4937760"/>
            <a:ext cx="2247823" cy="365760"/>
          </a:xfrm>
          <a:prstGeom prst="roundRect">
            <a:avLst>
              <a:gd name="adj" fmla="val 50000"/>
            </a:avLst>
          </a:prstGeom>
          <a:solidFill>
            <a:srgbClr val="101A45">
              <a:alpha val="22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1100" b="1" spc="80">
                <a:solidFill>
                  <a:srgbClr val="DFE4F7"/>
                </a:solidFill>
                <a:latin typeface="JetBrains Mono"/>
              </a:rPr>
              <a:t>PreventiveChecklist</a:t>
            </a:r>
          </a:p>
        </p:txBody>
      </p:sp>
      <p:sp>
        <p:nvSpPr>
          <p:cNvPr id="36" name="TextBox 35"/>
          <p:cNvSpPr txBox="1"/>
          <p:nvPr/>
        </p:nvSpPr>
        <p:spPr>
          <a:xfrm>
            <a:off x="6507327" y="5715000"/>
            <a:ext cx="4769967" cy="320040"/>
          </a:xfrm>
          <a:prstGeom prst="rect">
            <a:avLst/>
          </a:prstGeom>
          <a:noFill/>
        </p:spPr>
        <p:txBody>
          <a:bodyPr wrap="square" lIns="0" rIns="0" tIns="0" bIns="0" anchor="t">
            <a:spAutoFit/>
          </a:bodyPr>
          <a:lstStyle/>
          <a:p>
            <a:pPr algn="ctr">
              <a:lnSpc>
                <a:spcPct val="110000"/>
              </a:lnSpc>
            </a:pPr>
            <a:r>
              <a:rPr sz="1000" b="0" i="0" spc="100">
                <a:solidFill>
                  <a:srgbClr val="7D8496"/>
                </a:solidFill>
                <a:latin typeface="JetBrains Mono"/>
              </a:rPr>
              <a:t>3 rôles  ·  JWT auth  ·  x-api-key pour l'IoT</a:t>
            </a:r>
          </a:p>
        </p:txBody>
      </p:sp>
      <p:sp>
        <p:nvSpPr>
          <p:cNvPr id="37" name="TextBox 36"/>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18 / 33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MICROSERVICE INTELLIGENCE ARTIFICIELLE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Trois modèles ML.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 microservice FastAPI · scikit-learn + XGBoost.</a:t>
            </a:r>
          </a:p>
        </p:txBody>
      </p:sp>
      <p:sp>
        <p:nvSpPr>
          <p:cNvPr id="9" name="Rounded Rectangle 8"/>
          <p:cNvSpPr/>
          <p:nvPr/>
        </p:nvSpPr>
        <p:spPr>
          <a:xfrm>
            <a:off x="640080" y="2651760"/>
            <a:ext cx="3484778" cy="27432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RF v1</a:t>
            </a:r>
          </a:p>
        </p:txBody>
      </p:sp>
      <p:sp>
        <p:nvSpPr>
          <p:cNvPr id="11" name="Rounded Rectangle 10"/>
          <p:cNvSpPr/>
          <p:nvPr/>
        </p:nvSpPr>
        <p:spPr>
          <a:xfrm>
            <a:off x="2981858"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F1 0.15</a:t>
            </a:r>
          </a:p>
        </p:txBody>
      </p:sp>
      <p:sp>
        <p:nvSpPr>
          <p:cNvPr id="12" name="TextBox 11"/>
          <p:cNvSpPr txBox="1"/>
          <p:nvPr/>
        </p:nvSpPr>
        <p:spPr>
          <a:xfrm>
            <a:off x="868680"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Historique · zones</a:t>
            </a:r>
          </a:p>
        </p:txBody>
      </p:sp>
      <p:sp>
        <p:nvSpPr>
          <p:cNvPr id="13" name="TextBox 12"/>
          <p:cNvSpPr txBox="1"/>
          <p:nvPr/>
        </p:nvSpPr>
        <p:spPr>
          <a:xfrm>
            <a:off x="868680" y="3648456"/>
            <a:ext cx="3027578" cy="182880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Baseline entraînée sur l'historique ICEM.
Sortie : zone probable de la panne.</a:t>
            </a:r>
          </a:p>
        </p:txBody>
      </p:sp>
      <p:sp>
        <p:nvSpPr>
          <p:cNvPr id="14" name="Rounded Rectangle 13"/>
          <p:cNvSpPr/>
          <p:nvPr/>
        </p:nvSpPr>
        <p:spPr>
          <a:xfrm>
            <a:off x="4353458" y="2651760"/>
            <a:ext cx="3484778" cy="27432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2058"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RF v2</a:t>
            </a:r>
          </a:p>
        </p:txBody>
      </p:sp>
      <p:sp>
        <p:nvSpPr>
          <p:cNvPr id="16" name="Rounded Rectangle 15"/>
          <p:cNvSpPr/>
          <p:nvPr/>
        </p:nvSpPr>
        <p:spPr>
          <a:xfrm>
            <a:off x="6695236"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F1 0.45</a:t>
            </a:r>
          </a:p>
        </p:txBody>
      </p:sp>
      <p:sp>
        <p:nvSpPr>
          <p:cNvPr id="17" name="TextBox 16"/>
          <p:cNvSpPr txBox="1"/>
          <p:nvPr/>
        </p:nvSpPr>
        <p:spPr>
          <a:xfrm>
            <a:off x="4582058"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IoT synthétique · causes</a:t>
            </a:r>
          </a:p>
        </p:txBody>
      </p:sp>
      <p:sp>
        <p:nvSpPr>
          <p:cNvPr id="18" name="TextBox 17"/>
          <p:cNvSpPr txBox="1"/>
          <p:nvPr/>
        </p:nvSpPr>
        <p:spPr>
          <a:xfrm>
            <a:off x="4582058" y="3648456"/>
            <a:ext cx="3027578" cy="182880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Réentraîné sur signaux IoT étiquetés par cause physique (13 classes).</a:t>
            </a:r>
          </a:p>
        </p:txBody>
      </p:sp>
      <p:sp>
        <p:nvSpPr>
          <p:cNvPr id="19" name="Rounded Rectangle 18"/>
          <p:cNvSpPr/>
          <p:nvPr/>
        </p:nvSpPr>
        <p:spPr>
          <a:xfrm>
            <a:off x="8066836" y="2651760"/>
            <a:ext cx="3484778" cy="27432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5436" y="2852928"/>
            <a:ext cx="3027578"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XGB v3</a:t>
            </a:r>
          </a:p>
        </p:txBody>
      </p:sp>
      <p:sp>
        <p:nvSpPr>
          <p:cNvPr id="21" name="Rounded Rectangle 20"/>
          <p:cNvSpPr/>
          <p:nvPr/>
        </p:nvSpPr>
        <p:spPr>
          <a:xfrm>
            <a:off x="10408615"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F1 0.83</a:t>
            </a:r>
          </a:p>
        </p:txBody>
      </p:sp>
      <p:sp>
        <p:nvSpPr>
          <p:cNvPr id="22" name="TextBox 21"/>
          <p:cNvSpPr txBox="1"/>
          <p:nvPr/>
        </p:nvSpPr>
        <p:spPr>
          <a:xfrm>
            <a:off x="8295436" y="3145536"/>
            <a:ext cx="3027578"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Probabilité · horizon 2 h</a:t>
            </a:r>
          </a:p>
        </p:txBody>
      </p:sp>
      <p:sp>
        <p:nvSpPr>
          <p:cNvPr id="23" name="TextBox 22"/>
          <p:cNvSpPr txBox="1"/>
          <p:nvPr/>
        </p:nvSpPr>
        <p:spPr>
          <a:xfrm>
            <a:off x="8295436" y="3648456"/>
            <a:ext cx="3027578" cy="182880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Gradient boosting · sortie probabilité + cause + fenêtre 2 h.</a:t>
            </a:r>
          </a:p>
        </p:txBody>
      </p:sp>
      <p:sp>
        <p:nvSpPr>
          <p:cNvPr id="24" name="Rounded Rectangle 23"/>
          <p:cNvSpPr/>
          <p:nvPr/>
        </p:nvSpPr>
        <p:spPr>
          <a:xfrm>
            <a:off x="640080" y="5577840"/>
            <a:ext cx="10911535" cy="777240"/>
          </a:xfrm>
          <a:prstGeom prst="roundRect">
            <a:avLst>
              <a:gd name="adj" fmla="val 6000"/>
            </a:avLst>
          </a:prstGeom>
          <a:solidFill>
            <a:srgbClr val="101A45">
              <a:alpha val="3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577840"/>
            <a:ext cx="10911535" cy="777240"/>
          </a:xfrm>
          <a:prstGeom prst="rect">
            <a:avLst/>
          </a:prstGeom>
          <a:noFill/>
        </p:spPr>
        <p:txBody>
          <a:bodyPr wrap="square" lIns="0" rIns="0" tIns="0" bIns="0" anchor="ctr">
            <a:spAutoFit/>
          </a:bodyPr>
          <a:lstStyle/>
          <a:p>
            <a:pPr algn="ctr">
              <a:lnSpc>
                <a:spcPct val="110000"/>
              </a:lnSpc>
            </a:pPr>
            <a:r>
              <a:rPr sz="1700" b="1" i="0">
                <a:solidFill>
                  <a:srgbClr val="FFB37A"/>
                </a:solidFill>
                <a:latin typeface="Space Grotesk"/>
              </a:rPr>
              <a:t>Seuil 80 %   ⇒   création automatique d'une maintenance prédictive.</a:t>
            </a:r>
          </a:p>
        </p:txBody>
      </p:sp>
      <p:sp>
        <p:nvSpPr>
          <p:cNvPr id="26" name="TextBox 25"/>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19 /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DONNÉES D'ENTRAÎNEMENT</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Deux sources de données.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Historique réel · signaux synthétiques ancrés physiquement.</a:t>
            </a:r>
          </a:p>
        </p:txBody>
      </p:sp>
      <p:sp>
        <p:nvSpPr>
          <p:cNvPr id="9" name="Rounded Rectangle 8"/>
          <p:cNvSpPr/>
          <p:nvPr/>
        </p:nvSpPr>
        <p:spPr>
          <a:xfrm>
            <a:off x="640080" y="2651760"/>
            <a:ext cx="5295747" cy="24688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47107" cy="36576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SOURCE 01 · HISTORIQUE ICEM</a:t>
            </a:r>
          </a:p>
        </p:txBody>
      </p:sp>
      <p:sp>
        <p:nvSpPr>
          <p:cNvPr id="11" name="TextBox 10"/>
          <p:cNvSpPr txBox="1"/>
          <p:nvPr/>
        </p:nvSpPr>
        <p:spPr>
          <a:xfrm>
            <a:off x="914400" y="3429000"/>
            <a:ext cx="4747107" cy="640080"/>
          </a:xfrm>
          <a:prstGeom prst="rect">
            <a:avLst/>
          </a:prstGeom>
          <a:noFill/>
        </p:spPr>
        <p:txBody>
          <a:bodyPr wrap="square" lIns="0" rIns="0" tIns="0" bIns="0" anchor="t">
            <a:spAutoFit/>
          </a:bodyPr>
          <a:lstStyle/>
          <a:p>
            <a:pPr algn="l">
              <a:lnSpc>
                <a:spcPct val="110000"/>
              </a:lnSpc>
            </a:pPr>
            <a:r>
              <a:rPr sz="3200" b="1" i="0">
                <a:solidFill>
                  <a:srgbClr val="FFFFFF"/>
                </a:solidFill>
                <a:latin typeface="Space Grotesk"/>
              </a:rPr>
              <a:t>1 467 événements</a:t>
            </a:r>
          </a:p>
        </p:txBody>
      </p:sp>
      <p:sp>
        <p:nvSpPr>
          <p:cNvPr id="12" name="TextBox 11"/>
          <p:cNvSpPr txBox="1"/>
          <p:nvPr/>
        </p:nvSpPr>
        <p:spPr>
          <a:xfrm>
            <a:off x="914400" y="4069080"/>
            <a:ext cx="4747107" cy="365760"/>
          </a:xfrm>
          <a:prstGeom prst="rect">
            <a:avLst/>
          </a:prstGeom>
          <a:noFill/>
        </p:spPr>
        <p:txBody>
          <a:bodyPr wrap="square" lIns="0" rIns="0" tIns="0" bIns="0" anchor="t">
            <a:spAutoFit/>
          </a:bodyPr>
          <a:lstStyle/>
          <a:p>
            <a:pPr algn="l">
              <a:lnSpc>
                <a:spcPct val="110000"/>
              </a:lnSpc>
            </a:pPr>
            <a:r>
              <a:rPr sz="1300" b="0" i="0">
                <a:solidFill>
                  <a:srgbClr val="C9D0DC"/>
                </a:solidFill>
                <a:latin typeface="Inter"/>
              </a:rPr>
              <a:t>ICEM · période 2019 – 2024 · 5 ans</a:t>
            </a:r>
          </a:p>
        </p:txBody>
      </p:sp>
      <p:sp>
        <p:nvSpPr>
          <p:cNvPr id="13" name="TextBox 12"/>
          <p:cNvSpPr txBox="1"/>
          <p:nvPr/>
        </p:nvSpPr>
        <p:spPr>
          <a:xfrm>
            <a:off x="914400" y="4480560"/>
            <a:ext cx="4747107" cy="548640"/>
          </a:xfrm>
          <a:prstGeom prst="rect">
            <a:avLst/>
          </a:prstGeom>
          <a:noFill/>
        </p:spPr>
        <p:txBody>
          <a:bodyPr wrap="square" lIns="0" rIns="0" tIns="0" bIns="0" anchor="t">
            <a:spAutoFit/>
          </a:bodyPr>
          <a:lstStyle/>
          <a:p>
            <a:pPr algn="l">
              <a:lnSpc>
                <a:spcPct val="110000"/>
              </a:lnSpc>
            </a:pPr>
            <a:r>
              <a:rPr sz="1100" b="0" i="0">
                <a:solidFill>
                  <a:srgbClr val="7D8496"/>
                </a:solidFill>
                <a:latin typeface="Inter"/>
              </a:rPr>
              <a:t>Champs : machine · zone · cause · durée · date · technicien</a:t>
            </a:r>
          </a:p>
        </p:txBody>
      </p:sp>
      <p:sp>
        <p:nvSpPr>
          <p:cNvPr id="14" name="Rounded Rectangle 13"/>
          <p:cNvSpPr/>
          <p:nvPr/>
        </p:nvSpPr>
        <p:spPr>
          <a:xfrm>
            <a:off x="6255867" y="2651760"/>
            <a:ext cx="5295747" cy="24688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0187" y="2926080"/>
            <a:ext cx="4747107" cy="365760"/>
          </a:xfrm>
          <a:prstGeom prst="rect">
            <a:avLst/>
          </a:prstGeom>
          <a:noFill/>
        </p:spPr>
        <p:txBody>
          <a:bodyPr wrap="square" lIns="0" rIns="0" tIns="0" bIns="0" anchor="t">
            <a:spAutoFit/>
          </a:bodyPr>
          <a:lstStyle/>
          <a:p>
            <a:pPr algn="l">
              <a:lnSpc>
                <a:spcPct val="110000"/>
              </a:lnSpc>
            </a:pPr>
            <a:r>
              <a:rPr sz="1000" b="1" i="0" spc="180">
                <a:solidFill>
                  <a:srgbClr val="4ECDC4"/>
                </a:solidFill>
                <a:latin typeface="JetBrains Mono"/>
              </a:rPr>
              <a:t>SOURCE 02 · SYNTHÉTIQUE IoT</a:t>
            </a:r>
          </a:p>
        </p:txBody>
      </p:sp>
      <p:sp>
        <p:nvSpPr>
          <p:cNvPr id="16" name="TextBox 15"/>
          <p:cNvSpPr txBox="1"/>
          <p:nvPr/>
        </p:nvSpPr>
        <p:spPr>
          <a:xfrm>
            <a:off x="6530187" y="3429000"/>
            <a:ext cx="4747107" cy="640080"/>
          </a:xfrm>
          <a:prstGeom prst="rect">
            <a:avLst/>
          </a:prstGeom>
          <a:noFill/>
        </p:spPr>
        <p:txBody>
          <a:bodyPr wrap="square" lIns="0" rIns="0" tIns="0" bIns="0" anchor="t">
            <a:spAutoFit/>
          </a:bodyPr>
          <a:lstStyle/>
          <a:p>
            <a:pPr algn="l">
              <a:lnSpc>
                <a:spcPct val="110000"/>
              </a:lnSpc>
            </a:pPr>
            <a:r>
              <a:rPr sz="3200" b="1" i="0">
                <a:solidFill>
                  <a:srgbClr val="FFFFFF"/>
                </a:solidFill>
                <a:latin typeface="Space Grotesk"/>
              </a:rPr>
              <a:t>64 800 lignes  ·  1 min</a:t>
            </a:r>
          </a:p>
        </p:txBody>
      </p:sp>
      <p:sp>
        <p:nvSpPr>
          <p:cNvPr id="17" name="TextBox 16"/>
          <p:cNvSpPr txBox="1"/>
          <p:nvPr/>
        </p:nvSpPr>
        <p:spPr>
          <a:xfrm>
            <a:off x="6530187" y="4069080"/>
            <a:ext cx="4747107" cy="365760"/>
          </a:xfrm>
          <a:prstGeom prst="rect">
            <a:avLst/>
          </a:prstGeom>
          <a:noFill/>
        </p:spPr>
        <p:txBody>
          <a:bodyPr wrap="square" lIns="0" rIns="0" tIns="0" bIns="0" anchor="t">
            <a:spAutoFit/>
          </a:bodyPr>
          <a:lstStyle/>
          <a:p>
            <a:pPr algn="l">
              <a:lnSpc>
                <a:spcPct val="110000"/>
              </a:lnSpc>
            </a:pPr>
            <a:r>
              <a:rPr sz="1300" b="0" i="0">
                <a:solidFill>
                  <a:srgbClr val="C9D0DC"/>
                </a:solidFill>
                <a:latin typeface="Inter"/>
              </a:rPr>
              <a:t>Physique + FMEA · 13 causes ancrées</a:t>
            </a:r>
          </a:p>
        </p:txBody>
      </p:sp>
      <p:sp>
        <p:nvSpPr>
          <p:cNvPr id="18" name="TextBox 17"/>
          <p:cNvSpPr txBox="1"/>
          <p:nvPr/>
        </p:nvSpPr>
        <p:spPr>
          <a:xfrm>
            <a:off x="6530187" y="4480560"/>
            <a:ext cx="4747107" cy="548640"/>
          </a:xfrm>
          <a:prstGeom prst="rect">
            <a:avLst/>
          </a:prstGeom>
          <a:noFill/>
        </p:spPr>
        <p:txBody>
          <a:bodyPr wrap="square" lIns="0" rIns="0" tIns="0" bIns="0" anchor="t">
            <a:spAutoFit/>
          </a:bodyPr>
          <a:lstStyle/>
          <a:p>
            <a:pPr algn="l">
              <a:lnSpc>
                <a:spcPct val="110000"/>
              </a:lnSpc>
            </a:pPr>
            <a:r>
              <a:rPr sz="1100" b="0" i="0">
                <a:solidFill>
                  <a:srgbClr val="7D8496"/>
                </a:solidFill>
                <a:latin typeface="Inter"/>
              </a:rPr>
              <a:t>Signaux : DHT22 · MPU-6050 · AMG8833 · SCT-013</a:t>
            </a:r>
          </a:p>
        </p:txBody>
      </p:sp>
      <p:sp>
        <p:nvSpPr>
          <p:cNvPr id="19" name="Rounded Rectangle 18"/>
          <p:cNvSpPr/>
          <p:nvPr/>
        </p:nvSpPr>
        <p:spPr>
          <a:xfrm>
            <a:off x="640080" y="5394960"/>
            <a:ext cx="10911535" cy="685800"/>
          </a:xfrm>
          <a:prstGeom prst="roundRect">
            <a:avLst>
              <a:gd name="adj" fmla="val 6000"/>
            </a:avLst>
          </a:prstGeom>
          <a:solidFill>
            <a:srgbClr val="101A45">
              <a:alpha val="2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394960"/>
            <a:ext cx="10911535" cy="685800"/>
          </a:xfrm>
          <a:prstGeom prst="rect">
            <a:avLst/>
          </a:prstGeom>
          <a:noFill/>
        </p:spPr>
        <p:txBody>
          <a:bodyPr wrap="square" lIns="0" rIns="0" tIns="0" bIns="0" anchor="ctr">
            <a:spAutoFit/>
          </a:bodyPr>
          <a:lstStyle/>
          <a:p>
            <a:pPr algn="ctr">
              <a:lnSpc>
                <a:spcPct val="110000"/>
              </a:lnSpc>
            </a:pPr>
            <a:r>
              <a:rPr sz="1200" b="0" i="0" spc="100">
                <a:solidFill>
                  <a:srgbClr val="FFB37A"/>
                </a:solidFill>
                <a:latin typeface="JetBrains Mono"/>
              </a:rPr>
              <a:t>Découpage stratifié   ·   80 % entraînement   ·   20 % test   ·   shuffle par cause (12 960 test)</a:t>
            </a:r>
          </a:p>
        </p:txBody>
      </p:sp>
      <p:sp>
        <p:nvSpPr>
          <p:cNvPr id="21" name="TextBox 20"/>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20 /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TAXONOMIE DES CAUSES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Treize causes.</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Grille FMEA validée par le technicien d'atelier.</a:t>
            </a:r>
          </a:p>
        </p:txBody>
      </p:sp>
      <p:sp>
        <p:nvSpPr>
          <p:cNvPr id="9" name="Rounded Rectangle 8"/>
          <p:cNvSpPr/>
          <p:nvPr/>
        </p:nvSpPr>
        <p:spPr>
          <a:xfrm>
            <a:off x="640080"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C01</a:t>
            </a:r>
          </a:p>
        </p:txBody>
      </p:sp>
      <p:sp>
        <p:nvSpPr>
          <p:cNvPr id="11" name="TextBox 10"/>
          <p:cNvSpPr txBox="1"/>
          <p:nvPr/>
        </p:nvSpPr>
        <p:spPr>
          <a:xfrm>
            <a:off x="822960"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Cellule K obstruée</a:t>
            </a:r>
          </a:p>
        </p:txBody>
      </p:sp>
      <p:sp>
        <p:nvSpPr>
          <p:cNvPr id="12" name="Rounded Rectangle 11"/>
          <p:cNvSpPr/>
          <p:nvPr/>
        </p:nvSpPr>
        <p:spPr>
          <a:xfrm>
            <a:off x="3409111"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1991"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C02</a:t>
            </a:r>
          </a:p>
        </p:txBody>
      </p:sp>
      <p:sp>
        <p:nvSpPr>
          <p:cNvPr id="14" name="TextBox 13"/>
          <p:cNvSpPr txBox="1"/>
          <p:nvPr/>
        </p:nvSpPr>
        <p:spPr>
          <a:xfrm>
            <a:off x="3591991"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Lame émoussée</a:t>
            </a:r>
          </a:p>
        </p:txBody>
      </p:sp>
      <p:sp>
        <p:nvSpPr>
          <p:cNvPr id="15" name="Rounded Rectangle 14"/>
          <p:cNvSpPr/>
          <p:nvPr/>
        </p:nvSpPr>
        <p:spPr>
          <a:xfrm>
            <a:off x="6178143"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1023"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C03</a:t>
            </a:r>
          </a:p>
        </p:txBody>
      </p:sp>
      <p:sp>
        <p:nvSpPr>
          <p:cNvPr id="17" name="TextBox 16"/>
          <p:cNvSpPr txBox="1"/>
          <p:nvPr/>
        </p:nvSpPr>
        <p:spPr>
          <a:xfrm>
            <a:off x="6361023"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MINI / Terminale mal ajustée</a:t>
            </a:r>
          </a:p>
        </p:txBody>
      </p:sp>
      <p:sp>
        <p:nvSpPr>
          <p:cNvPr id="18" name="Rounded Rectangle 17"/>
          <p:cNvSpPr/>
          <p:nvPr/>
        </p:nvSpPr>
        <p:spPr>
          <a:xfrm>
            <a:off x="8947175" y="2651760"/>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0055" y="2788920"/>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C04</a:t>
            </a:r>
          </a:p>
        </p:txBody>
      </p:sp>
      <p:sp>
        <p:nvSpPr>
          <p:cNvPr id="20" name="TextBox 19"/>
          <p:cNvSpPr txBox="1"/>
          <p:nvPr/>
        </p:nvSpPr>
        <p:spPr>
          <a:xfrm>
            <a:off x="9130055" y="3108960"/>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Vérin pneumatique HS</a:t>
            </a:r>
          </a:p>
        </p:txBody>
      </p:sp>
      <p:sp>
        <p:nvSpPr>
          <p:cNvPr id="21" name="Rounded Rectangle 20"/>
          <p:cNvSpPr/>
          <p:nvPr/>
        </p:nvSpPr>
        <p:spPr>
          <a:xfrm>
            <a:off x="640080"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C05</a:t>
            </a:r>
          </a:p>
        </p:txBody>
      </p:sp>
      <p:sp>
        <p:nvSpPr>
          <p:cNvPr id="23" name="TextBox 22"/>
          <p:cNvSpPr txBox="1"/>
          <p:nvPr/>
        </p:nvSpPr>
        <p:spPr>
          <a:xfrm>
            <a:off x="822960"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Fuite pneumatique</a:t>
            </a:r>
          </a:p>
        </p:txBody>
      </p:sp>
      <p:sp>
        <p:nvSpPr>
          <p:cNvPr id="24" name="Rounded Rectangle 23"/>
          <p:cNvSpPr/>
          <p:nvPr/>
        </p:nvSpPr>
        <p:spPr>
          <a:xfrm>
            <a:off x="3409111"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1991"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C06</a:t>
            </a:r>
          </a:p>
        </p:txBody>
      </p:sp>
      <p:sp>
        <p:nvSpPr>
          <p:cNvPr id="26" name="TextBox 25"/>
          <p:cNvSpPr txBox="1"/>
          <p:nvPr/>
        </p:nvSpPr>
        <p:spPr>
          <a:xfrm>
            <a:off x="3591991"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Frein bobine déréglé</a:t>
            </a:r>
          </a:p>
        </p:txBody>
      </p:sp>
      <p:sp>
        <p:nvSpPr>
          <p:cNvPr id="27" name="Rounded Rectangle 26"/>
          <p:cNvSpPr/>
          <p:nvPr/>
        </p:nvSpPr>
        <p:spPr>
          <a:xfrm>
            <a:off x="6178143"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1023"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C07</a:t>
            </a:r>
          </a:p>
        </p:txBody>
      </p:sp>
      <p:sp>
        <p:nvSpPr>
          <p:cNvPr id="29" name="TextBox 28"/>
          <p:cNvSpPr txBox="1"/>
          <p:nvPr/>
        </p:nvSpPr>
        <p:spPr>
          <a:xfrm>
            <a:off x="6361023"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Détecteur fil HS</a:t>
            </a:r>
          </a:p>
        </p:txBody>
      </p:sp>
      <p:sp>
        <p:nvSpPr>
          <p:cNvPr id="30" name="Rounded Rectangle 29"/>
          <p:cNvSpPr/>
          <p:nvPr/>
        </p:nvSpPr>
        <p:spPr>
          <a:xfrm>
            <a:off x="8947175" y="3515868"/>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30055" y="3653028"/>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C08</a:t>
            </a:r>
          </a:p>
        </p:txBody>
      </p:sp>
      <p:sp>
        <p:nvSpPr>
          <p:cNvPr id="32" name="TextBox 31"/>
          <p:cNvSpPr txBox="1"/>
          <p:nvPr/>
        </p:nvSpPr>
        <p:spPr>
          <a:xfrm>
            <a:off x="9130055" y="3973068"/>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Encodeur dérive</a:t>
            </a:r>
          </a:p>
        </p:txBody>
      </p:sp>
      <p:sp>
        <p:nvSpPr>
          <p:cNvPr id="33" name="Rounded Rectangle 32"/>
          <p:cNvSpPr/>
          <p:nvPr/>
        </p:nvSpPr>
        <p:spPr>
          <a:xfrm>
            <a:off x="640080"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C09</a:t>
            </a:r>
          </a:p>
        </p:txBody>
      </p:sp>
      <p:sp>
        <p:nvSpPr>
          <p:cNvPr id="35" name="TextBox 34"/>
          <p:cNvSpPr txBox="1"/>
          <p:nvPr/>
        </p:nvSpPr>
        <p:spPr>
          <a:xfrm>
            <a:off x="822960"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Guide-fil usé</a:t>
            </a:r>
          </a:p>
        </p:txBody>
      </p:sp>
      <p:sp>
        <p:nvSpPr>
          <p:cNvPr id="36" name="Rounded Rectangle 35"/>
          <p:cNvSpPr/>
          <p:nvPr/>
        </p:nvSpPr>
        <p:spPr>
          <a:xfrm>
            <a:off x="3409111"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91991"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C10</a:t>
            </a:r>
          </a:p>
        </p:txBody>
      </p:sp>
      <p:sp>
        <p:nvSpPr>
          <p:cNvPr id="38" name="TextBox 37"/>
          <p:cNvSpPr txBox="1"/>
          <p:nvPr/>
        </p:nvSpPr>
        <p:spPr>
          <a:xfrm>
            <a:off x="3591991"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Câble / phase HS</a:t>
            </a:r>
          </a:p>
        </p:txBody>
      </p:sp>
      <p:sp>
        <p:nvSpPr>
          <p:cNvPr id="39" name="Rounded Rectangle 38"/>
          <p:cNvSpPr/>
          <p:nvPr/>
        </p:nvSpPr>
        <p:spPr>
          <a:xfrm>
            <a:off x="6178143"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1023"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C11</a:t>
            </a:r>
          </a:p>
        </p:txBody>
      </p:sp>
      <p:sp>
        <p:nvSpPr>
          <p:cNvPr id="41" name="TextBox 40"/>
          <p:cNvSpPr txBox="1"/>
          <p:nvPr/>
        </p:nvSpPr>
        <p:spPr>
          <a:xfrm>
            <a:off x="6361023"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Servomoteur surcharge</a:t>
            </a:r>
          </a:p>
        </p:txBody>
      </p:sp>
      <p:sp>
        <p:nvSpPr>
          <p:cNvPr id="42" name="Rounded Rectangle 41"/>
          <p:cNvSpPr/>
          <p:nvPr/>
        </p:nvSpPr>
        <p:spPr>
          <a:xfrm>
            <a:off x="8947175" y="4379976"/>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30055" y="4517136"/>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C12</a:t>
            </a:r>
          </a:p>
        </p:txBody>
      </p:sp>
      <p:sp>
        <p:nvSpPr>
          <p:cNvPr id="44" name="TextBox 43"/>
          <p:cNvSpPr txBox="1"/>
          <p:nvPr/>
        </p:nvSpPr>
        <p:spPr>
          <a:xfrm>
            <a:off x="9130055" y="4837176"/>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Roue Gommino usée</a:t>
            </a:r>
          </a:p>
        </p:txBody>
      </p:sp>
      <p:sp>
        <p:nvSpPr>
          <p:cNvPr id="45" name="Rounded Rectangle 44"/>
          <p:cNvSpPr/>
          <p:nvPr/>
        </p:nvSpPr>
        <p:spPr>
          <a:xfrm>
            <a:off x="640080" y="5244084"/>
            <a:ext cx="2604439" cy="699516"/>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5381244"/>
            <a:ext cx="2238679" cy="32004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C13</a:t>
            </a:r>
          </a:p>
        </p:txBody>
      </p:sp>
      <p:sp>
        <p:nvSpPr>
          <p:cNvPr id="47" name="TextBox 46"/>
          <p:cNvSpPr txBox="1"/>
          <p:nvPr/>
        </p:nvSpPr>
        <p:spPr>
          <a:xfrm>
            <a:off x="822960" y="5701284"/>
            <a:ext cx="2238679" cy="150876"/>
          </a:xfrm>
          <a:prstGeom prst="rect">
            <a:avLst/>
          </a:prstGeom>
          <a:noFill/>
        </p:spPr>
        <p:txBody>
          <a:bodyPr wrap="square" lIns="0" rIns="0" tIns="0" bIns="0" anchor="t">
            <a:spAutoFit/>
          </a:bodyPr>
          <a:lstStyle/>
          <a:p>
            <a:pPr algn="l">
              <a:lnSpc>
                <a:spcPct val="125000"/>
              </a:lnSpc>
            </a:pPr>
            <a:r>
              <a:rPr sz="1200" b="0" i="0">
                <a:solidFill>
                  <a:srgbClr val="FFFFFF"/>
                </a:solidFill>
                <a:latin typeface="Inter"/>
              </a:rPr>
              <a:t>Autre / hors catalogue</a:t>
            </a:r>
          </a:p>
        </p:txBody>
      </p:sp>
      <p:sp>
        <p:nvSpPr>
          <p:cNvPr id="48" name="TextBox 47"/>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10 causes → signature capteur claire    ·    3 causes → signal manuel uniquement</a:t>
            </a:r>
          </a:p>
        </p:txBody>
      </p:sp>
      <p:sp>
        <p:nvSpPr>
          <p:cNvPr id="49" name="TextBox 4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21 / 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RÉSULTATS DES MODÈLES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F1 par modèle.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XGBoost gagne · l'écart n'est pas anodin.</a:t>
            </a:r>
          </a:p>
        </p:txBody>
      </p:sp>
      <p:sp>
        <p:nvSpPr>
          <p:cNvPr id="9" name="Rounded Rectangle 8"/>
          <p:cNvSpPr/>
          <p:nvPr/>
        </p:nvSpPr>
        <p:spPr>
          <a:xfrm>
            <a:off x="640080"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47107" cy="365760"/>
          </a:xfrm>
          <a:prstGeom prst="rect">
            <a:avLst/>
          </a:prstGeom>
          <a:noFill/>
        </p:spPr>
        <p:txBody>
          <a:bodyPr wrap="square" lIns="0" rIns="0" tIns="0" bIns="0" anchor="t">
            <a:spAutoFit/>
          </a:bodyPr>
          <a:lstStyle/>
          <a:p>
            <a:pPr algn="l">
              <a:lnSpc>
                <a:spcPct val="110000"/>
              </a:lnSpc>
            </a:pPr>
            <a:r>
              <a:rPr sz="1000" b="1" i="0" spc="200">
                <a:solidFill>
                  <a:srgbClr val="FF9548"/>
                </a:solidFill>
                <a:latin typeface="JetBrains Mono"/>
              </a:rPr>
              <a:t>F1 SCORE (MACRO)</a:t>
            </a:r>
          </a:p>
        </p:txBody>
      </p:sp>
      <p:sp>
        <p:nvSpPr>
          <p:cNvPr id="11" name="TextBox 10"/>
          <p:cNvSpPr txBox="1"/>
          <p:nvPr/>
        </p:nvSpPr>
        <p:spPr>
          <a:xfrm>
            <a:off x="914400" y="3566160"/>
            <a:ext cx="1463040" cy="502920"/>
          </a:xfrm>
          <a:prstGeom prst="rect">
            <a:avLst/>
          </a:prstGeom>
          <a:noFill/>
        </p:spPr>
        <p:txBody>
          <a:bodyPr wrap="square" lIns="0" rIns="0" tIns="0" bIns="0" anchor="ctr">
            <a:spAutoFit/>
          </a:bodyPr>
          <a:lstStyle/>
          <a:p>
            <a:pPr algn="l">
              <a:lnSpc>
                <a:spcPct val="110000"/>
              </a:lnSpc>
            </a:pPr>
            <a:r>
              <a:rPr sz="1300" b="0" i="0">
                <a:solidFill>
                  <a:srgbClr val="FFFFFF"/>
                </a:solidFill>
                <a:latin typeface="Inter"/>
              </a:rPr>
              <a:t>RF v1</a:t>
            </a:r>
          </a:p>
        </p:txBody>
      </p:sp>
      <p:sp>
        <p:nvSpPr>
          <p:cNvPr id="12" name="Rounded Rectangle 11"/>
          <p:cNvSpPr/>
          <p:nvPr/>
        </p:nvSpPr>
        <p:spPr>
          <a:xfrm>
            <a:off x="1371600" y="3566160"/>
            <a:ext cx="4289907" cy="502920"/>
          </a:xfrm>
          <a:prstGeom prst="roundRect">
            <a:avLst>
              <a:gd name="adj" fmla="val 40000"/>
            </a:avLst>
          </a:prstGeom>
          <a:solidFill>
            <a:srgbClr val="10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3566160"/>
            <a:ext cx="643486" cy="502920"/>
          </a:xfrm>
          <a:prstGeom prst="roundRect">
            <a:avLst>
              <a:gd name="adj" fmla="val 40000"/>
            </a:avLst>
          </a:prstGeom>
          <a:solidFill>
            <a:srgbClr val="7D8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6526" y="3566160"/>
            <a:ext cx="1097280" cy="502920"/>
          </a:xfrm>
          <a:prstGeom prst="rect">
            <a:avLst/>
          </a:prstGeom>
          <a:noFill/>
        </p:spPr>
        <p:txBody>
          <a:bodyPr wrap="square" lIns="0" rIns="0" tIns="0" bIns="0" anchor="ctr">
            <a:spAutoFit/>
          </a:bodyPr>
          <a:lstStyle/>
          <a:p>
            <a:pPr algn="l">
              <a:lnSpc>
                <a:spcPct val="110000"/>
              </a:lnSpc>
            </a:pPr>
            <a:r>
              <a:rPr sz="1300" b="1" i="0">
                <a:solidFill>
                  <a:srgbClr val="7D8496"/>
                </a:solidFill>
                <a:latin typeface="JetBrains Mono"/>
              </a:rPr>
              <a:t>0.150</a:t>
            </a:r>
          </a:p>
        </p:txBody>
      </p:sp>
      <p:sp>
        <p:nvSpPr>
          <p:cNvPr id="15" name="TextBox 14"/>
          <p:cNvSpPr txBox="1"/>
          <p:nvPr/>
        </p:nvSpPr>
        <p:spPr>
          <a:xfrm>
            <a:off x="914400" y="4434840"/>
            <a:ext cx="1463040" cy="502920"/>
          </a:xfrm>
          <a:prstGeom prst="rect">
            <a:avLst/>
          </a:prstGeom>
          <a:noFill/>
        </p:spPr>
        <p:txBody>
          <a:bodyPr wrap="square" lIns="0" rIns="0" tIns="0" bIns="0" anchor="ctr">
            <a:spAutoFit/>
          </a:bodyPr>
          <a:lstStyle/>
          <a:p>
            <a:pPr algn="l">
              <a:lnSpc>
                <a:spcPct val="110000"/>
              </a:lnSpc>
            </a:pPr>
            <a:r>
              <a:rPr sz="1300" b="0" i="0">
                <a:solidFill>
                  <a:srgbClr val="FFFFFF"/>
                </a:solidFill>
                <a:latin typeface="Inter"/>
              </a:rPr>
              <a:t>RF v2</a:t>
            </a:r>
          </a:p>
        </p:txBody>
      </p:sp>
      <p:sp>
        <p:nvSpPr>
          <p:cNvPr id="16" name="Rounded Rectangle 15"/>
          <p:cNvSpPr/>
          <p:nvPr/>
        </p:nvSpPr>
        <p:spPr>
          <a:xfrm>
            <a:off x="1371600" y="4434840"/>
            <a:ext cx="4289907" cy="502920"/>
          </a:xfrm>
          <a:prstGeom prst="roundRect">
            <a:avLst>
              <a:gd name="adj" fmla="val 40000"/>
            </a:avLst>
          </a:prstGeom>
          <a:solidFill>
            <a:srgbClr val="10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371600" y="4434840"/>
            <a:ext cx="1930458" cy="502920"/>
          </a:xfrm>
          <a:prstGeom prst="roundRect">
            <a:avLst>
              <a:gd name="adj" fmla="val 40000"/>
            </a:avLst>
          </a:prstGeom>
          <a:solidFill>
            <a:srgbClr val="687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93498" y="4434840"/>
            <a:ext cx="1097280" cy="502920"/>
          </a:xfrm>
          <a:prstGeom prst="rect">
            <a:avLst/>
          </a:prstGeom>
          <a:noFill/>
        </p:spPr>
        <p:txBody>
          <a:bodyPr wrap="square" lIns="0" rIns="0" tIns="0" bIns="0" anchor="ctr">
            <a:spAutoFit/>
          </a:bodyPr>
          <a:lstStyle/>
          <a:p>
            <a:pPr algn="l">
              <a:lnSpc>
                <a:spcPct val="110000"/>
              </a:lnSpc>
            </a:pPr>
            <a:r>
              <a:rPr sz="1300" b="1" i="0">
                <a:solidFill>
                  <a:srgbClr val="6879C9"/>
                </a:solidFill>
                <a:latin typeface="JetBrains Mono"/>
              </a:rPr>
              <a:t>0.450</a:t>
            </a:r>
          </a:p>
        </p:txBody>
      </p:sp>
      <p:sp>
        <p:nvSpPr>
          <p:cNvPr id="19" name="TextBox 18"/>
          <p:cNvSpPr txBox="1"/>
          <p:nvPr/>
        </p:nvSpPr>
        <p:spPr>
          <a:xfrm>
            <a:off x="914400" y="5303520"/>
            <a:ext cx="1463040" cy="502920"/>
          </a:xfrm>
          <a:prstGeom prst="rect">
            <a:avLst/>
          </a:prstGeom>
          <a:noFill/>
        </p:spPr>
        <p:txBody>
          <a:bodyPr wrap="square" lIns="0" rIns="0" tIns="0" bIns="0" anchor="ctr">
            <a:spAutoFit/>
          </a:bodyPr>
          <a:lstStyle/>
          <a:p>
            <a:pPr algn="l">
              <a:lnSpc>
                <a:spcPct val="110000"/>
              </a:lnSpc>
            </a:pPr>
            <a:r>
              <a:rPr sz="1300" b="0" i="0">
                <a:solidFill>
                  <a:srgbClr val="FFFFFF"/>
                </a:solidFill>
                <a:latin typeface="Inter"/>
              </a:rPr>
              <a:t>XGBoost v3</a:t>
            </a:r>
          </a:p>
        </p:txBody>
      </p:sp>
      <p:sp>
        <p:nvSpPr>
          <p:cNvPr id="20" name="Rounded Rectangle 19"/>
          <p:cNvSpPr/>
          <p:nvPr/>
        </p:nvSpPr>
        <p:spPr>
          <a:xfrm>
            <a:off x="1371600" y="5303520"/>
            <a:ext cx="4289907" cy="502920"/>
          </a:xfrm>
          <a:prstGeom prst="roundRect">
            <a:avLst>
              <a:gd name="adj" fmla="val 40000"/>
            </a:avLst>
          </a:prstGeom>
          <a:solidFill>
            <a:srgbClr val="10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371600" y="5303520"/>
            <a:ext cx="3560623" cy="502920"/>
          </a:xfrm>
          <a:prstGeom prst="roundRect">
            <a:avLst>
              <a:gd name="adj" fmla="val 40000"/>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3663" y="5303520"/>
            <a:ext cx="1097280" cy="502920"/>
          </a:xfrm>
          <a:prstGeom prst="rect">
            <a:avLst/>
          </a:prstGeom>
          <a:noFill/>
        </p:spPr>
        <p:txBody>
          <a:bodyPr wrap="square" lIns="0" rIns="0" tIns="0" bIns="0" anchor="ctr">
            <a:spAutoFit/>
          </a:bodyPr>
          <a:lstStyle/>
          <a:p>
            <a:pPr algn="l">
              <a:lnSpc>
                <a:spcPct val="110000"/>
              </a:lnSpc>
            </a:pPr>
            <a:r>
              <a:rPr sz="1300" b="1" i="0">
                <a:solidFill>
                  <a:srgbClr val="FF7A1A"/>
                </a:solidFill>
                <a:latin typeface="JetBrains Mono"/>
              </a:rPr>
              <a:t>0.830</a:t>
            </a:r>
          </a:p>
        </p:txBody>
      </p:sp>
      <p:sp>
        <p:nvSpPr>
          <p:cNvPr id="23" name="Rounded Rectangle 22"/>
          <p:cNvSpPr/>
          <p:nvPr/>
        </p:nvSpPr>
        <p:spPr>
          <a:xfrm>
            <a:off x="6255867" y="2651760"/>
            <a:ext cx="529574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0187" y="2926080"/>
            <a:ext cx="4747107" cy="365760"/>
          </a:xfrm>
          <a:prstGeom prst="rect">
            <a:avLst/>
          </a:prstGeom>
          <a:noFill/>
        </p:spPr>
        <p:txBody>
          <a:bodyPr wrap="square" lIns="0" rIns="0" tIns="0" bIns="0" anchor="t">
            <a:spAutoFit/>
          </a:bodyPr>
          <a:lstStyle/>
          <a:p>
            <a:pPr algn="l">
              <a:lnSpc>
                <a:spcPct val="110000"/>
              </a:lnSpc>
            </a:pPr>
            <a:r>
              <a:rPr sz="1000" b="1" i="0" spc="200">
                <a:solidFill>
                  <a:srgbClr val="4ECDC4"/>
                </a:solidFill>
                <a:latin typeface="JetBrains Mono"/>
              </a:rPr>
              <a:t>POURQUOI XGBOOST</a:t>
            </a:r>
          </a:p>
        </p:txBody>
      </p:sp>
      <p:sp>
        <p:nvSpPr>
          <p:cNvPr id="25" name="TextBox 24"/>
          <p:cNvSpPr txBox="1"/>
          <p:nvPr/>
        </p:nvSpPr>
        <p:spPr>
          <a:xfrm>
            <a:off x="6530187" y="3474720"/>
            <a:ext cx="4747107"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pace Grotesk"/>
              </a:rPr>
              <a:t>▸  Gradient boosting</a:t>
            </a:r>
          </a:p>
        </p:txBody>
      </p:sp>
      <p:sp>
        <p:nvSpPr>
          <p:cNvPr id="26" name="TextBox 25"/>
          <p:cNvSpPr txBox="1"/>
          <p:nvPr/>
        </p:nvSpPr>
        <p:spPr>
          <a:xfrm>
            <a:off x="6804507" y="3840480"/>
            <a:ext cx="4472787" cy="777240"/>
          </a:xfrm>
          <a:prstGeom prst="rect">
            <a:avLst/>
          </a:prstGeom>
          <a:noFill/>
        </p:spPr>
        <p:txBody>
          <a:bodyPr wrap="square" lIns="0" rIns="0" tIns="0" bIns="0" anchor="t">
            <a:spAutoFit/>
          </a:bodyPr>
          <a:lstStyle/>
          <a:p>
            <a:pPr algn="l">
              <a:lnSpc>
                <a:spcPct val="135000"/>
              </a:lnSpc>
            </a:pPr>
            <a:r>
              <a:rPr sz="1200" b="0" i="0">
                <a:solidFill>
                  <a:srgbClr val="C9D0DC"/>
                </a:solidFill>
                <a:latin typeface="Inter"/>
              </a:rPr>
              <a:t>apprend les erreurs séquentiellement, contrairement à un vote de random forest.</a:t>
            </a:r>
          </a:p>
        </p:txBody>
      </p:sp>
      <p:sp>
        <p:nvSpPr>
          <p:cNvPr id="27" name="TextBox 26"/>
          <p:cNvSpPr txBox="1"/>
          <p:nvPr/>
        </p:nvSpPr>
        <p:spPr>
          <a:xfrm>
            <a:off x="6530187" y="4709160"/>
            <a:ext cx="4747107"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pace Grotesk"/>
              </a:rPr>
              <a:t>▸  Robuste au déséquilibre</a:t>
            </a:r>
          </a:p>
        </p:txBody>
      </p:sp>
      <p:sp>
        <p:nvSpPr>
          <p:cNvPr id="28" name="TextBox 27"/>
          <p:cNvSpPr txBox="1"/>
          <p:nvPr/>
        </p:nvSpPr>
        <p:spPr>
          <a:xfrm>
            <a:off x="6804507" y="5074920"/>
            <a:ext cx="4472787" cy="777240"/>
          </a:xfrm>
          <a:prstGeom prst="rect">
            <a:avLst/>
          </a:prstGeom>
          <a:noFill/>
        </p:spPr>
        <p:txBody>
          <a:bodyPr wrap="square" lIns="0" rIns="0" tIns="0" bIns="0" anchor="t">
            <a:spAutoFit/>
          </a:bodyPr>
          <a:lstStyle/>
          <a:p>
            <a:pPr algn="l">
              <a:lnSpc>
                <a:spcPct val="135000"/>
              </a:lnSpc>
            </a:pPr>
            <a:r>
              <a:rPr sz="1200" b="0" i="0">
                <a:solidFill>
                  <a:srgbClr val="C9D0DC"/>
                </a:solidFill>
                <a:latin typeface="Inter"/>
              </a:rPr>
              <a:t>F1 macro &gt; accuracy quand certaines causes sont rares.</a:t>
            </a:r>
          </a:p>
        </p:txBody>
      </p:sp>
      <p:sp>
        <p:nvSpPr>
          <p:cNvPr id="29" name="TextBox 28"/>
          <p:cNvSpPr txBox="1"/>
          <p:nvPr/>
        </p:nvSpPr>
        <p:spPr>
          <a:xfrm>
            <a:off x="6530187" y="5943600"/>
            <a:ext cx="4747107" cy="365760"/>
          </a:xfrm>
          <a:prstGeom prst="rect">
            <a:avLst/>
          </a:prstGeom>
          <a:noFill/>
        </p:spPr>
        <p:txBody>
          <a:bodyPr wrap="square" lIns="0" rIns="0" tIns="0" bIns="0" anchor="t">
            <a:spAutoFit/>
          </a:bodyPr>
          <a:lstStyle/>
          <a:p>
            <a:pPr algn="l">
              <a:lnSpc>
                <a:spcPct val="110000"/>
              </a:lnSpc>
            </a:pPr>
            <a:r>
              <a:rPr sz="1600" b="1" i="0">
                <a:solidFill>
                  <a:srgbClr val="FFFFFF"/>
                </a:solidFill>
                <a:latin typeface="Space Grotesk"/>
              </a:rPr>
              <a:t>▸  Rapide en inférence</a:t>
            </a:r>
          </a:p>
        </p:txBody>
      </p:sp>
      <p:sp>
        <p:nvSpPr>
          <p:cNvPr id="30" name="TextBox 29"/>
          <p:cNvSpPr txBox="1"/>
          <p:nvPr/>
        </p:nvSpPr>
        <p:spPr>
          <a:xfrm>
            <a:off x="6804507" y="6309360"/>
            <a:ext cx="4472787" cy="777240"/>
          </a:xfrm>
          <a:prstGeom prst="rect">
            <a:avLst/>
          </a:prstGeom>
          <a:noFill/>
        </p:spPr>
        <p:txBody>
          <a:bodyPr wrap="square" lIns="0" rIns="0" tIns="0" bIns="0" anchor="t">
            <a:spAutoFit/>
          </a:bodyPr>
          <a:lstStyle/>
          <a:p>
            <a:pPr algn="l">
              <a:lnSpc>
                <a:spcPct val="135000"/>
              </a:lnSpc>
            </a:pPr>
            <a:r>
              <a:rPr sz="1200" b="0" i="0">
                <a:solidFill>
                  <a:srgbClr val="C9D0DC"/>
                </a:solidFill>
                <a:latin typeface="Inter"/>
              </a:rPr>
              <a:t>~15 ms par prédiction — compatible temps réel.</a:t>
            </a:r>
          </a:p>
        </p:txBody>
      </p:sp>
      <p:sp>
        <p:nvSpPr>
          <p:cNvPr id="31" name="TextBox 30"/>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22 / 33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ÉVALUATION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Confusion &amp; courbe ROC.</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Un modèle qui sépare bien les classes majoritaires.</a:t>
            </a:r>
          </a:p>
        </p:txBody>
      </p:sp>
      <p:sp>
        <p:nvSpPr>
          <p:cNvPr id="9" name="Rounded Rectangle 8"/>
          <p:cNvSpPr/>
          <p:nvPr/>
        </p:nvSpPr>
        <p:spPr>
          <a:xfrm>
            <a:off x="640080" y="2651760"/>
            <a:ext cx="531860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26080"/>
            <a:ext cx="4769967" cy="36576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MATRICE DE CONFUSION · RF v2</a:t>
            </a:r>
          </a:p>
        </p:txBody>
      </p:sp>
      <p:sp>
        <p:nvSpPr>
          <p:cNvPr id="11" name="Rectangle 10"/>
          <p:cNvSpPr/>
          <p:nvPr/>
        </p:nvSpPr>
        <p:spPr>
          <a:xfrm>
            <a:off x="1371600" y="35661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35661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35661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 y="35661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35661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0" y="40233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0" y="40233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40233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0" y="40233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0" y="40233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71600" y="44805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0" y="44805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86000" y="44805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44805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0" y="44805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371600" y="49377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0" y="49377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286000" y="49377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0" y="49377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0" y="49377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53949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28800" y="5394960"/>
            <a:ext cx="457200" cy="457200"/>
          </a:xfrm>
          <a:prstGeom prst="rect">
            <a:avLst/>
          </a:prstGeom>
          <a:solidFill>
            <a:srgbClr val="FF7A1A">
              <a:alpha val="2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286000" y="5394960"/>
            <a:ext cx="457200" cy="457200"/>
          </a:xfrm>
          <a:prstGeom prst="rect">
            <a:avLst/>
          </a:prstGeom>
          <a:solidFill>
            <a:srgbClr val="FF7A1A">
              <a:alpha val="1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0" y="5394960"/>
            <a:ext cx="457200" cy="457200"/>
          </a:xfrm>
          <a:prstGeom prst="rect">
            <a:avLst/>
          </a:prstGeom>
          <a:solidFill>
            <a:srgbClr val="FF7A1A">
              <a:alpha val="20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0" y="5394960"/>
            <a:ext cx="457200" cy="457200"/>
          </a:xfrm>
          <a:prstGeom prst="rect">
            <a:avLst/>
          </a:prstGeom>
          <a:solidFill>
            <a:srgbClr val="FF7A1A">
              <a:alpha val="85000"/>
            </a:srgbClr>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715000"/>
            <a:ext cx="4769967" cy="365760"/>
          </a:xfrm>
          <a:prstGeom prst="rect">
            <a:avLst/>
          </a:prstGeom>
          <a:noFill/>
        </p:spPr>
        <p:txBody>
          <a:bodyPr wrap="square" lIns="0" rIns="0" tIns="0" bIns="0" anchor="t">
            <a:spAutoFit/>
          </a:bodyPr>
          <a:lstStyle/>
          <a:p>
            <a:pPr algn="ctr">
              <a:lnSpc>
                <a:spcPct val="110000"/>
              </a:lnSpc>
            </a:pPr>
            <a:r>
              <a:rPr sz="1100" b="0" i="1">
                <a:solidFill>
                  <a:srgbClr val="7D8496"/>
                </a:solidFill>
                <a:latin typeface="Inter"/>
              </a:rPr>
              <a:t>Diagonale = prédictions correctes</a:t>
            </a:r>
          </a:p>
        </p:txBody>
      </p:sp>
      <p:sp>
        <p:nvSpPr>
          <p:cNvPr id="37" name="Rounded Rectangle 36"/>
          <p:cNvSpPr/>
          <p:nvPr/>
        </p:nvSpPr>
        <p:spPr>
          <a:xfrm>
            <a:off x="6233007" y="2651760"/>
            <a:ext cx="531860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7327" y="2926080"/>
            <a:ext cx="4769967" cy="365760"/>
          </a:xfrm>
          <a:prstGeom prst="rect">
            <a:avLst/>
          </a:prstGeom>
          <a:noFill/>
        </p:spPr>
        <p:txBody>
          <a:bodyPr wrap="square" lIns="0" rIns="0" tIns="0" bIns="0" anchor="t">
            <a:spAutoFit/>
          </a:bodyPr>
          <a:lstStyle/>
          <a:p>
            <a:pPr algn="l">
              <a:lnSpc>
                <a:spcPct val="110000"/>
              </a:lnSpc>
            </a:pPr>
            <a:r>
              <a:rPr sz="1000" b="1" i="0" spc="180">
                <a:solidFill>
                  <a:srgbClr val="4ECDC4"/>
                </a:solidFill>
                <a:latin typeface="JetBrains Mono"/>
              </a:rPr>
              <a:t>COURBE ROC · XGBoost v3</a:t>
            </a:r>
          </a:p>
        </p:txBody>
      </p:sp>
      <p:sp>
        <p:nvSpPr>
          <p:cNvPr id="39" name="Rounded Rectangle 38"/>
          <p:cNvSpPr/>
          <p:nvPr/>
        </p:nvSpPr>
        <p:spPr>
          <a:xfrm>
            <a:off x="6507327" y="3566160"/>
            <a:ext cx="1468069" cy="1280160"/>
          </a:xfrm>
          <a:prstGeom prst="roundRect">
            <a:avLst>
              <a:gd name="adj" fmla="val 6000"/>
            </a:avLst>
          </a:prstGeom>
          <a:solidFill>
            <a:srgbClr val="101A45">
              <a:alpha val="20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07327" y="3749040"/>
            <a:ext cx="1468069" cy="640080"/>
          </a:xfrm>
          <a:prstGeom prst="rect">
            <a:avLst/>
          </a:prstGeom>
          <a:noFill/>
        </p:spPr>
        <p:txBody>
          <a:bodyPr wrap="square" lIns="0" rIns="0" tIns="0" bIns="0" anchor="t">
            <a:spAutoFit/>
          </a:bodyPr>
          <a:lstStyle/>
          <a:p>
            <a:pPr algn="ctr">
              <a:lnSpc>
                <a:spcPct val="110000"/>
              </a:lnSpc>
            </a:pPr>
            <a:r>
              <a:rPr sz="3200" b="1" i="0">
                <a:solidFill>
                  <a:srgbClr val="4ECDC4"/>
                </a:solidFill>
                <a:latin typeface="Space Grotesk"/>
              </a:rPr>
              <a:t>0.86</a:t>
            </a:r>
          </a:p>
        </p:txBody>
      </p:sp>
      <p:sp>
        <p:nvSpPr>
          <p:cNvPr id="41" name="TextBox 40"/>
          <p:cNvSpPr txBox="1"/>
          <p:nvPr/>
        </p:nvSpPr>
        <p:spPr>
          <a:xfrm>
            <a:off x="6507327" y="4389120"/>
            <a:ext cx="1468069" cy="32004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Précision</a:t>
            </a:r>
          </a:p>
        </p:txBody>
      </p:sp>
      <p:sp>
        <p:nvSpPr>
          <p:cNvPr id="42" name="Rounded Rectangle 41"/>
          <p:cNvSpPr/>
          <p:nvPr/>
        </p:nvSpPr>
        <p:spPr>
          <a:xfrm>
            <a:off x="8158276" y="3566160"/>
            <a:ext cx="1468069" cy="1280160"/>
          </a:xfrm>
          <a:prstGeom prst="roundRect">
            <a:avLst>
              <a:gd name="adj" fmla="val 6000"/>
            </a:avLst>
          </a:prstGeom>
          <a:solidFill>
            <a:srgbClr val="101A45">
              <a:alpha val="20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58276" y="3749040"/>
            <a:ext cx="1468069" cy="640080"/>
          </a:xfrm>
          <a:prstGeom prst="rect">
            <a:avLst/>
          </a:prstGeom>
          <a:noFill/>
        </p:spPr>
        <p:txBody>
          <a:bodyPr wrap="square" lIns="0" rIns="0" tIns="0" bIns="0" anchor="t">
            <a:spAutoFit/>
          </a:bodyPr>
          <a:lstStyle/>
          <a:p>
            <a:pPr algn="ctr">
              <a:lnSpc>
                <a:spcPct val="110000"/>
              </a:lnSpc>
            </a:pPr>
            <a:r>
              <a:rPr sz="3200" b="1" i="0">
                <a:solidFill>
                  <a:srgbClr val="4ECDC4"/>
                </a:solidFill>
                <a:latin typeface="Space Grotesk"/>
              </a:rPr>
              <a:t>0.81</a:t>
            </a:r>
          </a:p>
        </p:txBody>
      </p:sp>
      <p:sp>
        <p:nvSpPr>
          <p:cNvPr id="44" name="TextBox 43"/>
          <p:cNvSpPr txBox="1"/>
          <p:nvPr/>
        </p:nvSpPr>
        <p:spPr>
          <a:xfrm>
            <a:off x="8158276" y="4389120"/>
            <a:ext cx="1468069" cy="32004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Rappel</a:t>
            </a:r>
          </a:p>
        </p:txBody>
      </p:sp>
      <p:sp>
        <p:nvSpPr>
          <p:cNvPr id="45" name="Rounded Rectangle 44"/>
          <p:cNvSpPr/>
          <p:nvPr/>
        </p:nvSpPr>
        <p:spPr>
          <a:xfrm>
            <a:off x="9809225" y="3566160"/>
            <a:ext cx="1468069" cy="1280160"/>
          </a:xfrm>
          <a:prstGeom prst="roundRect">
            <a:avLst>
              <a:gd name="adj" fmla="val 6000"/>
            </a:avLst>
          </a:prstGeom>
          <a:solidFill>
            <a:srgbClr val="101A45">
              <a:alpha val="20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09225" y="3749040"/>
            <a:ext cx="1468069" cy="640080"/>
          </a:xfrm>
          <a:prstGeom prst="rect">
            <a:avLst/>
          </a:prstGeom>
          <a:noFill/>
        </p:spPr>
        <p:txBody>
          <a:bodyPr wrap="square" lIns="0" rIns="0" tIns="0" bIns="0" anchor="t">
            <a:spAutoFit/>
          </a:bodyPr>
          <a:lstStyle/>
          <a:p>
            <a:pPr algn="ctr">
              <a:lnSpc>
                <a:spcPct val="110000"/>
              </a:lnSpc>
            </a:pPr>
            <a:r>
              <a:rPr sz="3200" b="1" i="0">
                <a:solidFill>
                  <a:srgbClr val="4ECDC4"/>
                </a:solidFill>
                <a:latin typeface="Space Grotesk"/>
              </a:rPr>
              <a:t>0.91</a:t>
            </a:r>
          </a:p>
        </p:txBody>
      </p:sp>
      <p:sp>
        <p:nvSpPr>
          <p:cNvPr id="47" name="TextBox 46"/>
          <p:cNvSpPr txBox="1"/>
          <p:nvPr/>
        </p:nvSpPr>
        <p:spPr>
          <a:xfrm>
            <a:off x="9809225" y="4389120"/>
            <a:ext cx="1468069" cy="320040"/>
          </a:xfrm>
          <a:prstGeom prst="rect">
            <a:avLst/>
          </a:prstGeom>
          <a:noFill/>
        </p:spPr>
        <p:txBody>
          <a:bodyPr wrap="square" lIns="0" rIns="0" tIns="0" bIns="0" anchor="t">
            <a:spAutoFit/>
          </a:bodyPr>
          <a:lstStyle/>
          <a:p>
            <a:pPr algn="ctr">
              <a:lnSpc>
                <a:spcPct val="110000"/>
              </a:lnSpc>
            </a:pPr>
            <a:r>
              <a:rPr sz="1100" b="0" i="0">
                <a:solidFill>
                  <a:srgbClr val="C9D0DC"/>
                </a:solidFill>
                <a:latin typeface="Inter"/>
              </a:rPr>
              <a:t>AUC (moyen)</a:t>
            </a:r>
          </a:p>
        </p:txBody>
      </p:sp>
      <p:sp>
        <p:nvSpPr>
          <p:cNvPr id="48" name="TextBox 47"/>
          <p:cNvSpPr txBox="1"/>
          <p:nvPr/>
        </p:nvSpPr>
        <p:spPr>
          <a:xfrm>
            <a:off x="6507327" y="5120640"/>
            <a:ext cx="4769967" cy="914400"/>
          </a:xfrm>
          <a:prstGeom prst="rect">
            <a:avLst/>
          </a:prstGeom>
          <a:noFill/>
        </p:spPr>
        <p:txBody>
          <a:bodyPr wrap="square" lIns="0" rIns="0" tIns="0" bIns="0" anchor="t">
            <a:spAutoFit/>
          </a:bodyPr>
          <a:lstStyle/>
          <a:p>
            <a:pPr algn="l">
              <a:lnSpc>
                <a:spcPct val="140000"/>
              </a:lnSpc>
            </a:pPr>
            <a:r>
              <a:rPr sz="1300" b="0" i="0">
                <a:solidFill>
                  <a:srgbClr val="F4F6FB"/>
                </a:solidFill>
                <a:latin typeface="Inter"/>
              </a:rPr>
              <a:t>Seuil de décision fixé à 0.80 : au-dessus, création automatique d'une maintenance prédictive côté backend.</a:t>
            </a:r>
          </a:p>
        </p:txBody>
      </p:sp>
      <p:sp>
        <p:nvSpPr>
          <p:cNvPr id="49" name="TextBox 4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23 /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WEB — RESPONSABLE MAINTENANCE</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Fonctionnalités web.</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Application React.js pour la supervision.</a:t>
            </a:r>
          </a:p>
        </p:txBody>
      </p:sp>
      <p:sp>
        <p:nvSpPr>
          <p:cNvPr id="9" name="Rounded Rectangle 8"/>
          <p:cNvSpPr/>
          <p:nvPr/>
        </p:nvSpPr>
        <p:spPr>
          <a:xfrm>
            <a:off x="640080" y="265176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01</a:t>
            </a:r>
          </a:p>
        </p:txBody>
      </p:sp>
      <p:sp>
        <p:nvSpPr>
          <p:cNvPr id="11" name="TextBox 10"/>
          <p:cNvSpPr txBox="1"/>
          <p:nvPr/>
        </p:nvSpPr>
        <p:spPr>
          <a:xfrm>
            <a:off x="1463040" y="274320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Authentification JWT</a:t>
            </a:r>
          </a:p>
        </p:txBody>
      </p:sp>
      <p:sp>
        <p:nvSpPr>
          <p:cNvPr id="12" name="TextBox 11"/>
          <p:cNvSpPr txBox="1"/>
          <p:nvPr/>
        </p:nvSpPr>
        <p:spPr>
          <a:xfrm>
            <a:off x="1463040" y="315468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Rôles Responsable · Chef de ligne · Technicien</a:t>
            </a:r>
          </a:p>
        </p:txBody>
      </p:sp>
      <p:sp>
        <p:nvSpPr>
          <p:cNvPr id="13" name="Rounded Rectangle 12"/>
          <p:cNvSpPr/>
          <p:nvPr/>
        </p:nvSpPr>
        <p:spPr>
          <a:xfrm>
            <a:off x="6187287" y="265176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78892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02</a:t>
            </a:r>
          </a:p>
        </p:txBody>
      </p:sp>
      <p:sp>
        <p:nvSpPr>
          <p:cNvPr id="15" name="TextBox 14"/>
          <p:cNvSpPr txBox="1"/>
          <p:nvPr/>
        </p:nvSpPr>
        <p:spPr>
          <a:xfrm>
            <a:off x="7010247" y="274320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Tableau de bord</a:t>
            </a:r>
          </a:p>
        </p:txBody>
      </p:sp>
      <p:sp>
        <p:nvSpPr>
          <p:cNvPr id="16" name="TextBox 15"/>
          <p:cNvSpPr txBox="1"/>
          <p:nvPr/>
        </p:nvSpPr>
        <p:spPr>
          <a:xfrm>
            <a:off x="7010247" y="315468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KPI MTBF · MTTR · disponibilité machine</a:t>
            </a:r>
          </a:p>
        </p:txBody>
      </p:sp>
      <p:sp>
        <p:nvSpPr>
          <p:cNvPr id="17" name="Rounded Rectangle 16"/>
          <p:cNvSpPr/>
          <p:nvPr/>
        </p:nvSpPr>
        <p:spPr>
          <a:xfrm>
            <a:off x="640080" y="390144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3860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03</a:t>
            </a:r>
          </a:p>
        </p:txBody>
      </p:sp>
      <p:sp>
        <p:nvSpPr>
          <p:cNvPr id="19" name="TextBox 18"/>
          <p:cNvSpPr txBox="1"/>
          <p:nvPr/>
        </p:nvSpPr>
        <p:spPr>
          <a:xfrm>
            <a:off x="1463040" y="399288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Gestion des machines</a:t>
            </a:r>
          </a:p>
        </p:txBody>
      </p:sp>
      <p:sp>
        <p:nvSpPr>
          <p:cNvPr id="20" name="TextBox 19"/>
          <p:cNvSpPr txBox="1"/>
          <p:nvPr/>
        </p:nvSpPr>
        <p:spPr>
          <a:xfrm>
            <a:off x="1463040" y="440436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Fiche technique · historique · état courant</a:t>
            </a:r>
          </a:p>
        </p:txBody>
      </p:sp>
      <p:sp>
        <p:nvSpPr>
          <p:cNvPr id="21" name="Rounded Rectangle 20"/>
          <p:cNvSpPr/>
          <p:nvPr/>
        </p:nvSpPr>
        <p:spPr>
          <a:xfrm>
            <a:off x="6187287" y="390144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1607" y="403860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04</a:t>
            </a:r>
          </a:p>
        </p:txBody>
      </p:sp>
      <p:sp>
        <p:nvSpPr>
          <p:cNvPr id="23" name="TextBox 22"/>
          <p:cNvSpPr txBox="1"/>
          <p:nvPr/>
        </p:nvSpPr>
        <p:spPr>
          <a:xfrm>
            <a:off x="7010247" y="399288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Interventions</a:t>
            </a:r>
          </a:p>
        </p:txBody>
      </p:sp>
      <p:sp>
        <p:nvSpPr>
          <p:cNvPr id="24" name="TextBox 23"/>
          <p:cNvSpPr txBox="1"/>
          <p:nvPr/>
        </p:nvSpPr>
        <p:spPr>
          <a:xfrm>
            <a:off x="7010247" y="440436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Création · suivi · badge de score IA</a:t>
            </a:r>
          </a:p>
        </p:txBody>
      </p:sp>
      <p:sp>
        <p:nvSpPr>
          <p:cNvPr id="25" name="Rounded Rectangle 24"/>
          <p:cNvSpPr/>
          <p:nvPr/>
        </p:nvSpPr>
        <p:spPr>
          <a:xfrm>
            <a:off x="640080" y="515112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28828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05</a:t>
            </a:r>
          </a:p>
        </p:txBody>
      </p:sp>
      <p:sp>
        <p:nvSpPr>
          <p:cNvPr id="27" name="TextBox 26"/>
          <p:cNvSpPr txBox="1"/>
          <p:nvPr/>
        </p:nvSpPr>
        <p:spPr>
          <a:xfrm>
            <a:off x="1463040" y="524256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Planning et alertes</a:t>
            </a:r>
          </a:p>
        </p:txBody>
      </p:sp>
      <p:sp>
        <p:nvSpPr>
          <p:cNvPr id="28" name="TextBox 27"/>
          <p:cNvSpPr txBox="1"/>
          <p:nvPr/>
        </p:nvSpPr>
        <p:spPr>
          <a:xfrm>
            <a:off x="1463040" y="565404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Calendrier maintenance · notifications</a:t>
            </a:r>
          </a:p>
        </p:txBody>
      </p:sp>
      <p:sp>
        <p:nvSpPr>
          <p:cNvPr id="29" name="Rounded Rectangle 28"/>
          <p:cNvSpPr/>
          <p:nvPr/>
        </p:nvSpPr>
        <p:spPr>
          <a:xfrm>
            <a:off x="6187287" y="5151120"/>
            <a:ext cx="5364327" cy="106680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5288280"/>
            <a:ext cx="457200" cy="365760"/>
          </a:xfrm>
          <a:prstGeom prst="rect">
            <a:avLst/>
          </a:prstGeom>
          <a:noFill/>
        </p:spPr>
        <p:txBody>
          <a:bodyPr wrap="square" lIns="0" rIns="0" tIns="0" bIns="0" anchor="t">
            <a:spAutoFit/>
          </a:bodyPr>
          <a:lstStyle/>
          <a:p>
            <a:pPr algn="l">
              <a:lnSpc>
                <a:spcPct val="110000"/>
              </a:lnSpc>
            </a:pPr>
            <a:r>
              <a:rPr sz="1100" b="1" i="0" spc="150">
                <a:solidFill>
                  <a:srgbClr val="FF9548"/>
                </a:solidFill>
                <a:latin typeface="JetBrains Mono"/>
              </a:rPr>
              <a:t>06</a:t>
            </a:r>
          </a:p>
        </p:txBody>
      </p:sp>
      <p:sp>
        <p:nvSpPr>
          <p:cNvPr id="31" name="TextBox 30"/>
          <p:cNvSpPr txBox="1"/>
          <p:nvPr/>
        </p:nvSpPr>
        <p:spPr>
          <a:xfrm>
            <a:off x="7010247" y="5242560"/>
            <a:ext cx="4267047" cy="457200"/>
          </a:xfrm>
          <a:prstGeom prst="rect">
            <a:avLst/>
          </a:prstGeom>
          <a:noFill/>
        </p:spPr>
        <p:txBody>
          <a:bodyPr wrap="square" lIns="0" rIns="0" tIns="0" bIns="0" anchor="t">
            <a:spAutoFit/>
          </a:bodyPr>
          <a:lstStyle/>
          <a:p>
            <a:pPr algn="l">
              <a:lnSpc>
                <a:spcPct val="110000"/>
              </a:lnSpc>
            </a:pPr>
            <a:r>
              <a:rPr sz="1500" b="1" i="0">
                <a:solidFill>
                  <a:srgbClr val="FFFFFF"/>
                </a:solidFill>
                <a:latin typeface="Space Grotesk"/>
              </a:rPr>
              <a:t>Analyse de fiabilité</a:t>
            </a:r>
          </a:p>
        </p:txBody>
      </p:sp>
      <p:sp>
        <p:nvSpPr>
          <p:cNvPr id="32" name="TextBox 31"/>
          <p:cNvSpPr txBox="1"/>
          <p:nvPr/>
        </p:nvSpPr>
        <p:spPr>
          <a:xfrm>
            <a:off x="7010247" y="5654040"/>
            <a:ext cx="4267047" cy="42672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Génération de rapport PDF exportable</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24 / 33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WEB — INTERFACES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Tableau de bord.</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Pilotage complet pour le responsable maintenance.</a:t>
            </a:r>
          </a:p>
        </p:txBody>
      </p:sp>
      <p:sp>
        <p:nvSpPr>
          <p:cNvPr id="9" name="Rounded Rectangle 8"/>
          <p:cNvSpPr/>
          <p:nvPr/>
        </p:nvSpPr>
        <p:spPr>
          <a:xfrm>
            <a:off x="640080" y="2606040"/>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834640"/>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34640"/>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12" name="TextBox 11"/>
          <p:cNvSpPr txBox="1"/>
          <p:nvPr/>
        </p:nvSpPr>
        <p:spPr>
          <a:xfrm>
            <a:off x="914400" y="3739896"/>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Dashboard</a:t>
            </a:r>
          </a:p>
        </p:txBody>
      </p:sp>
      <p:sp>
        <p:nvSpPr>
          <p:cNvPr id="13" name="TextBox 12"/>
          <p:cNvSpPr txBox="1"/>
          <p:nvPr/>
        </p:nvSpPr>
        <p:spPr>
          <a:xfrm>
            <a:off x="914400" y="4005072"/>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MTBF · MTTR · pannes</a:t>
            </a:r>
          </a:p>
        </p:txBody>
      </p:sp>
      <p:sp>
        <p:nvSpPr>
          <p:cNvPr id="14" name="Rounded Rectangle 13"/>
          <p:cNvSpPr/>
          <p:nvPr/>
        </p:nvSpPr>
        <p:spPr>
          <a:xfrm>
            <a:off x="4332122" y="2606040"/>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5002" y="2834640"/>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5002" y="2834640"/>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17" name="TextBox 16"/>
          <p:cNvSpPr txBox="1"/>
          <p:nvPr/>
        </p:nvSpPr>
        <p:spPr>
          <a:xfrm>
            <a:off x="4606442" y="3739896"/>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Équipements</a:t>
            </a:r>
          </a:p>
        </p:txBody>
      </p:sp>
      <p:sp>
        <p:nvSpPr>
          <p:cNvPr id="18" name="TextBox 17"/>
          <p:cNvSpPr txBox="1"/>
          <p:nvPr/>
        </p:nvSpPr>
        <p:spPr>
          <a:xfrm>
            <a:off x="4606442" y="4005072"/>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Fiches machines</a:t>
            </a:r>
          </a:p>
        </p:txBody>
      </p:sp>
      <p:sp>
        <p:nvSpPr>
          <p:cNvPr id="19" name="Rounded Rectangle 18"/>
          <p:cNvSpPr/>
          <p:nvPr/>
        </p:nvSpPr>
        <p:spPr>
          <a:xfrm>
            <a:off x="8024164" y="2606040"/>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7044" y="2834640"/>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7044" y="2834640"/>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22" name="TextBox 21"/>
          <p:cNvSpPr txBox="1"/>
          <p:nvPr/>
        </p:nvSpPr>
        <p:spPr>
          <a:xfrm>
            <a:off x="8298484" y="3739896"/>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Interventions</a:t>
            </a:r>
          </a:p>
        </p:txBody>
      </p:sp>
      <p:sp>
        <p:nvSpPr>
          <p:cNvPr id="23" name="TextBox 22"/>
          <p:cNvSpPr txBox="1"/>
          <p:nvPr/>
        </p:nvSpPr>
        <p:spPr>
          <a:xfrm>
            <a:off x="8298484" y="4005072"/>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Score IA affiché</a:t>
            </a:r>
          </a:p>
        </p:txBody>
      </p:sp>
      <p:sp>
        <p:nvSpPr>
          <p:cNvPr id="24" name="Rounded Rectangle 23"/>
          <p:cNvSpPr/>
          <p:nvPr/>
        </p:nvSpPr>
        <p:spPr>
          <a:xfrm>
            <a:off x="640080" y="4471416"/>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4700016"/>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700016"/>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27" name="TextBox 26"/>
          <p:cNvSpPr txBox="1"/>
          <p:nvPr/>
        </p:nvSpPr>
        <p:spPr>
          <a:xfrm>
            <a:off x="914400" y="5605272"/>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Diagnostic IA</a:t>
            </a:r>
          </a:p>
        </p:txBody>
      </p:sp>
      <p:sp>
        <p:nvSpPr>
          <p:cNvPr id="28" name="TextBox 27"/>
          <p:cNvSpPr txBox="1"/>
          <p:nvPr/>
        </p:nvSpPr>
        <p:spPr>
          <a:xfrm>
            <a:off x="914400" y="5870448"/>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Cause instantanée</a:t>
            </a:r>
          </a:p>
        </p:txBody>
      </p:sp>
      <p:sp>
        <p:nvSpPr>
          <p:cNvPr id="29" name="Rounded Rectangle 28"/>
          <p:cNvSpPr/>
          <p:nvPr/>
        </p:nvSpPr>
        <p:spPr>
          <a:xfrm>
            <a:off x="4332122" y="4471416"/>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15002" y="4700016"/>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15002" y="4700016"/>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32" name="TextBox 31"/>
          <p:cNvSpPr txBox="1"/>
          <p:nvPr/>
        </p:nvSpPr>
        <p:spPr>
          <a:xfrm>
            <a:off x="4606442" y="5605272"/>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Alertes</a:t>
            </a:r>
          </a:p>
        </p:txBody>
      </p:sp>
      <p:sp>
        <p:nvSpPr>
          <p:cNvPr id="33" name="TextBox 32"/>
          <p:cNvSpPr txBox="1"/>
          <p:nvPr/>
        </p:nvSpPr>
        <p:spPr>
          <a:xfrm>
            <a:off x="4606442" y="5870448"/>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Temps réel</a:t>
            </a:r>
          </a:p>
        </p:txBody>
      </p:sp>
      <p:sp>
        <p:nvSpPr>
          <p:cNvPr id="34" name="Rounded Rectangle 33"/>
          <p:cNvSpPr/>
          <p:nvPr/>
        </p:nvSpPr>
        <p:spPr>
          <a:xfrm>
            <a:off x="8024164" y="4471416"/>
            <a:ext cx="3527450" cy="170078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07044" y="4700016"/>
            <a:ext cx="3161690" cy="877824"/>
          </a:xfrm>
          <a:prstGeom prst="rect">
            <a:avLst/>
          </a:prstGeom>
          <a:solidFill>
            <a:srgbClr val="0A1230"/>
          </a:solidFill>
          <a:ln w="6350">
            <a:solidFill>
              <a:srgbClr val="1825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07044" y="4700016"/>
            <a:ext cx="3161690" cy="877824"/>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web ]</a:t>
            </a:r>
          </a:p>
        </p:txBody>
      </p:sp>
      <p:sp>
        <p:nvSpPr>
          <p:cNvPr id="37" name="TextBox 36"/>
          <p:cNvSpPr txBox="1"/>
          <p:nvPr/>
        </p:nvSpPr>
        <p:spPr>
          <a:xfrm>
            <a:off x="8298484" y="5605272"/>
            <a:ext cx="2978810" cy="274320"/>
          </a:xfrm>
          <a:prstGeom prst="rect">
            <a:avLst/>
          </a:prstGeom>
          <a:noFill/>
        </p:spPr>
        <p:txBody>
          <a:bodyPr wrap="square" lIns="0" rIns="0" tIns="0" bIns="0" anchor="t">
            <a:spAutoFit/>
          </a:bodyPr>
          <a:lstStyle/>
          <a:p>
            <a:pPr algn="l">
              <a:lnSpc>
                <a:spcPct val="110000"/>
              </a:lnSpc>
            </a:pPr>
            <a:r>
              <a:rPr sz="1300" b="1" i="0">
                <a:solidFill>
                  <a:srgbClr val="FFFFFF"/>
                </a:solidFill>
                <a:latin typeface="Space Grotesk"/>
              </a:rPr>
              <a:t>Fiabilité</a:t>
            </a:r>
          </a:p>
        </p:txBody>
      </p:sp>
      <p:sp>
        <p:nvSpPr>
          <p:cNvPr id="38" name="TextBox 37"/>
          <p:cNvSpPr txBox="1"/>
          <p:nvPr/>
        </p:nvSpPr>
        <p:spPr>
          <a:xfrm>
            <a:off x="8298484" y="5870448"/>
            <a:ext cx="2978810" cy="256032"/>
          </a:xfrm>
          <a:prstGeom prst="rect">
            <a:avLst/>
          </a:prstGeom>
          <a:noFill/>
        </p:spPr>
        <p:txBody>
          <a:bodyPr wrap="square" lIns="0" rIns="0" tIns="0" bIns="0" anchor="t">
            <a:spAutoFit/>
          </a:bodyPr>
          <a:lstStyle/>
          <a:p>
            <a:pPr algn="l">
              <a:lnSpc>
                <a:spcPct val="110000"/>
              </a:lnSpc>
            </a:pPr>
            <a:r>
              <a:rPr sz="1000" b="0" i="0">
                <a:solidFill>
                  <a:srgbClr val="7D8496"/>
                </a:solidFill>
                <a:latin typeface="Inter"/>
              </a:rPr>
              <a:t>Rapport PDF</a:t>
            </a:r>
          </a:p>
        </p:txBody>
      </p:sp>
      <p:sp>
        <p:nvSpPr>
          <p:cNvPr id="39" name="TextBox 38"/>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komax-gmao.render.com</a:t>
            </a:r>
          </a:p>
        </p:txBody>
      </p:sp>
      <p:sp>
        <p:nvSpPr>
          <p:cNvPr id="40" name="TextBox 39"/>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25 /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MOBILE — TECHNICIEN TERRAIN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Fonctionnalités mobile.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Application Flutter pour les techniciens terrain.</a:t>
            </a:r>
          </a:p>
        </p:txBody>
      </p:sp>
      <p:sp>
        <p:nvSpPr>
          <p:cNvPr id="9" name="Rounded Rectangle 8"/>
          <p:cNvSpPr/>
          <p:nvPr/>
        </p:nvSpPr>
        <p:spPr>
          <a:xfrm>
            <a:off x="640080" y="2606040"/>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33141"/>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01</a:t>
            </a:r>
          </a:p>
        </p:txBody>
      </p:sp>
      <p:sp>
        <p:nvSpPr>
          <p:cNvPr id="11" name="TextBox 10"/>
          <p:cNvSpPr txBox="1"/>
          <p:nvPr/>
        </p:nvSpPr>
        <p:spPr>
          <a:xfrm>
            <a:off x="1508760" y="2606040"/>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Connexion sécurisée</a:t>
            </a:r>
          </a:p>
        </p:txBody>
      </p:sp>
      <p:sp>
        <p:nvSpPr>
          <p:cNvPr id="12" name="TextBox 11"/>
          <p:cNvSpPr txBox="1"/>
          <p:nvPr/>
        </p:nvSpPr>
        <p:spPr>
          <a:xfrm>
            <a:off x="4480560" y="2606040"/>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JWT · rôles Technicien et Chef de ligne</a:t>
            </a:r>
          </a:p>
        </p:txBody>
      </p:sp>
      <p:sp>
        <p:nvSpPr>
          <p:cNvPr id="13" name="Rounded Rectangle 12"/>
          <p:cNvSpPr/>
          <p:nvPr/>
        </p:nvSpPr>
        <p:spPr>
          <a:xfrm>
            <a:off x="640080" y="3354019"/>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81120"/>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02</a:t>
            </a:r>
          </a:p>
        </p:txBody>
      </p:sp>
      <p:sp>
        <p:nvSpPr>
          <p:cNvPr id="15" name="TextBox 14"/>
          <p:cNvSpPr txBox="1"/>
          <p:nvPr/>
        </p:nvSpPr>
        <p:spPr>
          <a:xfrm>
            <a:off x="1508760" y="3354019"/>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Tableau de bord</a:t>
            </a:r>
          </a:p>
        </p:txBody>
      </p:sp>
      <p:sp>
        <p:nvSpPr>
          <p:cNvPr id="16" name="TextBox 15"/>
          <p:cNvSpPr txBox="1"/>
          <p:nvPr/>
        </p:nvSpPr>
        <p:spPr>
          <a:xfrm>
            <a:off x="4480560" y="3354019"/>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Machines assignées · alertes récentes</a:t>
            </a:r>
          </a:p>
        </p:txBody>
      </p:sp>
      <p:sp>
        <p:nvSpPr>
          <p:cNvPr id="17" name="Rounded Rectangle 16"/>
          <p:cNvSpPr/>
          <p:nvPr/>
        </p:nvSpPr>
        <p:spPr>
          <a:xfrm>
            <a:off x="640080" y="4101998"/>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29100"/>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03</a:t>
            </a:r>
          </a:p>
        </p:txBody>
      </p:sp>
      <p:sp>
        <p:nvSpPr>
          <p:cNvPr id="19" name="TextBox 18"/>
          <p:cNvSpPr txBox="1"/>
          <p:nvPr/>
        </p:nvSpPr>
        <p:spPr>
          <a:xfrm>
            <a:off x="1508760" y="4101998"/>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Interventions terrain</a:t>
            </a:r>
          </a:p>
        </p:txBody>
      </p:sp>
      <p:sp>
        <p:nvSpPr>
          <p:cNvPr id="20" name="TextBox 19"/>
          <p:cNvSpPr txBox="1"/>
          <p:nvPr/>
        </p:nvSpPr>
        <p:spPr>
          <a:xfrm>
            <a:off x="4480560" y="4101998"/>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Créer · consulter · photo avant / après</a:t>
            </a:r>
          </a:p>
        </p:txBody>
      </p:sp>
      <p:sp>
        <p:nvSpPr>
          <p:cNvPr id="21" name="Rounded Rectangle 20"/>
          <p:cNvSpPr/>
          <p:nvPr/>
        </p:nvSpPr>
        <p:spPr>
          <a:xfrm>
            <a:off x="640080" y="4849977"/>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977079"/>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04</a:t>
            </a:r>
          </a:p>
        </p:txBody>
      </p:sp>
      <p:sp>
        <p:nvSpPr>
          <p:cNvPr id="23" name="TextBox 22"/>
          <p:cNvSpPr txBox="1"/>
          <p:nvPr/>
        </p:nvSpPr>
        <p:spPr>
          <a:xfrm>
            <a:off x="1508760" y="4849977"/>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Checklist journalière</a:t>
            </a:r>
          </a:p>
        </p:txBody>
      </p:sp>
      <p:sp>
        <p:nvSpPr>
          <p:cNvPr id="24" name="TextBox 23"/>
          <p:cNvSpPr txBox="1"/>
          <p:nvPr/>
        </p:nvSpPr>
        <p:spPr>
          <a:xfrm>
            <a:off x="4480560" y="4849977"/>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Contrôle quotidien · photo OK / NOK</a:t>
            </a:r>
          </a:p>
        </p:txBody>
      </p:sp>
      <p:sp>
        <p:nvSpPr>
          <p:cNvPr id="25" name="Rounded Rectangle 24"/>
          <p:cNvSpPr/>
          <p:nvPr/>
        </p:nvSpPr>
        <p:spPr>
          <a:xfrm>
            <a:off x="640080" y="5597956"/>
            <a:ext cx="7315200" cy="619963"/>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5725058"/>
            <a:ext cx="548640" cy="365760"/>
          </a:xfrm>
          <a:prstGeom prst="rect">
            <a:avLst/>
          </a:prstGeom>
          <a:noFill/>
        </p:spPr>
        <p:txBody>
          <a:bodyPr wrap="square" lIns="0" rIns="0" tIns="0" bIns="0" anchor="ctr">
            <a:spAutoFit/>
          </a:bodyPr>
          <a:lstStyle/>
          <a:p>
            <a:pPr algn="l">
              <a:lnSpc>
                <a:spcPct val="110000"/>
              </a:lnSpc>
            </a:pPr>
            <a:r>
              <a:rPr sz="2000" b="1" i="0">
                <a:solidFill>
                  <a:srgbClr val="FF9548"/>
                </a:solidFill>
                <a:latin typeface="Space Grotesk"/>
              </a:rPr>
              <a:t>05</a:t>
            </a:r>
          </a:p>
        </p:txBody>
      </p:sp>
      <p:sp>
        <p:nvSpPr>
          <p:cNvPr id="27" name="TextBox 26"/>
          <p:cNvSpPr txBox="1"/>
          <p:nvPr/>
        </p:nvSpPr>
        <p:spPr>
          <a:xfrm>
            <a:off x="1508760" y="5597956"/>
            <a:ext cx="2926080" cy="619963"/>
          </a:xfrm>
          <a:prstGeom prst="rect">
            <a:avLst/>
          </a:prstGeom>
          <a:noFill/>
        </p:spPr>
        <p:txBody>
          <a:bodyPr wrap="square" lIns="0" rIns="0" tIns="0" bIns="0" anchor="ctr">
            <a:spAutoFit/>
          </a:bodyPr>
          <a:lstStyle/>
          <a:p>
            <a:pPr algn="l">
              <a:lnSpc>
                <a:spcPct val="110000"/>
              </a:lnSpc>
            </a:pPr>
            <a:r>
              <a:rPr sz="1400" b="1" i="0">
                <a:solidFill>
                  <a:srgbClr val="FFFFFF"/>
                </a:solidFill>
                <a:latin typeface="Space Grotesk"/>
              </a:rPr>
              <a:t>Notifications push</a:t>
            </a:r>
          </a:p>
        </p:txBody>
      </p:sp>
      <p:sp>
        <p:nvSpPr>
          <p:cNvPr id="28" name="TextBox 27"/>
          <p:cNvSpPr txBox="1"/>
          <p:nvPr/>
        </p:nvSpPr>
        <p:spPr>
          <a:xfrm>
            <a:off x="4480560" y="5597956"/>
            <a:ext cx="3291840" cy="619963"/>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Firebase · alertes IA temps réel</a:t>
            </a:r>
          </a:p>
        </p:txBody>
      </p:sp>
      <p:sp>
        <p:nvSpPr>
          <p:cNvPr id="29" name="Rounded Rectangle 28"/>
          <p:cNvSpPr/>
          <p:nvPr/>
        </p:nvSpPr>
        <p:spPr>
          <a:xfrm>
            <a:off x="8229600" y="2606040"/>
            <a:ext cx="3322015" cy="36118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95360" y="3246120"/>
            <a:ext cx="2590495" cy="2331720"/>
          </a:xfrm>
          <a:prstGeom prst="roundRect">
            <a:avLst>
              <a:gd name="adj" fmla="val 12000"/>
            </a:avLst>
          </a:prstGeom>
          <a:solidFill>
            <a:srgbClr val="0A1230"/>
          </a:solidFill>
          <a:ln w="1905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3246120"/>
            <a:ext cx="2590495" cy="2331720"/>
          </a:xfrm>
          <a:prstGeom prst="rect">
            <a:avLst/>
          </a:prstGeom>
          <a:noFill/>
        </p:spPr>
        <p:txBody>
          <a:bodyPr wrap="square" lIns="0" rIns="0" tIns="0" bIns="0" anchor="ctr">
            <a:spAutoFit/>
          </a:bodyPr>
          <a:lstStyle/>
          <a:p>
            <a:pPr algn="ctr">
              <a:lnSpc>
                <a:spcPct val="110000"/>
              </a:lnSpc>
            </a:pPr>
            <a:r>
              <a:rPr sz="1200" b="0" i="0">
                <a:solidFill>
                  <a:srgbClr val="4ECDC4"/>
                </a:solidFill>
                <a:latin typeface="JetBrains Mono"/>
              </a:rPr>
              <a:t>[ Flutter ]</a:t>
            </a:r>
          </a:p>
        </p:txBody>
      </p:sp>
      <p:sp>
        <p:nvSpPr>
          <p:cNvPr id="32" name="TextBox 31"/>
          <p:cNvSpPr txBox="1"/>
          <p:nvPr/>
        </p:nvSpPr>
        <p:spPr>
          <a:xfrm>
            <a:off x="8229600" y="5760720"/>
            <a:ext cx="3322015" cy="320040"/>
          </a:xfrm>
          <a:prstGeom prst="rect">
            <a:avLst/>
          </a:prstGeom>
          <a:noFill/>
        </p:spPr>
        <p:txBody>
          <a:bodyPr wrap="square" lIns="0" rIns="0" tIns="0" bIns="0" anchor="t">
            <a:spAutoFit/>
          </a:bodyPr>
          <a:lstStyle/>
          <a:p>
            <a:pPr algn="ctr">
              <a:lnSpc>
                <a:spcPct val="110000"/>
              </a:lnSpc>
            </a:pPr>
            <a:r>
              <a:rPr sz="1000" b="1" i="0" spc="180">
                <a:solidFill>
                  <a:srgbClr val="4ECDC4"/>
                </a:solidFill>
                <a:latin typeface="JetBrains Mono"/>
              </a:rPr>
              <a:t>FLUTTER · ANDROID</a:t>
            </a:r>
          </a:p>
        </p:txBody>
      </p:sp>
      <p:sp>
        <p:nvSpPr>
          <p:cNvPr id="33" name="TextBox 32"/>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26 / 33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APPLICATION MOBILE — INTERFACES</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Terrain, dans la poche.</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Le technicien reçoit une alerte en 60 secondes.</a:t>
            </a:r>
          </a:p>
        </p:txBody>
      </p:sp>
      <p:sp>
        <p:nvSpPr>
          <p:cNvPr id="9" name="Rounded Rectangle 8"/>
          <p:cNvSpPr/>
          <p:nvPr/>
        </p:nvSpPr>
        <p:spPr>
          <a:xfrm>
            <a:off x="640080"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12" name="TextBox 11"/>
          <p:cNvSpPr txBox="1"/>
          <p:nvPr/>
        </p:nvSpPr>
        <p:spPr>
          <a:xfrm>
            <a:off x="640080"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Tableau de bord</a:t>
            </a:r>
          </a:p>
        </p:txBody>
      </p:sp>
      <p:sp>
        <p:nvSpPr>
          <p:cNvPr id="13" name="TextBox 12"/>
          <p:cNvSpPr txBox="1"/>
          <p:nvPr/>
        </p:nvSpPr>
        <p:spPr>
          <a:xfrm>
            <a:off x="640080"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Vue synthétique</a:t>
            </a:r>
          </a:p>
        </p:txBody>
      </p:sp>
      <p:sp>
        <p:nvSpPr>
          <p:cNvPr id="14" name="Rounded Rectangle 13"/>
          <p:cNvSpPr/>
          <p:nvPr/>
        </p:nvSpPr>
        <p:spPr>
          <a:xfrm>
            <a:off x="3425113"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99433"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9433"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17" name="TextBox 16"/>
          <p:cNvSpPr txBox="1"/>
          <p:nvPr/>
        </p:nvSpPr>
        <p:spPr>
          <a:xfrm>
            <a:off x="3425113"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Interventions</a:t>
            </a:r>
          </a:p>
        </p:txBody>
      </p:sp>
      <p:sp>
        <p:nvSpPr>
          <p:cNvPr id="18" name="TextBox 17"/>
          <p:cNvSpPr txBox="1"/>
          <p:nvPr/>
        </p:nvSpPr>
        <p:spPr>
          <a:xfrm>
            <a:off x="3425113"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Créer / consulter</a:t>
            </a:r>
          </a:p>
        </p:txBody>
      </p:sp>
      <p:sp>
        <p:nvSpPr>
          <p:cNvPr id="19" name="Rounded Rectangle 18"/>
          <p:cNvSpPr/>
          <p:nvPr/>
        </p:nvSpPr>
        <p:spPr>
          <a:xfrm>
            <a:off x="6210147"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84467"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4467"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22" name="TextBox 21"/>
          <p:cNvSpPr txBox="1"/>
          <p:nvPr/>
        </p:nvSpPr>
        <p:spPr>
          <a:xfrm>
            <a:off x="6210147"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Alertes push</a:t>
            </a:r>
          </a:p>
        </p:txBody>
      </p:sp>
      <p:sp>
        <p:nvSpPr>
          <p:cNvPr id="23" name="TextBox 22"/>
          <p:cNvSpPr txBox="1"/>
          <p:nvPr/>
        </p:nvSpPr>
        <p:spPr>
          <a:xfrm>
            <a:off x="6210147"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Temps réel</a:t>
            </a:r>
          </a:p>
        </p:txBody>
      </p:sp>
      <p:sp>
        <p:nvSpPr>
          <p:cNvPr id="24" name="Rounded Rectangle 23"/>
          <p:cNvSpPr/>
          <p:nvPr/>
        </p:nvSpPr>
        <p:spPr>
          <a:xfrm>
            <a:off x="8995181" y="2651760"/>
            <a:ext cx="2556433" cy="338328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69501" y="3017520"/>
            <a:ext cx="2007793" cy="2286000"/>
          </a:xfrm>
          <a:prstGeom prst="roundRect">
            <a:avLst>
              <a:gd name="adj" fmla="val 10000"/>
            </a:avLst>
          </a:prstGeom>
          <a:solidFill>
            <a:srgbClr val="050B1E"/>
          </a:solidFill>
          <a:ln w="12700">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69501" y="3017520"/>
            <a:ext cx="2007793" cy="2286000"/>
          </a:xfrm>
          <a:prstGeom prst="rect">
            <a:avLst/>
          </a:prstGeom>
          <a:noFill/>
        </p:spPr>
        <p:txBody>
          <a:bodyPr wrap="square" lIns="0" rIns="0" tIns="0" bIns="0" anchor="ctr">
            <a:spAutoFit/>
          </a:bodyPr>
          <a:lstStyle/>
          <a:p>
            <a:pPr algn="ctr">
              <a:lnSpc>
                <a:spcPct val="110000"/>
              </a:lnSpc>
            </a:pPr>
            <a:r>
              <a:rPr sz="1000" b="0" i="0">
                <a:solidFill>
                  <a:srgbClr val="3A3F4C"/>
                </a:solidFill>
                <a:latin typeface="JetBrains Mono"/>
              </a:rPr>
              <a:t>[ capture ]</a:t>
            </a:r>
          </a:p>
        </p:txBody>
      </p:sp>
      <p:sp>
        <p:nvSpPr>
          <p:cNvPr id="27" name="TextBox 26"/>
          <p:cNvSpPr txBox="1"/>
          <p:nvPr/>
        </p:nvSpPr>
        <p:spPr>
          <a:xfrm>
            <a:off x="8995181" y="5376672"/>
            <a:ext cx="2556433" cy="320040"/>
          </a:xfrm>
          <a:prstGeom prst="rect">
            <a:avLst/>
          </a:prstGeom>
          <a:noFill/>
        </p:spPr>
        <p:txBody>
          <a:bodyPr wrap="square" lIns="0" rIns="0" tIns="0" bIns="0" anchor="t">
            <a:spAutoFit/>
          </a:bodyPr>
          <a:lstStyle/>
          <a:p>
            <a:pPr algn="ctr">
              <a:lnSpc>
                <a:spcPct val="110000"/>
              </a:lnSpc>
            </a:pPr>
            <a:r>
              <a:rPr sz="1300" b="1" i="0">
                <a:solidFill>
                  <a:srgbClr val="FFFFFF"/>
                </a:solidFill>
                <a:latin typeface="Space Grotesk"/>
              </a:rPr>
              <a:t>Checklists</a:t>
            </a:r>
          </a:p>
        </p:txBody>
      </p:sp>
      <p:sp>
        <p:nvSpPr>
          <p:cNvPr id="28" name="TextBox 27"/>
          <p:cNvSpPr txBox="1"/>
          <p:nvPr/>
        </p:nvSpPr>
        <p:spPr>
          <a:xfrm>
            <a:off x="8995181" y="5669280"/>
            <a:ext cx="2556433" cy="274320"/>
          </a:xfrm>
          <a:prstGeom prst="rect">
            <a:avLst/>
          </a:prstGeom>
          <a:noFill/>
        </p:spPr>
        <p:txBody>
          <a:bodyPr wrap="square" lIns="0" rIns="0" tIns="0" bIns="0" anchor="t">
            <a:spAutoFit/>
          </a:bodyPr>
          <a:lstStyle/>
          <a:p>
            <a:pPr algn="ctr">
              <a:lnSpc>
                <a:spcPct val="110000"/>
              </a:lnSpc>
            </a:pPr>
            <a:r>
              <a:rPr sz="1000" b="0" i="0">
                <a:solidFill>
                  <a:srgbClr val="7D8496"/>
                </a:solidFill>
                <a:latin typeface="Inter"/>
              </a:rPr>
              <a:t>Preuve photo OK/NOK</a:t>
            </a:r>
          </a:p>
        </p:txBody>
      </p:sp>
      <p:sp>
        <p:nvSpPr>
          <p:cNvPr id="29" name="TextBox 28"/>
          <p:cNvSpPr txBox="1"/>
          <p:nvPr/>
        </p:nvSpPr>
        <p:spPr>
          <a:xfrm>
            <a:off x="640080" y="6537960"/>
            <a:ext cx="10911535" cy="228600"/>
          </a:xfrm>
          <a:prstGeom prst="rect">
            <a:avLst/>
          </a:prstGeom>
          <a:noFill/>
        </p:spPr>
        <p:txBody>
          <a:bodyPr wrap="square" lIns="0" rIns="0" tIns="0" bIns="0" anchor="t">
            <a:spAutoFit/>
          </a:bodyPr>
          <a:lstStyle/>
          <a:p>
            <a:pPr algn="l">
              <a:lnSpc>
                <a:spcPct val="110000"/>
              </a:lnSpc>
            </a:pPr>
            <a:r>
              <a:rPr sz="900" b="0" i="0" spc="120">
                <a:solidFill>
                  <a:srgbClr val="7D8496"/>
                </a:solidFill>
                <a:latin typeface="JetBrains Mono"/>
              </a:rPr>
              <a:t>Flutter · Android · Firebase (push)   ·   Preuve photo OK/NOK   ·   Brouillon hors-ligne</a:t>
            </a:r>
          </a:p>
        </p:txBody>
      </p:sp>
      <p:sp>
        <p:nvSpPr>
          <p:cNvPr id="30" name="TextBox 29"/>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27 / 33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MODULE FIABILITÉ</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Analyse de fiabilité.</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Régression linéaire · rapport PDF généré automatiquement.</a:t>
            </a:r>
          </a:p>
        </p:txBody>
      </p:sp>
      <p:sp>
        <p:nvSpPr>
          <p:cNvPr id="9" name="Rounded Rectangle 8"/>
          <p:cNvSpPr/>
          <p:nvPr/>
        </p:nvSpPr>
        <p:spPr>
          <a:xfrm>
            <a:off x="640080" y="2651760"/>
            <a:ext cx="5295747" cy="356616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8720" y="3017520"/>
            <a:ext cx="4198467" cy="2834640"/>
          </a:xfrm>
          <a:prstGeom prst="rect">
            <a:avLst/>
          </a:prstGeom>
          <a:solidFill>
            <a:srgbClr val="0A1230"/>
          </a:solidFill>
          <a:ln w="12700">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017520"/>
            <a:ext cx="4198467" cy="2834640"/>
          </a:xfrm>
          <a:prstGeom prst="rect">
            <a:avLst/>
          </a:prstGeom>
          <a:noFill/>
        </p:spPr>
        <p:txBody>
          <a:bodyPr wrap="square" lIns="0" rIns="0" tIns="0" bIns="0" anchor="ctr">
            <a:spAutoFit/>
          </a:bodyPr>
          <a:lstStyle/>
          <a:p>
            <a:pPr algn="ctr">
              <a:lnSpc>
                <a:spcPct val="110000"/>
              </a:lnSpc>
            </a:pPr>
            <a:r>
              <a:rPr sz="1200" b="0" i="0">
                <a:solidFill>
                  <a:srgbClr val="7D8496"/>
                </a:solidFill>
                <a:latin typeface="JetBrains Mono"/>
              </a:rPr>
              <a:t>[ Rapport PDF fiabilité ]</a:t>
            </a:r>
          </a:p>
        </p:txBody>
      </p:sp>
      <p:sp>
        <p:nvSpPr>
          <p:cNvPr id="12" name="Rounded Rectangle 11"/>
          <p:cNvSpPr/>
          <p:nvPr/>
        </p:nvSpPr>
        <p:spPr>
          <a:xfrm>
            <a:off x="6255867" y="2651760"/>
            <a:ext cx="5295747" cy="3566160"/>
          </a:xfrm>
          <a:prstGeom prst="roundRect">
            <a:avLst>
              <a:gd name="adj" fmla="val 6000"/>
            </a:avLst>
          </a:prstGeom>
          <a:solidFill>
            <a:srgbClr val="101A45">
              <a:alpha val="18000"/>
            </a:srgbClr>
          </a:solidFill>
          <a:ln w="9525">
            <a:solidFill>
              <a:srgbClr val="4ECD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2926080"/>
            <a:ext cx="4747107" cy="365760"/>
          </a:xfrm>
          <a:prstGeom prst="rect">
            <a:avLst/>
          </a:prstGeom>
          <a:noFill/>
        </p:spPr>
        <p:txBody>
          <a:bodyPr wrap="square" lIns="0" rIns="0" tIns="0" bIns="0" anchor="t">
            <a:spAutoFit/>
          </a:bodyPr>
          <a:lstStyle/>
          <a:p>
            <a:pPr algn="l">
              <a:lnSpc>
                <a:spcPct val="110000"/>
              </a:lnSpc>
            </a:pPr>
            <a:r>
              <a:rPr sz="1000" b="1" i="0" spc="200">
                <a:solidFill>
                  <a:srgbClr val="4ECDC4"/>
                </a:solidFill>
                <a:latin typeface="JetBrains Mono"/>
              </a:rPr>
              <a:t>CONTENU DU RAPPORT</a:t>
            </a:r>
          </a:p>
        </p:txBody>
      </p:sp>
      <p:sp>
        <p:nvSpPr>
          <p:cNvPr id="14" name="TextBox 13"/>
          <p:cNvSpPr txBox="1"/>
          <p:nvPr/>
        </p:nvSpPr>
        <p:spPr>
          <a:xfrm>
            <a:off x="6530187" y="3520440"/>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15" name="TextBox 14"/>
          <p:cNvSpPr txBox="1"/>
          <p:nvPr/>
        </p:nvSpPr>
        <p:spPr>
          <a:xfrm>
            <a:off x="7078827" y="3520440"/>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Disponibilité</a:t>
            </a:r>
          </a:p>
        </p:txBody>
      </p:sp>
      <p:sp>
        <p:nvSpPr>
          <p:cNvPr id="16" name="TextBox 15"/>
          <p:cNvSpPr txBox="1"/>
          <p:nvPr/>
        </p:nvSpPr>
        <p:spPr>
          <a:xfrm>
            <a:off x="7078827" y="3794760"/>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projection sur 24 mois glissants</a:t>
            </a:r>
          </a:p>
        </p:txBody>
      </p:sp>
      <p:sp>
        <p:nvSpPr>
          <p:cNvPr id="17" name="TextBox 16"/>
          <p:cNvSpPr txBox="1"/>
          <p:nvPr/>
        </p:nvSpPr>
        <p:spPr>
          <a:xfrm>
            <a:off x="6530187" y="4178808"/>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18" name="TextBox 17"/>
          <p:cNvSpPr txBox="1"/>
          <p:nvPr/>
        </p:nvSpPr>
        <p:spPr>
          <a:xfrm>
            <a:off x="7078827" y="4178808"/>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Nombre de pannes</a:t>
            </a:r>
          </a:p>
        </p:txBody>
      </p:sp>
      <p:sp>
        <p:nvSpPr>
          <p:cNvPr id="19" name="TextBox 18"/>
          <p:cNvSpPr txBox="1"/>
          <p:nvPr/>
        </p:nvSpPr>
        <p:spPr>
          <a:xfrm>
            <a:off x="7078827" y="4453128"/>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tendance et courbe évolutive</a:t>
            </a:r>
          </a:p>
        </p:txBody>
      </p:sp>
      <p:sp>
        <p:nvSpPr>
          <p:cNvPr id="20" name="TextBox 19"/>
          <p:cNvSpPr txBox="1"/>
          <p:nvPr/>
        </p:nvSpPr>
        <p:spPr>
          <a:xfrm>
            <a:off x="6530187" y="4837176"/>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21" name="TextBox 20"/>
          <p:cNvSpPr txBox="1"/>
          <p:nvPr/>
        </p:nvSpPr>
        <p:spPr>
          <a:xfrm>
            <a:off x="7078827" y="4837176"/>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Export PDF</a:t>
            </a:r>
          </a:p>
        </p:txBody>
      </p:sp>
      <p:sp>
        <p:nvSpPr>
          <p:cNvPr id="22" name="TextBox 21"/>
          <p:cNvSpPr txBox="1"/>
          <p:nvPr/>
        </p:nvSpPr>
        <p:spPr>
          <a:xfrm>
            <a:off x="7078827" y="5111496"/>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signé · daté · logo ICEM intégré</a:t>
            </a:r>
          </a:p>
        </p:txBody>
      </p:sp>
      <p:sp>
        <p:nvSpPr>
          <p:cNvPr id="23" name="TextBox 22"/>
          <p:cNvSpPr txBox="1"/>
          <p:nvPr/>
        </p:nvSpPr>
        <p:spPr>
          <a:xfrm>
            <a:off x="6530187" y="5495544"/>
            <a:ext cx="457200" cy="502920"/>
          </a:xfrm>
          <a:prstGeom prst="rect">
            <a:avLst/>
          </a:prstGeom>
          <a:noFill/>
        </p:spPr>
        <p:txBody>
          <a:bodyPr wrap="square" lIns="0" rIns="0" tIns="0" bIns="0" anchor="ctr">
            <a:spAutoFit/>
          </a:bodyPr>
          <a:lstStyle/>
          <a:p>
            <a:pPr algn="l">
              <a:lnSpc>
                <a:spcPct val="110000"/>
              </a:lnSpc>
            </a:pPr>
            <a:r>
              <a:rPr sz="2200" b="1" i="0">
                <a:solidFill>
                  <a:srgbClr val="4ECDC4"/>
                </a:solidFill>
                <a:latin typeface="Space Grotesk"/>
              </a:rPr>
              <a:t>=</a:t>
            </a:r>
          </a:p>
        </p:txBody>
      </p:sp>
      <p:sp>
        <p:nvSpPr>
          <p:cNvPr id="24" name="TextBox 23"/>
          <p:cNvSpPr txBox="1"/>
          <p:nvPr/>
        </p:nvSpPr>
        <p:spPr>
          <a:xfrm>
            <a:off x="7078827" y="5495544"/>
            <a:ext cx="2286000" cy="274320"/>
          </a:xfrm>
          <a:prstGeom prst="rect">
            <a:avLst/>
          </a:prstGeom>
          <a:noFill/>
        </p:spPr>
        <p:txBody>
          <a:bodyPr wrap="square" lIns="0" rIns="0" tIns="0" bIns="0" anchor="t">
            <a:spAutoFit/>
          </a:bodyPr>
          <a:lstStyle/>
          <a:p>
            <a:pPr algn="l">
              <a:lnSpc>
                <a:spcPct val="110000"/>
              </a:lnSpc>
            </a:pPr>
            <a:r>
              <a:rPr sz="1400" b="1" i="0">
                <a:solidFill>
                  <a:srgbClr val="FFFFFF"/>
                </a:solidFill>
                <a:latin typeface="Space Grotesk"/>
              </a:rPr>
              <a:t>Comparaison</a:t>
            </a:r>
          </a:p>
        </p:txBody>
      </p:sp>
      <p:sp>
        <p:nvSpPr>
          <p:cNvPr id="25" name="TextBox 24"/>
          <p:cNvSpPr txBox="1"/>
          <p:nvPr/>
        </p:nvSpPr>
        <p:spPr>
          <a:xfrm>
            <a:off x="7078827" y="5769864"/>
            <a:ext cx="4198467" cy="274320"/>
          </a:xfrm>
          <a:prstGeom prst="rect">
            <a:avLst/>
          </a:prstGeom>
          <a:noFill/>
        </p:spPr>
        <p:txBody>
          <a:bodyPr wrap="square" lIns="0" rIns="0" tIns="0" bIns="0" anchor="t">
            <a:spAutoFit/>
          </a:bodyPr>
          <a:lstStyle/>
          <a:p>
            <a:pPr algn="l">
              <a:lnSpc>
                <a:spcPct val="110000"/>
              </a:lnSpc>
            </a:pPr>
            <a:r>
              <a:rPr sz="1100" b="0" i="0">
                <a:solidFill>
                  <a:srgbClr val="C9D0DC"/>
                </a:solidFill>
                <a:latin typeface="Inter"/>
              </a:rPr>
              <a:t>Alpha 433 H vs Gamma 333 PC</a:t>
            </a:r>
          </a:p>
        </p:txBody>
      </p:sp>
      <p:sp>
        <p:nvSpPr>
          <p:cNvPr id="26" name="TextBox 25"/>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28 /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04 · DÉVELOPPEMENT</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DÉPLOIEMENT LOCAL</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Déploiement local.</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Réseau interne ICEM — pas de cloud, données restent sur site.</a:t>
            </a:r>
          </a:p>
        </p:txBody>
      </p:sp>
      <p:sp>
        <p:nvSpPr>
          <p:cNvPr id="9" name="Rounded Rectangle 8"/>
          <p:cNvSpPr/>
          <p:nvPr/>
        </p:nvSpPr>
        <p:spPr>
          <a:xfrm>
            <a:off x="640080" y="2651760"/>
            <a:ext cx="5295747" cy="3566160"/>
          </a:xfrm>
          <a:prstGeom prst="roundRect">
            <a:avLst>
              <a:gd name="adj" fmla="val 6000"/>
            </a:avLst>
          </a:prstGeom>
          <a:solidFill>
            <a:srgbClr val="101A45">
              <a:alpha val="10000"/>
            </a:srgbClr>
          </a:solidFill>
          <a:ln w="952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34640"/>
            <a:ext cx="4838547" cy="274320"/>
          </a:xfrm>
          <a:prstGeom prst="rect">
            <a:avLst/>
          </a:prstGeom>
          <a:noFill/>
        </p:spPr>
        <p:txBody>
          <a:bodyPr wrap="square" lIns="0" rIns="0" tIns="0" bIns="0" anchor="t">
            <a:spAutoFit/>
          </a:bodyPr>
          <a:lstStyle/>
          <a:p>
            <a:pPr algn="l">
              <a:lnSpc>
                <a:spcPct val="110000"/>
              </a:lnSpc>
            </a:pPr>
            <a:r>
              <a:rPr sz="1100" b="0" i="0">
                <a:solidFill>
                  <a:srgbClr val="7D8496"/>
                </a:solidFill>
                <a:latin typeface="JetBrains Mono"/>
              </a:rPr>
              <a:t>●  ●  ●     pm2 status</a:t>
            </a:r>
          </a:p>
        </p:txBody>
      </p:sp>
      <p:sp>
        <p:nvSpPr>
          <p:cNvPr id="11" name="Rectangle 10"/>
          <p:cNvSpPr/>
          <p:nvPr/>
        </p:nvSpPr>
        <p:spPr>
          <a:xfrm>
            <a:off x="868680" y="3154680"/>
            <a:ext cx="4838547" cy="6350"/>
          </a:xfrm>
          <a:prstGeom prst="rect">
            <a:avLst/>
          </a:prstGeom>
          <a:solidFill>
            <a:srgbClr val="3A3F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337560"/>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t>
            </a:r>
          </a:p>
        </p:txBody>
      </p:sp>
      <p:sp>
        <p:nvSpPr>
          <p:cNvPr id="13" name="TextBox 12"/>
          <p:cNvSpPr txBox="1"/>
          <p:nvPr/>
        </p:nvSpPr>
        <p:spPr>
          <a:xfrm>
            <a:off x="1234440" y="3337560"/>
            <a:ext cx="4472787" cy="292608"/>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pm2 start ecosystem.config.js</a:t>
            </a:r>
          </a:p>
        </p:txBody>
      </p:sp>
      <p:sp>
        <p:nvSpPr>
          <p:cNvPr id="14" name="TextBox 13"/>
          <p:cNvSpPr txBox="1"/>
          <p:nvPr/>
        </p:nvSpPr>
        <p:spPr>
          <a:xfrm>
            <a:off x="960120" y="3685032"/>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15" name="TextBox 14"/>
          <p:cNvSpPr txBox="1"/>
          <p:nvPr/>
        </p:nvSpPr>
        <p:spPr>
          <a:xfrm>
            <a:off x="1234440" y="3685032"/>
            <a:ext cx="4472787" cy="292608"/>
          </a:xfrm>
          <a:prstGeom prst="rect">
            <a:avLst/>
          </a:prstGeom>
          <a:noFill/>
        </p:spPr>
        <p:txBody>
          <a:bodyPr wrap="square" lIns="0" rIns="0" tIns="0" bIns="0" anchor="t">
            <a:spAutoFit/>
          </a:bodyPr>
          <a:lstStyle/>
          <a:p>
            <a:pPr algn="l">
              <a:lnSpc>
                <a:spcPct val="110000"/>
              </a:lnSpc>
            </a:pPr>
            <a:r>
              <a:rPr sz="1100" b="0" i="0">
                <a:solidFill>
                  <a:srgbClr val="4ADE80"/>
                </a:solidFill>
                <a:latin typeface="JetBrains Mono"/>
              </a:rPr>
              <a:t>[PM2] Starting backend-express...</a:t>
            </a:r>
          </a:p>
        </p:txBody>
      </p:sp>
      <p:sp>
        <p:nvSpPr>
          <p:cNvPr id="16" name="TextBox 15"/>
          <p:cNvSpPr txBox="1"/>
          <p:nvPr/>
        </p:nvSpPr>
        <p:spPr>
          <a:xfrm>
            <a:off x="960120" y="4032504"/>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17" name="TextBox 16"/>
          <p:cNvSpPr txBox="1"/>
          <p:nvPr/>
        </p:nvSpPr>
        <p:spPr>
          <a:xfrm>
            <a:off x="1234440" y="4032504"/>
            <a:ext cx="4472787" cy="292608"/>
          </a:xfrm>
          <a:prstGeom prst="rect">
            <a:avLst/>
          </a:prstGeom>
          <a:noFill/>
        </p:spPr>
        <p:txBody>
          <a:bodyPr wrap="square" lIns="0" rIns="0" tIns="0" bIns="0" anchor="t">
            <a:spAutoFit/>
          </a:bodyPr>
          <a:lstStyle/>
          <a:p>
            <a:pPr algn="l">
              <a:lnSpc>
                <a:spcPct val="110000"/>
              </a:lnSpc>
            </a:pPr>
            <a:r>
              <a:rPr sz="1100" b="0" i="0">
                <a:solidFill>
                  <a:srgbClr val="4ADE80"/>
                </a:solidFill>
                <a:latin typeface="JetBrains Mono"/>
              </a:rPr>
              <a:t>[PM2] Starting fastapi-uvicorn...</a:t>
            </a:r>
          </a:p>
        </p:txBody>
      </p:sp>
      <p:sp>
        <p:nvSpPr>
          <p:cNvPr id="18" name="TextBox 17"/>
          <p:cNvSpPr txBox="1"/>
          <p:nvPr/>
        </p:nvSpPr>
        <p:spPr>
          <a:xfrm>
            <a:off x="960120" y="4379976"/>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19" name="TextBox 18"/>
          <p:cNvSpPr txBox="1"/>
          <p:nvPr/>
        </p:nvSpPr>
        <p:spPr>
          <a:xfrm>
            <a:off x="1234440" y="4379976"/>
            <a:ext cx="4472787" cy="292608"/>
          </a:xfrm>
          <a:prstGeom prst="rect">
            <a:avLst/>
          </a:prstGeom>
          <a:noFill/>
        </p:spPr>
        <p:txBody>
          <a:bodyPr wrap="square" lIns="0" rIns="0" tIns="0" bIns="0" anchor="t">
            <a:spAutoFit/>
          </a:bodyPr>
          <a:lstStyle/>
          <a:p>
            <a:pPr algn="l">
              <a:lnSpc>
                <a:spcPct val="110000"/>
              </a:lnSpc>
            </a:pPr>
            <a:r>
              <a:rPr sz="1100" b="0" i="0">
                <a:solidFill>
                  <a:srgbClr val="C9D0DC"/>
                </a:solidFill>
                <a:latin typeface="JetBrains Mono"/>
              </a:rPr>
              <a:t>backend-express  | 0 | online | 82.4mb</a:t>
            </a:r>
          </a:p>
        </p:txBody>
      </p:sp>
      <p:sp>
        <p:nvSpPr>
          <p:cNvPr id="20" name="TextBox 19"/>
          <p:cNvSpPr txBox="1"/>
          <p:nvPr/>
        </p:nvSpPr>
        <p:spPr>
          <a:xfrm>
            <a:off x="960120" y="4727448"/>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21" name="TextBox 20"/>
          <p:cNvSpPr txBox="1"/>
          <p:nvPr/>
        </p:nvSpPr>
        <p:spPr>
          <a:xfrm>
            <a:off x="1234440" y="4727448"/>
            <a:ext cx="4472787" cy="292608"/>
          </a:xfrm>
          <a:prstGeom prst="rect">
            <a:avLst/>
          </a:prstGeom>
          <a:noFill/>
        </p:spPr>
        <p:txBody>
          <a:bodyPr wrap="square" lIns="0" rIns="0" tIns="0" bIns="0" anchor="t">
            <a:spAutoFit/>
          </a:bodyPr>
          <a:lstStyle/>
          <a:p>
            <a:pPr algn="l">
              <a:lnSpc>
                <a:spcPct val="110000"/>
              </a:lnSpc>
            </a:pPr>
            <a:r>
              <a:rPr sz="1100" b="0" i="0">
                <a:solidFill>
                  <a:srgbClr val="C9D0DC"/>
                </a:solidFill>
                <a:latin typeface="JetBrains Mono"/>
              </a:rPr>
              <a:t>fastapi-uvicorn  | 1 | online | 94.1mb</a:t>
            </a:r>
          </a:p>
        </p:txBody>
      </p:sp>
      <p:sp>
        <p:nvSpPr>
          <p:cNvPr id="22" name="TextBox 21"/>
          <p:cNvSpPr txBox="1"/>
          <p:nvPr/>
        </p:nvSpPr>
        <p:spPr>
          <a:xfrm>
            <a:off x="960120" y="5074920"/>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t>
            </a:r>
          </a:p>
        </p:txBody>
      </p:sp>
      <p:sp>
        <p:nvSpPr>
          <p:cNvPr id="23" name="TextBox 22"/>
          <p:cNvSpPr txBox="1"/>
          <p:nvPr/>
        </p:nvSpPr>
        <p:spPr>
          <a:xfrm>
            <a:off x="1234440" y="5074920"/>
            <a:ext cx="4472787" cy="292608"/>
          </a:xfrm>
          <a:prstGeom prst="rect">
            <a:avLst/>
          </a:prstGeom>
          <a:noFill/>
        </p:spPr>
        <p:txBody>
          <a:bodyPr wrap="square" lIns="0" rIns="0" tIns="0" bIns="0" anchor="t">
            <a:spAutoFit/>
          </a:bodyPr>
          <a:lstStyle/>
          <a:p>
            <a:pPr algn="l">
              <a:lnSpc>
                <a:spcPct val="110000"/>
              </a:lnSpc>
            </a:pPr>
            <a:r>
              <a:rPr sz="1100" b="0" i="0">
                <a:solidFill>
                  <a:srgbClr val="FFFFFF"/>
                </a:solidFill>
                <a:latin typeface="JetBrains Mono"/>
              </a:rPr>
              <a:t>curl http://localhost:3000/health</a:t>
            </a:r>
          </a:p>
        </p:txBody>
      </p:sp>
      <p:sp>
        <p:nvSpPr>
          <p:cNvPr id="24" name="TextBox 23"/>
          <p:cNvSpPr txBox="1"/>
          <p:nvPr/>
        </p:nvSpPr>
        <p:spPr>
          <a:xfrm>
            <a:off x="960120" y="5422392"/>
            <a:ext cx="320040" cy="274320"/>
          </a:xfrm>
          <a:prstGeom prst="rect">
            <a:avLst/>
          </a:prstGeom>
          <a:noFill/>
        </p:spPr>
        <p:txBody>
          <a:bodyPr wrap="square" lIns="0" rIns="0" tIns="0" bIns="0" anchor="t">
            <a:spAutoFit/>
          </a:bodyPr>
          <a:lstStyle/>
          <a:p>
            <a:pPr algn="l">
              <a:lnSpc>
                <a:spcPct val="110000"/>
              </a:lnSpc>
            </a:pPr>
            <a:r>
              <a:rPr sz="1100" b="1" i="0">
                <a:solidFill>
                  <a:srgbClr val="FF9548"/>
                </a:solidFill>
                <a:latin typeface="JetBrains Mono"/>
              </a:rPr>
              <a:t/>
            </a:r>
          </a:p>
        </p:txBody>
      </p:sp>
      <p:sp>
        <p:nvSpPr>
          <p:cNvPr id="25" name="TextBox 24"/>
          <p:cNvSpPr txBox="1"/>
          <p:nvPr/>
        </p:nvSpPr>
        <p:spPr>
          <a:xfrm>
            <a:off x="1234440" y="5422392"/>
            <a:ext cx="4472787" cy="292608"/>
          </a:xfrm>
          <a:prstGeom prst="rect">
            <a:avLst/>
          </a:prstGeom>
          <a:noFill/>
        </p:spPr>
        <p:txBody>
          <a:bodyPr wrap="square" lIns="0" rIns="0" tIns="0" bIns="0" anchor="t">
            <a:spAutoFit/>
          </a:bodyPr>
          <a:lstStyle/>
          <a:p>
            <a:pPr algn="l">
              <a:lnSpc>
                <a:spcPct val="110000"/>
              </a:lnSpc>
            </a:pPr>
            <a:r>
              <a:rPr sz="1100" b="0" i="0">
                <a:solidFill>
                  <a:srgbClr val="4ECDC4"/>
                </a:solidFill>
                <a:latin typeface="JetBrains Mono"/>
              </a:rPr>
              <a:t>{"status":"ok","db":"connected"}</a:t>
            </a:r>
          </a:p>
        </p:txBody>
      </p:sp>
      <p:sp>
        <p:nvSpPr>
          <p:cNvPr id="26" name="Rounded Rectangle 25"/>
          <p:cNvSpPr/>
          <p:nvPr/>
        </p:nvSpPr>
        <p:spPr>
          <a:xfrm>
            <a:off x="6255867" y="2651760"/>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4467" y="2770632"/>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01</a:t>
            </a:r>
          </a:p>
        </p:txBody>
      </p:sp>
      <p:sp>
        <p:nvSpPr>
          <p:cNvPr id="28" name="TextBox 27"/>
          <p:cNvSpPr txBox="1"/>
          <p:nvPr/>
        </p:nvSpPr>
        <p:spPr>
          <a:xfrm>
            <a:off x="7124547" y="2651760"/>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Serveur local Windows</a:t>
            </a:r>
          </a:p>
        </p:txBody>
      </p:sp>
      <p:sp>
        <p:nvSpPr>
          <p:cNvPr id="29" name="TextBox 28"/>
          <p:cNvSpPr txBox="1"/>
          <p:nvPr/>
        </p:nvSpPr>
        <p:spPr>
          <a:xfrm>
            <a:off x="10004906" y="2651760"/>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Réseau interne ICEM · pas de cloud</a:t>
            </a:r>
          </a:p>
        </p:txBody>
      </p:sp>
      <p:sp>
        <p:nvSpPr>
          <p:cNvPr id="30" name="Rounded Rectangle 29"/>
          <p:cNvSpPr/>
          <p:nvPr/>
        </p:nvSpPr>
        <p:spPr>
          <a:xfrm>
            <a:off x="6255867" y="3392424"/>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84467" y="3511296"/>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02</a:t>
            </a:r>
          </a:p>
        </p:txBody>
      </p:sp>
      <p:sp>
        <p:nvSpPr>
          <p:cNvPr id="32" name="TextBox 31"/>
          <p:cNvSpPr txBox="1"/>
          <p:nvPr/>
        </p:nvSpPr>
        <p:spPr>
          <a:xfrm>
            <a:off x="7124547" y="3392424"/>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Backend Express.js</a:t>
            </a:r>
          </a:p>
        </p:txBody>
      </p:sp>
      <p:sp>
        <p:nvSpPr>
          <p:cNvPr id="33" name="TextBox 32"/>
          <p:cNvSpPr txBox="1"/>
          <p:nvPr/>
        </p:nvSpPr>
        <p:spPr>
          <a:xfrm>
            <a:off x="10004906" y="3392424"/>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PM2 · port 3000</a:t>
            </a:r>
          </a:p>
        </p:txBody>
      </p:sp>
      <p:sp>
        <p:nvSpPr>
          <p:cNvPr id="34" name="Rounded Rectangle 33"/>
          <p:cNvSpPr/>
          <p:nvPr/>
        </p:nvSpPr>
        <p:spPr>
          <a:xfrm>
            <a:off x="6255867" y="4133088"/>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4467" y="4251960"/>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03</a:t>
            </a:r>
          </a:p>
        </p:txBody>
      </p:sp>
      <p:sp>
        <p:nvSpPr>
          <p:cNvPr id="36" name="TextBox 35"/>
          <p:cNvSpPr txBox="1"/>
          <p:nvPr/>
        </p:nvSpPr>
        <p:spPr>
          <a:xfrm>
            <a:off x="7124547" y="4133088"/>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MongoDB local</a:t>
            </a:r>
          </a:p>
        </p:txBody>
      </p:sp>
      <p:sp>
        <p:nvSpPr>
          <p:cNvPr id="37" name="TextBox 36"/>
          <p:cNvSpPr txBox="1"/>
          <p:nvPr/>
        </p:nvSpPr>
        <p:spPr>
          <a:xfrm>
            <a:off x="10004906" y="4133088"/>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Base métier centralisée</a:t>
            </a:r>
          </a:p>
        </p:txBody>
      </p:sp>
      <p:sp>
        <p:nvSpPr>
          <p:cNvPr id="38" name="Rounded Rectangle 37"/>
          <p:cNvSpPr/>
          <p:nvPr/>
        </p:nvSpPr>
        <p:spPr>
          <a:xfrm>
            <a:off x="6255867" y="4873752"/>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84467" y="4992624"/>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04</a:t>
            </a:r>
          </a:p>
        </p:txBody>
      </p:sp>
      <p:sp>
        <p:nvSpPr>
          <p:cNvPr id="40" name="TextBox 39"/>
          <p:cNvSpPr txBox="1"/>
          <p:nvPr/>
        </p:nvSpPr>
        <p:spPr>
          <a:xfrm>
            <a:off x="7124547" y="4873752"/>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Microservices FastAPI</a:t>
            </a:r>
          </a:p>
        </p:txBody>
      </p:sp>
      <p:sp>
        <p:nvSpPr>
          <p:cNvPr id="41" name="TextBox 40"/>
          <p:cNvSpPr txBox="1"/>
          <p:nvPr/>
        </p:nvSpPr>
        <p:spPr>
          <a:xfrm>
            <a:off x="10004906" y="4873752"/>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Uvicorn · port 8001</a:t>
            </a:r>
          </a:p>
        </p:txBody>
      </p:sp>
      <p:sp>
        <p:nvSpPr>
          <p:cNvPr id="42" name="Rounded Rectangle 41"/>
          <p:cNvSpPr/>
          <p:nvPr/>
        </p:nvSpPr>
        <p:spPr>
          <a:xfrm>
            <a:off x="6255867" y="5614416"/>
            <a:ext cx="5295747" cy="603504"/>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84467" y="5733288"/>
            <a:ext cx="548640" cy="365760"/>
          </a:xfrm>
          <a:prstGeom prst="rect">
            <a:avLst/>
          </a:prstGeom>
          <a:noFill/>
        </p:spPr>
        <p:txBody>
          <a:bodyPr wrap="square" lIns="0" rIns="0" tIns="0" bIns="0" anchor="ctr">
            <a:spAutoFit/>
          </a:bodyPr>
          <a:lstStyle/>
          <a:p>
            <a:pPr algn="l">
              <a:lnSpc>
                <a:spcPct val="110000"/>
              </a:lnSpc>
            </a:pPr>
            <a:r>
              <a:rPr sz="1800" b="1" i="0">
                <a:solidFill>
                  <a:srgbClr val="FF9548"/>
                </a:solidFill>
                <a:latin typeface="Space Grotesk"/>
              </a:rPr>
              <a:t>05</a:t>
            </a:r>
          </a:p>
        </p:txBody>
      </p:sp>
      <p:sp>
        <p:nvSpPr>
          <p:cNvPr id="44" name="TextBox 43"/>
          <p:cNvSpPr txBox="1"/>
          <p:nvPr/>
        </p:nvSpPr>
        <p:spPr>
          <a:xfrm>
            <a:off x="7124547" y="5614416"/>
            <a:ext cx="2743200" cy="603504"/>
          </a:xfrm>
          <a:prstGeom prst="rect">
            <a:avLst/>
          </a:prstGeom>
          <a:noFill/>
        </p:spPr>
        <p:txBody>
          <a:bodyPr wrap="square" lIns="0" rIns="0" tIns="0" bIns="0" anchor="ctr">
            <a:spAutoFit/>
          </a:bodyPr>
          <a:lstStyle/>
          <a:p>
            <a:pPr algn="l">
              <a:lnSpc>
                <a:spcPct val="110000"/>
              </a:lnSpc>
            </a:pPr>
            <a:r>
              <a:rPr sz="1300" b="1" i="0">
                <a:solidFill>
                  <a:srgbClr val="FFFFFF"/>
                </a:solidFill>
                <a:latin typeface="Space Grotesk"/>
              </a:rPr>
              <a:t>App web + mobile</a:t>
            </a:r>
          </a:p>
        </p:txBody>
      </p:sp>
      <p:sp>
        <p:nvSpPr>
          <p:cNvPr id="45" name="TextBox 44"/>
          <p:cNvSpPr txBox="1"/>
          <p:nvPr/>
        </p:nvSpPr>
        <p:spPr>
          <a:xfrm>
            <a:off x="10004906" y="5614416"/>
            <a:ext cx="1363827" cy="603504"/>
          </a:xfrm>
          <a:prstGeom prst="rect">
            <a:avLst/>
          </a:prstGeom>
          <a:noFill/>
        </p:spPr>
        <p:txBody>
          <a:bodyPr wrap="square" lIns="0" rIns="0" tIns="0" bIns="0" anchor="ctr">
            <a:spAutoFit/>
          </a:bodyPr>
          <a:lstStyle/>
          <a:p>
            <a:pPr algn="l">
              <a:lnSpc>
                <a:spcPct val="110000"/>
              </a:lnSpc>
            </a:pPr>
            <a:r>
              <a:rPr sz="1100" b="0" i="0">
                <a:solidFill>
                  <a:srgbClr val="C9D0DC"/>
                </a:solidFill>
                <a:latin typeface="Inter"/>
              </a:rPr>
              <a:t>Accès LAN sur postes utilisateurs</a:t>
            </a:r>
          </a:p>
        </p:txBody>
      </p:sp>
      <p:sp>
        <p:nvSpPr>
          <p:cNvPr id="46" name="TextBox 45"/>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29 /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76895" y="731520"/>
            <a:ext cx="3657600" cy="3200400"/>
          </a:xfrm>
          <a:prstGeom prst="rect">
            <a:avLst/>
          </a:prstGeom>
          <a:noFill/>
        </p:spPr>
        <p:txBody>
          <a:bodyPr wrap="square" lIns="0" rIns="0" tIns="0" bIns="0" anchor="t">
            <a:spAutoFit/>
          </a:bodyPr>
          <a:lstStyle/>
          <a:p>
            <a:pPr algn="r">
              <a:lnSpc>
                <a:spcPct val="100000"/>
              </a:lnSpc>
            </a:pPr>
            <a:r>
              <a:rPr sz="20000" b="1" i="0">
                <a:solidFill>
                  <a:srgbClr val="FF7A1A"/>
                </a:solidFill>
                <a:latin typeface="Space Grotesk"/>
              </a:rPr>
              <a:t>05</a:t>
            </a:r>
          </a:p>
        </p:txBody>
      </p:sp>
      <p:sp>
        <p:nvSpPr>
          <p:cNvPr id="6" name="TextBox 5"/>
          <p:cNvSpPr txBox="1"/>
          <p:nvPr/>
        </p:nvSpPr>
        <p:spPr>
          <a:xfrm>
            <a:off x="640080" y="1828800"/>
            <a:ext cx="10911535" cy="320040"/>
          </a:xfrm>
          <a:prstGeom prst="rect">
            <a:avLst/>
          </a:prstGeom>
          <a:noFill/>
        </p:spPr>
        <p:txBody>
          <a:bodyPr wrap="square" lIns="0" rIns="0" tIns="0" bIns="0" anchor="t">
            <a:spAutoFit/>
          </a:bodyPr>
          <a:lstStyle/>
          <a:p>
            <a:pPr algn="l">
              <a:lnSpc>
                <a:spcPct val="110000"/>
              </a:lnSpc>
            </a:pPr>
            <a:r>
              <a:rPr sz="1100" b="1" i="0" spc="240">
                <a:solidFill>
                  <a:srgbClr val="FF9548"/>
                </a:solidFill>
                <a:latin typeface="JetBrains Mono"/>
              </a:rPr>
              <a:t>SECTION</a:t>
            </a:r>
          </a:p>
        </p:txBody>
      </p:sp>
      <p:sp>
        <p:nvSpPr>
          <p:cNvPr id="7" name="TextBox 6"/>
          <p:cNvSpPr txBox="1"/>
          <p:nvPr/>
        </p:nvSpPr>
        <p:spPr>
          <a:xfrm>
            <a:off x="640080" y="2286000"/>
            <a:ext cx="7772400" cy="1645920"/>
          </a:xfrm>
          <a:prstGeom prst="rect">
            <a:avLst/>
          </a:prstGeom>
          <a:noFill/>
        </p:spPr>
        <p:txBody>
          <a:bodyPr wrap="square" lIns="0" rIns="0" tIns="0" bIns="0" anchor="t">
            <a:spAutoFit/>
          </a:bodyPr>
          <a:lstStyle/>
          <a:p>
            <a:pPr algn="l">
              <a:lnSpc>
                <a:spcPct val="102000"/>
              </a:lnSpc>
            </a:pPr>
            <a:r>
              <a:rPr sz="6000" b="1" i="0">
                <a:solidFill>
                  <a:srgbClr val="FFFFFF"/>
                </a:solidFill>
                <a:latin typeface="Space Grotesk"/>
              </a:rPr>
              <a:t>Démonstration</a:t>
            </a:r>
          </a:p>
        </p:txBody>
      </p:sp>
      <p:sp>
        <p:nvSpPr>
          <p:cNvPr id="8" name="TextBox 7"/>
          <p:cNvSpPr txBox="1"/>
          <p:nvPr/>
        </p:nvSpPr>
        <p:spPr>
          <a:xfrm>
            <a:off x="640080" y="4206240"/>
            <a:ext cx="8686800" cy="457200"/>
          </a:xfrm>
          <a:prstGeom prst="rect">
            <a:avLst/>
          </a:prstGeom>
          <a:noFill/>
        </p:spPr>
        <p:txBody>
          <a:bodyPr wrap="square" lIns="0" rIns="0" tIns="0" bIns="0" anchor="t">
            <a:spAutoFit/>
          </a:bodyPr>
          <a:lstStyle/>
          <a:p>
            <a:pPr algn="l">
              <a:lnSpc>
                <a:spcPct val="110000"/>
              </a:lnSpc>
            </a:pPr>
            <a:r>
              <a:rPr sz="1800" b="0" i="0">
                <a:solidFill>
                  <a:srgbClr val="C9D0DC"/>
                </a:solidFill>
                <a:latin typeface="Inter"/>
              </a:rPr>
              <a:t>Passage à la démo live du système</a:t>
            </a:r>
          </a:p>
        </p:txBody>
      </p:sp>
      <p:sp>
        <p:nvSpPr>
          <p:cNvPr id="9" name="Rectangle 8"/>
          <p:cNvSpPr/>
          <p:nvPr/>
        </p:nvSpPr>
        <p:spPr>
          <a:xfrm>
            <a:off x="640080" y="3977639"/>
            <a:ext cx="2286000" cy="6350"/>
          </a:xfrm>
          <a:prstGeom prst="rect">
            <a:avLst/>
          </a:prstGeom>
          <a:solidFill>
            <a:srgbClr val="FF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06 · CONCLUSION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CE QUE NOUS AVONS LIVRÉ</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Ce qui a été livré.</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Quatre chiffres qui résument six mois de travail.</a:t>
            </a:r>
          </a:p>
        </p:txBody>
      </p:sp>
      <p:sp>
        <p:nvSpPr>
          <p:cNvPr id="9" name="Rounded Rectangle 8"/>
          <p:cNvSpPr/>
          <p:nvPr/>
        </p:nvSpPr>
        <p:spPr>
          <a:xfrm>
            <a:off x="640080"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0.835</a:t>
            </a:r>
          </a:p>
        </p:txBody>
      </p:sp>
      <p:sp>
        <p:nvSpPr>
          <p:cNvPr id="11" name="TextBox 10"/>
          <p:cNvSpPr txBox="1"/>
          <p:nvPr/>
        </p:nvSpPr>
        <p:spPr>
          <a:xfrm>
            <a:off x="822960"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F1-score</a:t>
            </a:r>
          </a:p>
        </p:txBody>
      </p:sp>
      <p:sp>
        <p:nvSpPr>
          <p:cNvPr id="12" name="TextBox 11"/>
          <p:cNvSpPr txBox="1"/>
          <p:nvPr/>
        </p:nvSpPr>
        <p:spPr>
          <a:xfrm>
            <a:off x="822960"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XGBoost v3 · macro</a:t>
            </a:r>
          </a:p>
        </p:txBody>
      </p:sp>
      <p:sp>
        <p:nvSpPr>
          <p:cNvPr id="13" name="Rounded Rectangle 12"/>
          <p:cNvSpPr/>
          <p:nvPr/>
        </p:nvSpPr>
        <p:spPr>
          <a:xfrm>
            <a:off x="3425113"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7993"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5</a:t>
            </a:r>
          </a:p>
        </p:txBody>
      </p:sp>
      <p:sp>
        <p:nvSpPr>
          <p:cNvPr id="15" name="TextBox 14"/>
          <p:cNvSpPr txBox="1"/>
          <p:nvPr/>
        </p:nvSpPr>
        <p:spPr>
          <a:xfrm>
            <a:off x="3607993"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Couches</a:t>
            </a:r>
          </a:p>
        </p:txBody>
      </p:sp>
      <p:sp>
        <p:nvSpPr>
          <p:cNvPr id="16" name="TextBox 15"/>
          <p:cNvSpPr txBox="1"/>
          <p:nvPr/>
        </p:nvSpPr>
        <p:spPr>
          <a:xfrm>
            <a:off x="3607993"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Perception → App</a:t>
            </a:r>
          </a:p>
        </p:txBody>
      </p:sp>
      <p:sp>
        <p:nvSpPr>
          <p:cNvPr id="17" name="Rounded Rectangle 16"/>
          <p:cNvSpPr/>
          <p:nvPr/>
        </p:nvSpPr>
        <p:spPr>
          <a:xfrm>
            <a:off x="6210147"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3</a:t>
            </a:r>
          </a:p>
        </p:txBody>
      </p:sp>
      <p:sp>
        <p:nvSpPr>
          <p:cNvPr id="19" name="TextBox 18"/>
          <p:cNvSpPr txBox="1"/>
          <p:nvPr/>
        </p:nvSpPr>
        <p:spPr>
          <a:xfrm>
            <a:off x="6393027"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Modèles ML</a:t>
            </a:r>
          </a:p>
        </p:txBody>
      </p:sp>
      <p:sp>
        <p:nvSpPr>
          <p:cNvPr id="20" name="TextBox 19"/>
          <p:cNvSpPr txBox="1"/>
          <p:nvPr/>
        </p:nvSpPr>
        <p:spPr>
          <a:xfrm>
            <a:off x="6393027"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RF · RF · XGBoost</a:t>
            </a:r>
          </a:p>
        </p:txBody>
      </p:sp>
      <p:sp>
        <p:nvSpPr>
          <p:cNvPr id="21" name="Rounded Rectangle 20"/>
          <p:cNvSpPr/>
          <p:nvPr/>
        </p:nvSpPr>
        <p:spPr>
          <a:xfrm>
            <a:off x="8995181" y="2606040"/>
            <a:ext cx="2556433" cy="2194560"/>
          </a:xfrm>
          <a:prstGeom prst="roundRect">
            <a:avLst>
              <a:gd name="adj" fmla="val 6000"/>
            </a:avLst>
          </a:prstGeom>
          <a:solidFill>
            <a:srgbClr val="101A45">
              <a:alpha val="15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78061" y="2834640"/>
            <a:ext cx="2190673" cy="914400"/>
          </a:xfrm>
          <a:prstGeom prst="rect">
            <a:avLst/>
          </a:prstGeom>
          <a:noFill/>
        </p:spPr>
        <p:txBody>
          <a:bodyPr wrap="square" lIns="0" rIns="0" tIns="0" bIns="0" anchor="t">
            <a:spAutoFit/>
          </a:bodyPr>
          <a:lstStyle/>
          <a:p>
            <a:pPr algn="ctr">
              <a:lnSpc>
                <a:spcPct val="100000"/>
              </a:lnSpc>
            </a:pPr>
            <a:r>
              <a:rPr sz="4400" b="1" i="0">
                <a:solidFill>
                  <a:srgbClr val="FF9548"/>
                </a:solidFill>
                <a:latin typeface="Space Grotesk"/>
              </a:rPr>
              <a:t>40</a:t>
            </a:r>
          </a:p>
        </p:txBody>
      </p:sp>
      <p:sp>
        <p:nvSpPr>
          <p:cNvPr id="23" name="TextBox 22"/>
          <p:cNvSpPr txBox="1"/>
          <p:nvPr/>
        </p:nvSpPr>
        <p:spPr>
          <a:xfrm>
            <a:off x="9178061" y="3657600"/>
            <a:ext cx="2190673" cy="320040"/>
          </a:xfrm>
          <a:prstGeom prst="rect">
            <a:avLst/>
          </a:prstGeom>
          <a:noFill/>
        </p:spPr>
        <p:txBody>
          <a:bodyPr wrap="square" lIns="0" rIns="0" tIns="0" bIns="0" anchor="t">
            <a:spAutoFit/>
          </a:bodyPr>
          <a:lstStyle/>
          <a:p>
            <a:pPr algn="ctr">
              <a:lnSpc>
                <a:spcPct val="110000"/>
              </a:lnSpc>
            </a:pPr>
            <a:r>
              <a:rPr sz="1200" b="1" i="0">
                <a:solidFill>
                  <a:srgbClr val="FFFFFF"/>
                </a:solidFill>
                <a:latin typeface="Inter"/>
              </a:rPr>
              <a:t>Endpoints</a:t>
            </a:r>
          </a:p>
        </p:txBody>
      </p:sp>
      <p:sp>
        <p:nvSpPr>
          <p:cNvPr id="24" name="TextBox 23"/>
          <p:cNvSpPr txBox="1"/>
          <p:nvPr/>
        </p:nvSpPr>
        <p:spPr>
          <a:xfrm>
            <a:off x="9178061" y="3977640"/>
            <a:ext cx="2190673" cy="320040"/>
          </a:xfrm>
          <a:prstGeom prst="rect">
            <a:avLst/>
          </a:prstGeom>
          <a:noFill/>
        </p:spPr>
        <p:txBody>
          <a:bodyPr wrap="square" lIns="0" rIns="0" tIns="0" bIns="0" anchor="t">
            <a:spAutoFit/>
          </a:bodyPr>
          <a:lstStyle/>
          <a:p>
            <a:pPr algn="ctr">
              <a:lnSpc>
                <a:spcPct val="110000"/>
              </a:lnSpc>
            </a:pPr>
            <a:r>
              <a:rPr sz="900" b="0" i="0" spc="80">
                <a:solidFill>
                  <a:srgbClr val="7D8496"/>
                </a:solidFill>
                <a:latin typeface="JetBrains Mono"/>
              </a:rPr>
              <a:t>API REST + IA</a:t>
            </a:r>
          </a:p>
        </p:txBody>
      </p:sp>
      <p:sp>
        <p:nvSpPr>
          <p:cNvPr id="25" name="Rounded Rectangle 24"/>
          <p:cNvSpPr/>
          <p:nvPr/>
        </p:nvSpPr>
        <p:spPr>
          <a:xfrm>
            <a:off x="640080" y="5120640"/>
            <a:ext cx="10911535" cy="914400"/>
          </a:xfrm>
          <a:prstGeom prst="roundRect">
            <a:avLst>
              <a:gd name="adj" fmla="val 6000"/>
            </a:avLst>
          </a:prstGeom>
          <a:solidFill>
            <a:srgbClr val="101A45">
              <a:alpha val="30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20640"/>
            <a:ext cx="10911535" cy="914400"/>
          </a:xfrm>
          <a:prstGeom prst="rect">
            <a:avLst/>
          </a:prstGeom>
          <a:noFill/>
        </p:spPr>
        <p:txBody>
          <a:bodyPr wrap="square" lIns="0" rIns="0" tIns="0" bIns="0" anchor="ctr">
            <a:spAutoFit/>
          </a:bodyPr>
          <a:lstStyle/>
          <a:p>
            <a:pPr algn="ctr">
              <a:lnSpc>
                <a:spcPct val="120000"/>
              </a:lnSpc>
            </a:pPr>
            <a:r>
              <a:rPr sz="1500" b="0" i="0">
                <a:solidFill>
                  <a:srgbClr val="FFFFFF"/>
                </a:solidFill>
                <a:latin typeface="Inter"/>
              </a:rPr>
              <a:t>Chaîne complète de bout en bout — du capteur physique jusqu'à l'écran mobile.</a:t>
            </a:r>
          </a:p>
          <a:p>
            <a:pPr algn="ctr">
              <a:lnSpc>
                <a:spcPct val="120000"/>
              </a:lnSpc>
              <a:spcBef>
                <a:spcPts val="400"/>
              </a:spcBef>
            </a:pPr>
            <a:r>
              <a:rPr sz="1200" b="1" i="0" spc="220">
                <a:solidFill>
                  <a:srgbClr val="FF9548"/>
                </a:solidFill>
                <a:latin typeface="JetBrains Mono"/>
              </a:rPr>
              <a:t>PROTOTYPE OPÉRATIONNEL</a:t>
            </a:r>
          </a:p>
        </p:txBody>
      </p:sp>
      <p:sp>
        <p:nvSpPr>
          <p:cNvPr id="27" name="TextBox 26"/>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31 / 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20040"/>
            <a:ext cx="2377440" cy="292608"/>
          </a:xfrm>
          <a:prstGeom prst="roundRect">
            <a:avLst>
              <a:gd name="adj" fmla="val 50000"/>
            </a:avLst>
          </a:prstGeom>
          <a:solidFill>
            <a:srgbClr val="101A45">
              <a:alpha val="22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900" b="1" spc="140">
                <a:solidFill>
                  <a:srgbClr val="FFB37A"/>
                </a:solidFill>
                <a:latin typeface="JetBrains Mono"/>
              </a:rPr>
              <a:t>06 · CONCLUSION</a:t>
            </a:r>
          </a:p>
        </p:txBody>
      </p:sp>
      <p:sp>
        <p:nvSpPr>
          <p:cNvPr id="6" name="TextBox 5"/>
          <p:cNvSpPr txBox="1"/>
          <p:nvPr/>
        </p:nvSpPr>
        <p:spPr>
          <a:xfrm>
            <a:off x="640080" y="914400"/>
            <a:ext cx="10911535" cy="274320"/>
          </a:xfrm>
          <a:prstGeom prst="rect">
            <a:avLst/>
          </a:prstGeom>
          <a:noFill/>
        </p:spPr>
        <p:txBody>
          <a:bodyPr wrap="square" lIns="0" rIns="0" tIns="0" bIns="0" anchor="t">
            <a:spAutoFit/>
          </a:bodyPr>
          <a:lstStyle/>
          <a:p>
            <a:pPr algn="l">
              <a:lnSpc>
                <a:spcPct val="110000"/>
              </a:lnSpc>
            </a:pPr>
            <a:r>
              <a:rPr sz="1000" b="1" i="0" spc="180">
                <a:solidFill>
                  <a:srgbClr val="FF9548"/>
                </a:solidFill>
                <a:latin typeface="JetBrains Mono"/>
              </a:rPr>
              <a:t>PISTES D'ÉVOLUTION</a:t>
            </a:r>
          </a:p>
        </p:txBody>
      </p:sp>
      <p:sp>
        <p:nvSpPr>
          <p:cNvPr id="7" name="TextBox 6"/>
          <p:cNvSpPr txBox="1"/>
          <p:nvPr/>
        </p:nvSpPr>
        <p:spPr>
          <a:xfrm>
            <a:off x="640080" y="1234440"/>
            <a:ext cx="10911535" cy="914400"/>
          </a:xfrm>
          <a:prstGeom prst="rect">
            <a:avLst/>
          </a:prstGeom>
          <a:noFill/>
        </p:spPr>
        <p:txBody>
          <a:bodyPr wrap="square" lIns="0" rIns="0" tIns="0" bIns="0" anchor="t">
            <a:spAutoFit/>
          </a:bodyPr>
          <a:lstStyle/>
          <a:p>
            <a:pPr algn="l">
              <a:lnSpc>
                <a:spcPct val="105000"/>
              </a:lnSpc>
            </a:pPr>
            <a:r>
              <a:rPr sz="4400" b="1" i="0">
                <a:solidFill>
                  <a:srgbClr val="FFFFFF"/>
                </a:solidFill>
                <a:latin typeface="Space Grotesk"/>
              </a:rPr>
              <a:t>Et après ?</a:t>
            </a:r>
          </a:p>
        </p:txBody>
      </p:sp>
      <p:sp>
        <p:nvSpPr>
          <p:cNvPr id="8" name="TextBox 7"/>
          <p:cNvSpPr txBox="1"/>
          <p:nvPr/>
        </p:nvSpPr>
        <p:spPr>
          <a:xfrm>
            <a:off x="640080" y="1874519"/>
            <a:ext cx="10911535" cy="548640"/>
          </a:xfrm>
          <a:prstGeom prst="rect">
            <a:avLst/>
          </a:prstGeom>
          <a:noFill/>
        </p:spPr>
        <p:txBody>
          <a:bodyPr wrap="square" lIns="0" rIns="0" tIns="0" bIns="0" anchor="t">
            <a:spAutoFit/>
          </a:bodyPr>
          <a:lstStyle/>
          <a:p>
            <a:pPr algn="l">
              <a:lnSpc>
                <a:spcPct val="130000"/>
              </a:lnSpc>
            </a:pPr>
            <a:r>
              <a:rPr sz="1700" b="0" i="0">
                <a:solidFill>
                  <a:srgbClr val="C9D0DC"/>
                </a:solidFill>
                <a:latin typeface="Inter"/>
              </a:rPr>
              <a:t>Quatre pistes concrètes, priorisées.</a:t>
            </a:r>
          </a:p>
        </p:txBody>
      </p:sp>
      <p:sp>
        <p:nvSpPr>
          <p:cNvPr id="9" name="Rounded Rectangle 8"/>
          <p:cNvSpPr/>
          <p:nvPr/>
        </p:nvSpPr>
        <p:spPr>
          <a:xfrm>
            <a:off x="640080" y="265176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01</a:t>
            </a:r>
          </a:p>
        </p:txBody>
      </p:sp>
      <p:sp>
        <p:nvSpPr>
          <p:cNvPr id="11" name="Rounded Rectangle 10"/>
          <p:cNvSpPr/>
          <p:nvPr/>
        </p:nvSpPr>
        <p:spPr>
          <a:xfrm>
            <a:off x="4838547"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COURT TERME</a:t>
            </a:r>
          </a:p>
        </p:txBody>
      </p:sp>
      <p:sp>
        <p:nvSpPr>
          <p:cNvPr id="12" name="TextBox 11"/>
          <p:cNvSpPr txBox="1"/>
          <p:nvPr/>
        </p:nvSpPr>
        <p:spPr>
          <a:xfrm>
            <a:off x="868680" y="314553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Edge AI</a:t>
            </a:r>
          </a:p>
        </p:txBody>
      </p:sp>
      <p:sp>
        <p:nvSpPr>
          <p:cNvPr id="13" name="TextBox 12"/>
          <p:cNvSpPr txBox="1"/>
          <p:nvPr/>
        </p:nvSpPr>
        <p:spPr>
          <a:xfrm>
            <a:off x="868680" y="364845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Déployer le modèle XGBoost sur le Raspberry — décision locale sans réseau.</a:t>
            </a:r>
          </a:p>
        </p:txBody>
      </p:sp>
      <p:sp>
        <p:nvSpPr>
          <p:cNvPr id="14" name="Rounded Rectangle 13"/>
          <p:cNvSpPr/>
          <p:nvPr/>
        </p:nvSpPr>
        <p:spPr>
          <a:xfrm>
            <a:off x="6210147" y="265176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8747" y="285292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02</a:t>
            </a:r>
          </a:p>
        </p:txBody>
      </p:sp>
      <p:sp>
        <p:nvSpPr>
          <p:cNvPr id="16" name="Rounded Rectangle 15"/>
          <p:cNvSpPr/>
          <p:nvPr/>
        </p:nvSpPr>
        <p:spPr>
          <a:xfrm>
            <a:off x="10408615" y="283464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MOYEN TERME</a:t>
            </a:r>
          </a:p>
        </p:txBody>
      </p:sp>
      <p:sp>
        <p:nvSpPr>
          <p:cNvPr id="17" name="TextBox 16"/>
          <p:cNvSpPr txBox="1"/>
          <p:nvPr/>
        </p:nvSpPr>
        <p:spPr>
          <a:xfrm>
            <a:off x="6438747" y="314553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Weibull</a:t>
            </a:r>
          </a:p>
        </p:txBody>
      </p:sp>
      <p:sp>
        <p:nvSpPr>
          <p:cNvPr id="18" name="TextBox 17"/>
          <p:cNvSpPr txBox="1"/>
          <p:nvPr/>
        </p:nvSpPr>
        <p:spPr>
          <a:xfrm>
            <a:off x="6438747" y="364845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Remplacer la régression linéaire par une loi de Weibull pour la durée de vie.</a:t>
            </a:r>
          </a:p>
        </p:txBody>
      </p:sp>
      <p:sp>
        <p:nvSpPr>
          <p:cNvPr id="19" name="Rounded Rectangle 18"/>
          <p:cNvSpPr/>
          <p:nvPr/>
        </p:nvSpPr>
        <p:spPr>
          <a:xfrm>
            <a:off x="640080" y="454914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75030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03</a:t>
            </a:r>
          </a:p>
        </p:txBody>
      </p:sp>
      <p:sp>
        <p:nvSpPr>
          <p:cNvPr id="21" name="Rounded Rectangle 20"/>
          <p:cNvSpPr/>
          <p:nvPr/>
        </p:nvSpPr>
        <p:spPr>
          <a:xfrm>
            <a:off x="4838547" y="473202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MOYEN TERME</a:t>
            </a:r>
          </a:p>
        </p:txBody>
      </p:sp>
      <p:sp>
        <p:nvSpPr>
          <p:cNvPr id="22" name="TextBox 21"/>
          <p:cNvSpPr txBox="1"/>
          <p:nvPr/>
        </p:nvSpPr>
        <p:spPr>
          <a:xfrm>
            <a:off x="868680" y="504291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Calibration par machine</a:t>
            </a:r>
          </a:p>
        </p:txBody>
      </p:sp>
      <p:sp>
        <p:nvSpPr>
          <p:cNvPr id="23" name="TextBox 22"/>
          <p:cNvSpPr txBox="1"/>
          <p:nvPr/>
        </p:nvSpPr>
        <p:spPr>
          <a:xfrm>
            <a:off x="868680" y="554583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Deltas capteur spécifiques Alpha vs Gamma · F1 stratifié par modèle.</a:t>
            </a:r>
          </a:p>
        </p:txBody>
      </p:sp>
      <p:sp>
        <p:nvSpPr>
          <p:cNvPr id="24" name="Rounded Rectangle 23"/>
          <p:cNvSpPr/>
          <p:nvPr/>
        </p:nvSpPr>
        <p:spPr>
          <a:xfrm>
            <a:off x="6210147" y="4549140"/>
            <a:ext cx="5341467" cy="1668780"/>
          </a:xfrm>
          <a:prstGeom prst="roundRect">
            <a:avLst>
              <a:gd name="adj" fmla="val 6000"/>
            </a:avLst>
          </a:prstGeom>
          <a:solidFill>
            <a:srgbClr val="101A45">
              <a:alpha val="18000"/>
            </a:srgbClr>
          </a:solidFill>
          <a:ln w="9525">
            <a:solidFill>
              <a:srgbClr val="FF7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8747" y="4750308"/>
            <a:ext cx="4884267" cy="256032"/>
          </a:xfrm>
          <a:prstGeom prst="rect">
            <a:avLst/>
          </a:prstGeom>
          <a:noFill/>
        </p:spPr>
        <p:txBody>
          <a:bodyPr wrap="square" lIns="0" rIns="0" tIns="0" bIns="0" anchor="t">
            <a:spAutoFit/>
          </a:bodyPr>
          <a:lstStyle/>
          <a:p>
            <a:pPr algn="l">
              <a:lnSpc>
                <a:spcPct val="110000"/>
              </a:lnSpc>
            </a:pPr>
            <a:r>
              <a:rPr sz="1000" b="1" i="0" spc="150">
                <a:solidFill>
                  <a:srgbClr val="FF9548"/>
                </a:solidFill>
                <a:latin typeface="JetBrains Mono"/>
              </a:rPr>
              <a:t>04</a:t>
            </a:r>
          </a:p>
        </p:txBody>
      </p:sp>
      <p:sp>
        <p:nvSpPr>
          <p:cNvPr id="26" name="Rounded Rectangle 25"/>
          <p:cNvSpPr/>
          <p:nvPr/>
        </p:nvSpPr>
        <p:spPr>
          <a:xfrm>
            <a:off x="10408615" y="4732020"/>
            <a:ext cx="914400" cy="256032"/>
          </a:xfrm>
          <a:prstGeom prst="roundRect">
            <a:avLst>
              <a:gd name="adj" fmla="val 50000"/>
            </a:avLst>
          </a:prstGeom>
          <a:solidFill>
            <a:srgbClr val="FF7A1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a:lstStyle/>
          <a:p>
            <a:pPr algn="ctr"/>
            <a:r>
              <a:rPr sz="800" b="1" spc="140">
                <a:solidFill>
                  <a:srgbClr val="050B1E"/>
                </a:solidFill>
                <a:latin typeface="JetBrains Mono"/>
              </a:rPr>
              <a:t>LONG TERME</a:t>
            </a:r>
          </a:p>
        </p:txBody>
      </p:sp>
      <p:sp>
        <p:nvSpPr>
          <p:cNvPr id="27" name="TextBox 26"/>
          <p:cNvSpPr txBox="1"/>
          <p:nvPr/>
        </p:nvSpPr>
        <p:spPr>
          <a:xfrm>
            <a:off x="6438747" y="5042916"/>
            <a:ext cx="4884267"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Space Grotesk"/>
              </a:rPr>
              <a:t>Vision</a:t>
            </a:r>
          </a:p>
        </p:txBody>
      </p:sp>
      <p:sp>
        <p:nvSpPr>
          <p:cNvPr id="28" name="TextBox 27"/>
          <p:cNvSpPr txBox="1"/>
          <p:nvPr/>
        </p:nvSpPr>
        <p:spPr>
          <a:xfrm>
            <a:off x="6438747" y="5545836"/>
            <a:ext cx="4884267" cy="754380"/>
          </a:xfrm>
          <a:prstGeom prst="rect">
            <a:avLst/>
          </a:prstGeom>
          <a:noFill/>
        </p:spPr>
        <p:txBody>
          <a:bodyPr wrap="square" lIns="0" rIns="0" tIns="0" bIns="0" anchor="t">
            <a:spAutoFit/>
          </a:bodyPr>
          <a:lstStyle/>
          <a:p>
            <a:pPr algn="l">
              <a:lnSpc>
                <a:spcPct val="135000"/>
              </a:lnSpc>
            </a:pPr>
            <a:r>
              <a:rPr sz="1100" b="0" i="0">
                <a:solidFill>
                  <a:srgbClr val="C9D0DC"/>
                </a:solidFill>
                <a:latin typeface="Inter"/>
              </a:rPr>
              <a:t>Caméra + CV pour détecter les défauts de sertissage en sortie de machine.</a:t>
            </a:r>
          </a:p>
        </p:txBody>
      </p:sp>
      <p:sp>
        <p:nvSpPr>
          <p:cNvPr id="29" name="TextBox 28"/>
          <p:cNvSpPr txBox="1"/>
          <p:nvPr/>
        </p:nvSpPr>
        <p:spPr>
          <a:xfrm>
            <a:off x="10820095" y="6537960"/>
            <a:ext cx="1097280" cy="228600"/>
          </a:xfrm>
          <a:prstGeom prst="rect">
            <a:avLst/>
          </a:prstGeom>
          <a:noFill/>
        </p:spPr>
        <p:txBody>
          <a:bodyPr wrap="square" lIns="0" rIns="0" tIns="0" bIns="0" anchor="t">
            <a:spAutoFit/>
          </a:bodyPr>
          <a:lstStyle/>
          <a:p>
            <a:pPr algn="r">
              <a:lnSpc>
                <a:spcPct val="110000"/>
              </a:lnSpc>
            </a:pPr>
            <a:r>
              <a:rPr sz="900" b="0" i="0" spc="100">
                <a:solidFill>
                  <a:srgbClr val="7D8496"/>
                </a:solidFill>
                <a:latin typeface="JetBrains Mono"/>
              </a:rPr>
              <a:t>32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0" y="-2286000"/>
            <a:ext cx="8229600" cy="5486400"/>
          </a:xfrm>
          <a:prstGeom prst="ellipse">
            <a:avLst/>
          </a:prstGeom>
          <a:solidFill>
            <a:srgbClr val="101A45">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114800"/>
            <a:ext cx="7315200" cy="4572000"/>
          </a:xfrm>
          <a:prstGeom prst="ellipse">
            <a:avLst/>
          </a:prstGeom>
          <a:solidFill>
            <a:srgbClr val="FF7A1A">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0911535" cy="2286000"/>
          </a:xfrm>
          <a:prstGeom prst="rect">
            <a:avLst/>
          </a:prstGeom>
          <a:noFill/>
        </p:spPr>
        <p:txBody>
          <a:bodyPr wrap="square" lIns="0" rIns="0" tIns="0" bIns="0" anchor="t">
            <a:spAutoFit/>
          </a:bodyPr>
          <a:lstStyle/>
          <a:p>
            <a:pPr algn="ctr">
              <a:lnSpc>
                <a:spcPct val="100000"/>
              </a:lnSpc>
            </a:pPr>
            <a:r>
              <a:rPr sz="16000" b="1" i="0">
                <a:solidFill>
                  <a:srgbClr val="FFFFFF"/>
                </a:solidFill>
                <a:latin typeface="Space Grotesk"/>
              </a:rPr>
              <a:t>Merci.</a:t>
            </a:r>
          </a:p>
        </p:txBody>
      </p:sp>
      <p:sp>
        <p:nvSpPr>
          <p:cNvPr id="6" name="TextBox 5"/>
          <p:cNvSpPr txBox="1"/>
          <p:nvPr/>
        </p:nvSpPr>
        <p:spPr>
          <a:xfrm>
            <a:off x="640080" y="4023360"/>
            <a:ext cx="10911535" cy="640080"/>
          </a:xfrm>
          <a:prstGeom prst="rect">
            <a:avLst/>
          </a:prstGeom>
          <a:noFill/>
        </p:spPr>
        <p:txBody>
          <a:bodyPr wrap="square" lIns="0" rIns="0" tIns="0" bIns="0" anchor="t">
            <a:spAutoFit/>
          </a:bodyPr>
          <a:lstStyle/>
          <a:p>
            <a:pPr algn="ctr">
              <a:lnSpc>
                <a:spcPct val="110000"/>
              </a:lnSpc>
            </a:pPr>
            <a:r>
              <a:rPr sz="2400" b="0" i="0">
                <a:solidFill>
                  <a:srgbClr val="FFB37A"/>
                </a:solidFill>
                <a:latin typeface="Inter"/>
              </a:rPr>
              <a:t>Place aux questions du jury.</a:t>
            </a:r>
          </a:p>
        </p:txBody>
      </p:sp>
      <p:sp>
        <p:nvSpPr>
          <p:cNvPr id="7" name="TextBox 6"/>
          <p:cNvSpPr txBox="1"/>
          <p:nvPr/>
        </p:nvSpPr>
        <p:spPr>
          <a:xfrm>
            <a:off x="640080" y="5852160"/>
            <a:ext cx="10911535" cy="365760"/>
          </a:xfrm>
          <a:prstGeom prst="rect">
            <a:avLst/>
          </a:prstGeom>
          <a:noFill/>
        </p:spPr>
        <p:txBody>
          <a:bodyPr wrap="square" lIns="0" rIns="0" tIns="0" bIns="0" anchor="t">
            <a:spAutoFit/>
          </a:bodyPr>
          <a:lstStyle/>
          <a:p>
            <a:pPr algn="ctr">
              <a:lnSpc>
                <a:spcPct val="110000"/>
              </a:lnSpc>
            </a:pPr>
            <a:r>
              <a:rPr sz="1200" b="1" i="0" spc="250">
                <a:solidFill>
                  <a:srgbClr val="C9D0DC"/>
                </a:solidFill>
                <a:latin typeface="JetBrains Mono"/>
              </a:rPr>
              <a:t>MOUTIA BENSAAD  ·  ISET NABEUL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