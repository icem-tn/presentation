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[01] Cover  (45 s)
Bonjour à tous. Je m'appelle **Moutia Bensaad**. Je suis étudiant en Mastère 2, Systèmes Embarqués et Mobile, à l'ISET Nabeul. J'ai fait mon stage à ICEM Nabeul. Mon encadrant académique est **Monsieur Imed Hidri**. Mon encadrant société est **Monsieur Yassine Hammami**. Mon projet parle de *maintenance prédictive intelligente*. Il concerne 2 machines Komax : la **Alpha 433 H** et la **Gamma 333 PC**. L'idée est simple. On installe des capteurs sur les machines. On envoie les données à une carte Raspberry Pi. On entraîne un modèle qui prédit les pannes. On montre les alertes sur une application web et une application mobile. Voici maintenant le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[02] Plan de la présentation  (30 s)
La présentation a **6 parties**. D'abord, l'introduction et le contexte. Ensuite, l'état de l'art. Puis la conception. Après, le développement, qui est la partie principale. Puis une démonstration en direct. Et à la fin, les résultats et les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[03] Section 1 · Introduction et contexte  (5 s)
Commençons par le contexte.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[04] ICEM Nabeul  (40 s)
ICEM est une filiale du groupe **Coficab**. L'entreprise fabrique des câbles électriques pour l'industrie automobile. L'usine de Nabeul emploie plusieurs centaines de personnes. Chaque jour, elle produit des milliers de câbles. Les machines principales sont les machines **Komax**. Elles coupent et préparent les fils à grande vitesse. Si une machine tombe en panne, toute la ligne s'arrête. C'est pour ça que la maintenance prédictive est importante ici. 2 machines nous intéressent en particulier.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[05] Machines Alpha 433 H et Gamma 333 PC  (50 s)
Le projet cible 2 machines. La première est la **Komax Alpha 433 H**. C'est une machine d'entrée de gamme. Elle a **4 postes** et **6 moteurs pas-à-pas**. Son cycle a 7 étapes. La deuxième est la **Gamma 333 PC**. C'est une machine plus haut de gamme. Elle a une unité de sertissage double. Elle utilise des courroies avec une tension calibrée. Sur les 2 machines, on trouve les mêmes zones critiques : la tête de coupe, les courroies, les capteurs et l'armoire électrique. On a analysé **1 467 interventions** dans l'historique ICEM sur 5 ans. Ça nous a aidé à choisir ces zones. Mais pourquoi la maintenance actuelle ne suffit pas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[06] Problématique  (45 s)
Aujourd'hui, la maintenance à ICEM est surtout **corrective**. On répare après la panne. Il y a aussi une maintenance **préventive**. On change des pièces à date fixe. Les 2 méthodes ont des limites. La corrective coûte cher, parce que la ligne s'arrête. La préventive gaspille des pièces qui marchent encore. La maintenance **prédictive** est différente. Elle intervient au bon moment, avec les données des capteurs. Mais sans capteurs, c'est impossible. Notre projet apporte ces capteurs, le traitement des données et les interfaces. On a fixé 3 objectifs clairs.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[07] Objectifs  (40 s)
On a fixé **3 objectifs**. **Premier objectif** : installer 4 types de capteurs sur les 2 machines. Température, vibration, image thermique, et courant. **Deuxième objectif** : construire toute la chaîne, du capteur jusqu'à la notification. **Troisième objectif** : livrer 2 applications. Une application web pour le responsable maintenance. Une application mobile pour le technicien. On a aussi ajouté un module de fiabilité, pour aider aux décisions.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[08] Section 2 · État de l'art  (5 s)
Passons à l'état de l'art.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[09] Méthodologie Scrum  (35 s)
Le projet a duré **6 mois**, de mars à août 2026. On a utilisé la méthode **Scrum**. On a fait **6 sprints**. Chaque sprint traite un cas d'utilisation. Sprint 1 : l'authentification et les comptes. Sprint 2 : les machines et le parc. Sprint 3 : la maintenance et les interventions. Sprint 4 : la surveillance IoT — c'est ce sprint qui a livré les capteurs qu'on voit dans les prochaines slides. Sprint 5 : l'IA et les alertes. Sprint 6 : la fiabilité et la recommandation. À la fin de chaque sprint, on a fait une revue avec l'encadreur. On commence par les 4 types de capteurs, un par un.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[10] DHT22 · caractéristiques  (35 s)
Le **premier capteur** est le **DHT22**. C'est une petite sonde de **température**. Ses caractéristiques : elle mesure de **-40 à +80 degrés**, avec une précision de **plus ou moins un demi degré**. Elle donne aussi l'humidité. Elle coûte environ **3 euros**. Pourquoi ce choix ? Un moteur **chauffe avant de tomber en panne**. Ce capteur détecte ce signal très tôt. Il est simple, robuste, très peu cher. C'est le meilleur compromis pour surveiller un moteur.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[11] MPU-6050 · caractéristiques  (35 s)
Le **deuxième capteur** est le **MPU-6050**. Il mesure les **vibrations** sur **3 axes**. Sa plage va de **plus ou moins 2 g à 16 g**. Il a aussi un gyroscope. Il communique en **I2C**. Pourquoi ce capteur ? Parce qu'il est très **utilisé et bien documenté**. Les 3 axes donnent une signature de vibration riche. Ça permet de **distinguer** une **courroie détendue** d'un **roulement usé**. Ce sont 2 causes de panne différentes.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[12] AMG8833 · caractéristiques  (40 s)
Le **troisième capteur** est l'**AMG8833**. C'est une **caméra thermique**. Elle donne une image de chaleur en **8 par 8 pixels**. Sa plage va de **-20 à +80 degrés**. Son champ de vue est de **60 degrés**. Elle communique en **I2C**. Pourquoi ce capteur ? Parce qu'elle donne une **vision globale** de la zone chaude, **sans contact** avec la machine. La résolution est faible, mais elle suffit pour repérer un **point chaud**. C'est une alternative à une caméra FLIR à **500 euros**. L'AMG8833 coûte **30 euros**.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[13] SCT-013 · caractéristiques  (40 s)
Le **quatrième capteur** est la **pince SCT-013**. Elle mesure le **courant électrique**. C'est une pince **non-invasive** : on ne coupe pas le câble, on la clippe simplement autour. On utilise la variante **SCT-013-000**. Elle mesure jusqu'à **100 ampères**. Elle donne un petit courant, de **0 à 50 milliampères**. Une **résistance de 33 ohms** le transforme en tension. On le lit avec un petit convertisseur, le **ADS1015**, en 12 bits. Pourquoi ce choix ? Parce que le **courant total** de l'armoire reflète l'état de tous les moteurs. Un moteur qui force **tire plus de courant**. Cette signature électrique complète bien les autres capteurs. Ces 4 types de capteurs s'appuient sur 3 blocs logiciels.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[14] Stack technique  (35 s)
On a utilisé **3 blocs** logiciels. Pour le **backend** : Node.js, Express, MongoDB, et JWT pour l'authentification. Pour l'**IA** : Python, FastAPI, et scikit-learn. Nos modèles sont Random Forest et XGBoost. Pour le **frontend** : React pour le web, Flutter pour le mobile. On utilise aussi Firebase pour les notifications push. Tout est déployé sur le serveur interne d'ICEM, pas sur le cloud. Voyons comment ces briques s'organisent dans l'architecture.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[15] Section 3 · Conception  (5 s)
Voici la conception.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[16] Architecture 5 couches  (50 s)
L'architecture a **5 couches**. **1** : la couche perception. Ce sont les 5 capteurs sur la machine. **2** : la couche edge. C'est la Raspberry Pi. Elle lit les capteurs et envoie les mesures au serveur en HTTP, toutes les 60 secondes. **3** : la couche backend. C'est le serveur Node.js avec la base MongoDB. Il garde toutes les données. **4** : la couche intelligence. C'est un microservice FastAPI avec 2 modules : la prédiction et la fiabilité. **5** : la couche application. Le web et le mobile montrent les résultats et les alertes. Chaque couche a son rôle. On peut changer une couche sans casser les autres. Zoom d'abord sur la Raspberry Pi, la carte terrain.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[17] Raspberry Pi terrain  (40 s)
La Raspberry Pi est notre carte terrain. Elle lit les **5 capteurs**. 3 composants sont sur le même bus I2C : le MPU-6050, l'AMG8833, et le convertisseur de la pince SCT-013. Les 2 DHT22 utilisent 2 broches GPIO séparées. Un script Python lit les capteurs toutes les **60 secondes**. Puis il envoie les mesures en **JSON** au serveur. Si l'envoi échoue, il réessaie automatiquement. Un service Linux redémarre le script si besoin. Voyons maintenant où chaque capteur est placé sur la machine.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[18] DHT22 · emplacement  (30 s)
Voici **où on a placé le DHT22**. On le voit ici, **fixé sur le corps du servomoteur**. Il est en contact direct avec le métal. On a mis **un deuxième DHT22** dans l'**armoire électrique**. Il donne la température ambiante. Pourquoi cet endroit ? Parce que **le moteur chauffe en premier** quand un roulement fatigue. Un contact direct donne une lecture **rapide et fiable**.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[19] MPU-6050 · emplacement  (30 s)
Voici **où on a placé le MPU-6050**. On le voit ici, **collé sur le carter métallique**. Il est très près de la **tête de coupe**. Pourquoi cet endroit ? Parce que le signal de vibration **se perd très vite** dans l'air ou dans une gaine. Un contact direct donne un **signal propre**. On capte ainsi la **vraie signature** de la mécanique.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[20] AMG8833 · emplacement  (35 s)
Voici **où on a placé l'AMG8833**. On la voit ici, **fixée en hauteur** sur le châssis de la machine. Elle est à environ **50 centimètres**. Elle regarde vers le bas, sur la **tête de coupe** et la **zone Gommino**. Pourquoi cet endroit ? Parce que son champ de **60 degrés** couvre toute la **zone chaude** d'un seul coup. Elle surveille le Gommino et le carter de la tête de coupe. Et elle ne touche **aucune pièce en mouvement**.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[21] SCT-013 · emplacement  (30 s)
Voici **où on a placé la SCT-013**. On la voit ici, la **pince bleue**, clampée autour d'un câble à l'intérieur de l'armoire. Le signal est ramené au **Raspberry Pi** (le paquet essai en bas) par le convertisseur **ADS1015** posé sur la breadboard. Pourquoi cet endroit ? Parce que ce câble porte le **courant tiré par les moteurs**. **Une seule pince** suffit pour voir l'état électrique. La pose se fait **sans arrêter la production**. La couche physique est posée. Passons à la modélisation logicielle.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[22] Diagramme de cas d'utilisation  (30 s)
Voici le **diagramme de cas d'utilisation**. Il montre **6 acteurs** et **12 cas d'utilisation**. 3 acteurs humains. Le responsable maintenance gère les machines, les comptes et la maintenance. Le chef de ligne surveille les machines et les alertes. Le technicien reçoit les alertes et gère les interventions. 3 acteurs système. L'IA maintenance analyse les pannes. L'IA fiabilité analyse chaque machine et recommande de la garder ou de la renouveler. L'IoT collecte les données des capteurs. Pour chaque action, l'utilisateur doit d'abord **s'authentifier**. Ces cas d'utilisation s'appuient sur 9 classes.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[23] Diagramme de classes  (30 s)
Voici le **diagramme de classes**. Il montre **9 classes**. 5 classes pour le métier : utilisateur, ligne, machine, maintenance et alerte. 2 classes pour l'IoT : capteur et Raspberry Pi. 2 classes pour l'IA : analyse des pannes et analyse de fiabilité. Ces classes structurent la base MongoDB. Un choix important : pour la maintenance, on a utilisé **une seule classe** avec un champ *type*. Ce champ a 5 valeurs : préventive, corrective, prédictive, checklist journalière et checklist préventive. C'est plus simple que 5 classes séparées. Ces entités s'enchaînent en temps réel selon un pipeline précis.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[24] Pipeline temps réel  (45 s)
Le pipeline a **5 étapes**. **1** : la Raspberry Pi lit les capteurs toutes les **10 à 60 secondes**. **2** : le backend enregistre la mesure dans MongoDB. **3** : toutes les **5 minutes**, il envoie à l'IA les mesures des **2 dernières heures**. **4** : l'IA répond avec la probabilité de panne et la cause. **5** : à **60 %**, une alerte. À **80 %**, une alerte critique et une intervention prédictive. Le responsable reçoit une notification.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[25] Section 4 · Développement  (5 s)
Passons au développement.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[26] Backend Express + MongoDB  (45 s)
Le backend est une API REST, avec Node.js et Express. MongoDB garde **9 collections principales**. Ce sont les mêmes que dans le diagramme de classes. Il y a aussi les checklists et le planning. L'authentification utilise **JWT**. Il y a **3 rôles** : responsable, chef de ligne, et technicien. Côté API, un middleware vérifie le rôle sur chaque route. Côté interface, un seul fichier de permissions cache les pages et les boutons selon le rôle. La Raspberry Pi utilise une clé d'API spéciale. Un script *seed* initialise la base avec des données de démonstration. Toutes les 5 minutes, le backend envoie à l'IA les mesures des 2 dernières heures.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[27] Microservice IA FastAPI  (45 s)
Le microservice IA est en Python, avec FastAPI. On a **3 modèles**. Le **Random Forest** dit **pourquoi** : la cause parmi 5. Le **XGBoost** dit **quand** : la probabilité de panne dans les 24 heures. La **régression linéaire** calcule la fiabilité sur 3 mois. Voyons sur quoi on a entraîné ces modèles.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[28] Dataset d'entraînement  (35 s)
Tout commence avec l'historique ICEM : **1 467 interventions**, surtout en 2022. Seul, il ne suffit pas : le score est **0,15**, car il n'a pas de mesures. Mais il nous dit où mettre les capteurs, les horaires et la durée des arrêts. Avec ça, on a créé **112 680 mesures** : 12 mois, 2 machines, **69 pannes**. Pour tester, on coupe **par semaines**.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[29] Causes suivies  (30 s)
Le modèle suit **5 causes**. Ce sont les pannes qu'un capteur peut voir. **Vibration** : usure et courroie. **Chaleur du moteur** : ventilation sale et surcharge. Pour la surcharge, le courant monte aussi. **Chaleur de l'armoire** : ventilateur ou filtre en panne. Les autres pannes, l'IHM Komax les montre déjà.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[30] Performances Random Forest  (35 s)
Le Random Forest a **0,85** de F1 et **96 %** de bonnes réponses. La meilleure cause : la surchauffe armoire, **0,95**. La plus difficile : l'usure, **0,67**, car elle monte lentement. Quand le modèle donne une cause, il a presque toujours raison. Voyons les erreurs.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[31] Matrice de confusion  (30 s)
Chaque ligne montre où vont les cas réels d'une cause. Les erreurs sont logiques. Souvent, la panne est lue « Normal » : au début, elle est trop faible. La courroie et l'usure se mélangent un peu : les 2 vibrent. La surcharge et la ventilation aussi : les 2 chauffent le moteur. Passons au XGBoost.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[32] XGBoost · panne dans 24 h  (30 s)
Le XGBoost a une **AUC de 0,94**. Le plus important : sur **69 pannes**, les **69** sont annoncées, environ **20 heures** avant. Sur une machine normale, on a à peu près **1 fausse alerte par semaine**. À **60 %**, une alerte. À **80 %**, une intervention prédictive. Ces prédictions arrivent ensuite sur le web.</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Inter"/>
              </a:rPr>
              <a:t>[33] Fonctionnalités web  (30 s)
L'application web sert les **3 profils** : responsable, chef de ligne et technicien. Elle a **6 modules**. Le tableau de bord montre MTBF, MTTR et disponibilité. La page Équipements montre les 13 machines et les capteurs en direct. Dans les interventions, un bouton lance le diagnostic IA. Il y a aussi la maintenance préventive, le suivi journalier, la fiabilité avec rapport PDF, et les alertes. Voici quelques écrans.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0080"/>
            <a:ext cx="10911535" cy="292608"/>
          </a:xfrm>
          <a:prstGeom prst="rect">
            <a:avLst/>
          </a:prstGeom>
          <a:noFill/>
        </p:spPr>
        <p:txBody>
          <a:bodyPr wrap="square" lIns="0" rIns="0" tIns="0" bIns="0" anchor="t">
            <a:spAutoFit/>
          </a:bodyPr>
          <a:lstStyle/>
          <a:p>
            <a:pPr algn="l">
              <a:lnSpc>
                <a:spcPct val="110000"/>
              </a:lnSpc>
            </a:pPr>
            <a:r>
              <a:rPr sz="1100" b="1" i="0" spc="200">
                <a:solidFill>
                  <a:srgbClr val="FF9548"/>
                </a:solidFill>
                <a:latin typeface="JetBrains Mono"/>
              </a:rPr>
              <a:t>PROJET DE FIN D'ÉTUDES · MASTÈRE 2</a:t>
            </a:r>
          </a:p>
        </p:txBody>
      </p:sp>
      <p:sp>
        <p:nvSpPr>
          <p:cNvPr id="6" name="TextBox 5"/>
          <p:cNvSpPr txBox="1"/>
          <p:nvPr/>
        </p:nvSpPr>
        <p:spPr>
          <a:xfrm>
            <a:off x="640080" y="1463040"/>
            <a:ext cx="10911535" cy="1280160"/>
          </a:xfrm>
          <a:prstGeom prst="rect">
            <a:avLst/>
          </a:prstGeom>
          <a:noFill/>
        </p:spPr>
        <p:txBody>
          <a:bodyPr wrap="square" lIns="0" rIns="0" tIns="0" bIns="0" anchor="t">
            <a:spAutoFit/>
          </a:bodyPr>
          <a:lstStyle/>
          <a:p>
            <a:pPr algn="l">
              <a:lnSpc>
                <a:spcPct val="100000"/>
              </a:lnSpc>
            </a:pPr>
            <a:r>
              <a:rPr sz="7200" b="1" i="0">
                <a:solidFill>
                  <a:srgbClr val="FFFFFF"/>
                </a:solidFill>
                <a:latin typeface="Space Grotesk"/>
              </a:rPr>
              <a:t>Maintenance prédictive.</a:t>
            </a:r>
          </a:p>
        </p:txBody>
      </p:sp>
      <p:sp>
        <p:nvSpPr>
          <p:cNvPr id="7" name="TextBox 6"/>
          <p:cNvSpPr txBox="1"/>
          <p:nvPr/>
        </p:nvSpPr>
        <p:spPr>
          <a:xfrm>
            <a:off x="640080" y="2834640"/>
            <a:ext cx="10911535" cy="548640"/>
          </a:xfrm>
          <a:prstGeom prst="rect">
            <a:avLst/>
          </a:prstGeom>
          <a:noFill/>
        </p:spPr>
        <p:txBody>
          <a:bodyPr wrap="square" lIns="0" rIns="0" tIns="0" bIns="0" anchor="t">
            <a:spAutoFit/>
          </a:bodyPr>
          <a:lstStyle/>
          <a:p>
            <a:pPr algn="l">
              <a:lnSpc>
                <a:spcPct val="110000"/>
              </a:lnSpc>
            </a:pPr>
            <a:r>
              <a:rPr sz="2200" b="0" i="0">
                <a:solidFill>
                  <a:srgbClr val="C9D0DC"/>
                </a:solidFill>
                <a:latin typeface="Inter"/>
              </a:rPr>
              <a:t>Machines Komax Alpha 433 H &amp; Gamma 333 PC.</a:t>
            </a:r>
          </a:p>
        </p:txBody>
      </p:sp>
      <p:sp>
        <p:nvSpPr>
          <p:cNvPr id="8" name="TextBox 7"/>
          <p:cNvSpPr txBox="1"/>
          <p:nvPr/>
        </p:nvSpPr>
        <p:spPr>
          <a:xfrm>
            <a:off x="640080" y="3977639"/>
            <a:ext cx="4572000" cy="1645920"/>
          </a:xfrm>
          <a:prstGeom prst="rect">
            <a:avLst/>
          </a:prstGeom>
          <a:noFill/>
        </p:spPr>
        <p:txBody>
          <a:bodyPr wrap="square" lIns="0" rIns="0" tIns="0" bIns="0" anchor="t">
            <a:spAutoFit/>
          </a:bodyPr>
          <a:lstStyle/>
          <a:p>
            <a:pPr algn="l">
              <a:lnSpc>
                <a:spcPct val="120000"/>
              </a:lnSpc>
            </a:pPr>
            <a:r>
              <a:rPr sz="1400" b="1" i="0" spc="120">
                <a:solidFill>
                  <a:srgbClr val="FFFFFF"/>
                </a:solidFill>
                <a:latin typeface="Space Grotesk"/>
              </a:rPr>
              <a:t>MOUTIA BENSAAD</a:t>
            </a:r>
          </a:p>
          <a:p>
            <a:pPr algn="l">
              <a:lnSpc>
                <a:spcPct val="120000"/>
              </a:lnSpc>
              <a:spcBef>
                <a:spcPts val="400"/>
              </a:spcBef>
            </a:pPr>
            <a:r>
              <a:rPr sz="1100" b="0" i="0">
                <a:solidFill>
                  <a:srgbClr val="C9D0DC"/>
                </a:solidFill>
                <a:latin typeface="Inter"/>
              </a:rPr>
              <a:t>ISET Nabeul · Mastère 2 Systèmes Embarqués et Mobile</a:t>
            </a:r>
          </a:p>
          <a:p>
            <a:pPr algn="l">
              <a:lnSpc>
                <a:spcPct val="120000"/>
              </a:lnSpc>
            </a:pPr>
            <a:r>
              <a:rPr sz="600" b="0" i="0">
                <a:solidFill>
                  <a:srgbClr val="FFFFFF"/>
                </a:solidFill>
                <a:latin typeface="Inter"/>
              </a:rPr>
              <a:t> </a:t>
            </a:r>
          </a:p>
          <a:p>
            <a:pPr algn="l">
              <a:lnSpc>
                <a:spcPct val="120000"/>
              </a:lnSpc>
            </a:pPr>
            <a:r>
              <a:rPr sz="1100" b="0" i="0">
                <a:solidFill>
                  <a:srgbClr val="FFB37A"/>
                </a:solidFill>
                <a:latin typeface="Inter"/>
              </a:rPr>
              <a:t>Encadrant académique  ·  M. Imed Hidri</a:t>
            </a:r>
          </a:p>
          <a:p>
            <a:pPr algn="l">
              <a:lnSpc>
                <a:spcPct val="120000"/>
              </a:lnSpc>
            </a:pPr>
            <a:r>
              <a:rPr sz="1100" b="0" i="0">
                <a:solidFill>
                  <a:srgbClr val="FFB37A"/>
                </a:solidFill>
                <a:latin typeface="Inter"/>
              </a:rPr>
              <a:t>Encadrant société  ·  M. Yassine Hammami</a:t>
            </a:r>
          </a:p>
        </p:txBody>
      </p:sp>
      <p:sp>
        <p:nvSpPr>
          <p:cNvPr id="9" name="Rounded Rectangle 8"/>
          <p:cNvSpPr/>
          <p:nvPr/>
        </p:nvSpPr>
        <p:spPr>
          <a:xfrm>
            <a:off x="6858000" y="4114800"/>
            <a:ext cx="1554480" cy="1280160"/>
          </a:xfrm>
          <a:prstGeom prst="roundRect">
            <a:avLst>
              <a:gd name="adj" fmla="val 6000"/>
            </a:avLst>
          </a:prstGeom>
          <a:solidFill>
            <a:srgbClr val="101A45">
              <a:alpha val="20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4251960"/>
            <a:ext cx="1554480" cy="502920"/>
          </a:xfrm>
          <a:prstGeom prst="rect">
            <a:avLst/>
          </a:prstGeom>
          <a:noFill/>
        </p:spPr>
        <p:txBody>
          <a:bodyPr wrap="square" lIns="0" rIns="0" tIns="0" bIns="0" anchor="t">
            <a:spAutoFit/>
          </a:bodyPr>
          <a:lstStyle/>
          <a:p>
            <a:pPr algn="ctr">
              <a:lnSpc>
                <a:spcPct val="110000"/>
              </a:lnSpc>
            </a:pPr>
            <a:r>
              <a:rPr sz="2600" b="1" i="0">
                <a:solidFill>
                  <a:srgbClr val="FF9548"/>
                </a:solidFill>
                <a:latin typeface="Space Grotesk"/>
              </a:rPr>
              <a:t>40 ans</a:t>
            </a:r>
          </a:p>
        </p:txBody>
      </p:sp>
      <p:sp>
        <p:nvSpPr>
          <p:cNvPr id="11" name="TextBox 10"/>
          <p:cNvSpPr txBox="1"/>
          <p:nvPr/>
        </p:nvSpPr>
        <p:spPr>
          <a:xfrm>
            <a:off x="6858000" y="4800600"/>
            <a:ext cx="1554480" cy="365760"/>
          </a:xfrm>
          <a:prstGeom prst="rect">
            <a:avLst/>
          </a:prstGeom>
          <a:noFill/>
        </p:spPr>
        <p:txBody>
          <a:bodyPr wrap="square" lIns="0" rIns="0" tIns="0" bIns="0" anchor="t">
            <a:spAutoFit/>
          </a:bodyPr>
          <a:lstStyle/>
          <a:p>
            <a:pPr algn="ctr">
              <a:lnSpc>
                <a:spcPct val="110000"/>
              </a:lnSpc>
            </a:pPr>
            <a:r>
              <a:rPr sz="1100" b="0" i="0">
                <a:solidFill>
                  <a:srgbClr val="C9D0DC"/>
                </a:solidFill>
                <a:latin typeface="Inter"/>
              </a:rPr>
              <a:t>d'expérience</a:t>
            </a:r>
          </a:p>
        </p:txBody>
      </p:sp>
      <p:sp>
        <p:nvSpPr>
          <p:cNvPr id="12" name="Rounded Rectangle 11"/>
          <p:cNvSpPr/>
          <p:nvPr/>
        </p:nvSpPr>
        <p:spPr>
          <a:xfrm>
            <a:off x="8549640" y="4114800"/>
            <a:ext cx="1554480" cy="1280160"/>
          </a:xfrm>
          <a:prstGeom prst="roundRect">
            <a:avLst>
              <a:gd name="adj" fmla="val 6000"/>
            </a:avLst>
          </a:prstGeom>
          <a:solidFill>
            <a:srgbClr val="101A45">
              <a:alpha val="20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49640" y="4251960"/>
            <a:ext cx="1554480" cy="502920"/>
          </a:xfrm>
          <a:prstGeom prst="rect">
            <a:avLst/>
          </a:prstGeom>
          <a:noFill/>
        </p:spPr>
        <p:txBody>
          <a:bodyPr wrap="square" lIns="0" rIns="0" tIns="0" bIns="0" anchor="t">
            <a:spAutoFit/>
          </a:bodyPr>
          <a:lstStyle/>
          <a:p>
            <a:pPr algn="ctr">
              <a:lnSpc>
                <a:spcPct val="110000"/>
              </a:lnSpc>
            </a:pPr>
            <a:r>
              <a:rPr sz="2600" b="1" i="0">
                <a:solidFill>
                  <a:srgbClr val="FF9548"/>
                </a:solidFill>
                <a:latin typeface="Space Grotesk"/>
              </a:rPr>
              <a:t>1600+</a:t>
            </a:r>
          </a:p>
        </p:txBody>
      </p:sp>
      <p:sp>
        <p:nvSpPr>
          <p:cNvPr id="14" name="TextBox 13"/>
          <p:cNvSpPr txBox="1"/>
          <p:nvPr/>
        </p:nvSpPr>
        <p:spPr>
          <a:xfrm>
            <a:off x="8549640" y="4800600"/>
            <a:ext cx="1554480" cy="365760"/>
          </a:xfrm>
          <a:prstGeom prst="rect">
            <a:avLst/>
          </a:prstGeom>
          <a:noFill/>
        </p:spPr>
        <p:txBody>
          <a:bodyPr wrap="square" lIns="0" rIns="0" tIns="0" bIns="0" anchor="t">
            <a:spAutoFit/>
          </a:bodyPr>
          <a:lstStyle/>
          <a:p>
            <a:pPr algn="ctr">
              <a:lnSpc>
                <a:spcPct val="110000"/>
              </a:lnSpc>
            </a:pPr>
            <a:r>
              <a:rPr sz="1100" b="0" i="0">
                <a:solidFill>
                  <a:srgbClr val="C9D0DC"/>
                </a:solidFill>
                <a:latin typeface="Inter"/>
              </a:rPr>
              <a:t>salariés</a:t>
            </a:r>
          </a:p>
        </p:txBody>
      </p:sp>
      <p:sp>
        <p:nvSpPr>
          <p:cNvPr id="15" name="Rounded Rectangle 14"/>
          <p:cNvSpPr/>
          <p:nvPr/>
        </p:nvSpPr>
        <p:spPr>
          <a:xfrm>
            <a:off x="10241280" y="4114800"/>
            <a:ext cx="1554480" cy="1280160"/>
          </a:xfrm>
          <a:prstGeom prst="roundRect">
            <a:avLst>
              <a:gd name="adj" fmla="val 6000"/>
            </a:avLst>
          </a:prstGeom>
          <a:solidFill>
            <a:srgbClr val="101A45">
              <a:alpha val="20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0" y="4251960"/>
            <a:ext cx="1554480" cy="502920"/>
          </a:xfrm>
          <a:prstGeom prst="rect">
            <a:avLst/>
          </a:prstGeom>
          <a:noFill/>
        </p:spPr>
        <p:txBody>
          <a:bodyPr wrap="square" lIns="0" rIns="0" tIns="0" bIns="0" anchor="t">
            <a:spAutoFit/>
          </a:bodyPr>
          <a:lstStyle/>
          <a:p>
            <a:pPr algn="ctr">
              <a:lnSpc>
                <a:spcPct val="110000"/>
              </a:lnSpc>
            </a:pPr>
            <a:r>
              <a:rPr sz="2600" b="1" i="0">
                <a:solidFill>
                  <a:srgbClr val="FF9548"/>
                </a:solidFill>
                <a:latin typeface="Space Grotesk"/>
              </a:rPr>
              <a:t>3</a:t>
            </a:r>
          </a:p>
        </p:txBody>
      </p:sp>
      <p:sp>
        <p:nvSpPr>
          <p:cNvPr id="17" name="TextBox 16"/>
          <p:cNvSpPr txBox="1"/>
          <p:nvPr/>
        </p:nvSpPr>
        <p:spPr>
          <a:xfrm>
            <a:off x="10241280" y="4800600"/>
            <a:ext cx="1554480" cy="365760"/>
          </a:xfrm>
          <a:prstGeom prst="rect">
            <a:avLst/>
          </a:prstGeom>
          <a:noFill/>
        </p:spPr>
        <p:txBody>
          <a:bodyPr wrap="square" lIns="0" rIns="0" tIns="0" bIns="0" anchor="t">
            <a:spAutoFit/>
          </a:bodyPr>
          <a:lstStyle/>
          <a:p>
            <a:pPr algn="ctr">
              <a:lnSpc>
                <a:spcPct val="110000"/>
              </a:lnSpc>
            </a:pPr>
            <a:r>
              <a:rPr sz="1100" b="0" i="0">
                <a:solidFill>
                  <a:srgbClr val="C9D0DC"/>
                </a:solidFill>
                <a:latin typeface="Inter"/>
              </a:rPr>
              <a:t>secteurs</a:t>
            </a:r>
          </a:p>
        </p:txBody>
      </p:sp>
      <p:sp>
        <p:nvSpPr>
          <p:cNvPr id="18" name="TextBox 17"/>
          <p:cNvSpPr txBox="1"/>
          <p:nvPr/>
        </p:nvSpPr>
        <p:spPr>
          <a:xfrm>
            <a:off x="640080" y="6492240"/>
            <a:ext cx="10911535" cy="274320"/>
          </a:xfrm>
          <a:prstGeom prst="rect">
            <a:avLst/>
          </a:prstGeom>
          <a:noFill/>
        </p:spPr>
        <p:txBody>
          <a:bodyPr wrap="square" lIns="0" rIns="0" tIns="0" bIns="0" anchor="t">
            <a:spAutoFit/>
          </a:bodyPr>
          <a:lstStyle/>
          <a:p>
            <a:pPr algn="ctr">
              <a:lnSpc>
                <a:spcPct val="110000"/>
              </a:lnSpc>
            </a:pPr>
            <a:r>
              <a:rPr sz="1000" b="0" i="0" spc="180">
                <a:solidFill>
                  <a:srgbClr val="7D8496"/>
                </a:solidFill>
                <a:latin typeface="JetBrains Mono"/>
              </a:rPr>
              <a:t>ISET NABEUL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PLAN DE LA PRÉSENTATION</a:t>
            </a:r>
          </a:p>
        </p:txBody>
      </p:sp>
      <p:sp>
        <p:nvSpPr>
          <p:cNvPr id="6" name="TextBox 5"/>
          <p:cNvSpPr txBox="1"/>
          <p:nvPr/>
        </p:nvSpPr>
        <p:spPr>
          <a:xfrm>
            <a:off x="640080" y="914400"/>
            <a:ext cx="10911535" cy="914400"/>
          </a:xfrm>
          <a:prstGeom prst="rect">
            <a:avLst/>
          </a:prstGeom>
          <a:noFill/>
        </p:spPr>
        <p:txBody>
          <a:bodyPr wrap="square" lIns="0" rIns="0" tIns="0" bIns="0" anchor="t">
            <a:spAutoFit/>
          </a:bodyPr>
          <a:lstStyle/>
          <a:p>
            <a:pPr algn="l">
              <a:lnSpc>
                <a:spcPct val="105000"/>
              </a:lnSpc>
            </a:pPr>
            <a:r>
              <a:rPr sz="4800" b="1" i="0">
                <a:solidFill>
                  <a:srgbClr val="FFFFFF"/>
                </a:solidFill>
                <a:latin typeface="Space Grotesk"/>
              </a:rPr>
              <a:t>Six étapes.</a:t>
            </a:r>
          </a:p>
        </p:txBody>
      </p:sp>
      <p:sp>
        <p:nvSpPr>
          <p:cNvPr id="7" name="TextBox 6"/>
          <p:cNvSpPr txBox="1"/>
          <p:nvPr/>
        </p:nvSpPr>
        <p:spPr>
          <a:xfrm>
            <a:off x="640080" y="1691640"/>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Six sections, une progression logique.</a:t>
            </a:r>
          </a:p>
        </p:txBody>
      </p:sp>
      <p:sp>
        <p:nvSpPr>
          <p:cNvPr id="8" name="Rounded Rectangle 7"/>
          <p:cNvSpPr/>
          <p:nvPr/>
        </p:nvSpPr>
        <p:spPr>
          <a:xfrm>
            <a:off x="640080" y="2468880"/>
            <a:ext cx="3503066" cy="177393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670048"/>
            <a:ext cx="3045866"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01</a:t>
            </a:r>
          </a:p>
        </p:txBody>
      </p:sp>
      <p:sp>
        <p:nvSpPr>
          <p:cNvPr id="10" name="TextBox 9"/>
          <p:cNvSpPr txBox="1"/>
          <p:nvPr/>
        </p:nvSpPr>
        <p:spPr>
          <a:xfrm>
            <a:off x="868680" y="2962656"/>
            <a:ext cx="3045866"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Introduction et contexte</a:t>
            </a:r>
          </a:p>
        </p:txBody>
      </p:sp>
      <p:sp>
        <p:nvSpPr>
          <p:cNvPr id="11" name="TextBox 10"/>
          <p:cNvSpPr txBox="1"/>
          <p:nvPr/>
        </p:nvSpPr>
        <p:spPr>
          <a:xfrm>
            <a:off x="868680" y="3465576"/>
            <a:ext cx="3045866" cy="859536"/>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ICEM · machines · problématique</a:t>
            </a:r>
          </a:p>
        </p:txBody>
      </p:sp>
      <p:sp>
        <p:nvSpPr>
          <p:cNvPr id="12" name="Rounded Rectangle 11"/>
          <p:cNvSpPr/>
          <p:nvPr/>
        </p:nvSpPr>
        <p:spPr>
          <a:xfrm>
            <a:off x="4344314" y="2468880"/>
            <a:ext cx="3503066" cy="177393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914" y="2670048"/>
            <a:ext cx="3045866"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02</a:t>
            </a:r>
          </a:p>
        </p:txBody>
      </p:sp>
      <p:sp>
        <p:nvSpPr>
          <p:cNvPr id="14" name="TextBox 13"/>
          <p:cNvSpPr txBox="1"/>
          <p:nvPr/>
        </p:nvSpPr>
        <p:spPr>
          <a:xfrm>
            <a:off x="4572914" y="2962656"/>
            <a:ext cx="3045866"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État de l'art</a:t>
            </a:r>
          </a:p>
        </p:txBody>
      </p:sp>
      <p:sp>
        <p:nvSpPr>
          <p:cNvPr id="15" name="TextBox 14"/>
          <p:cNvSpPr txBox="1"/>
          <p:nvPr/>
        </p:nvSpPr>
        <p:spPr>
          <a:xfrm>
            <a:off x="4572914" y="3465576"/>
            <a:ext cx="3045866" cy="859536"/>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Scrum · matériels · stack</a:t>
            </a:r>
          </a:p>
        </p:txBody>
      </p:sp>
      <p:sp>
        <p:nvSpPr>
          <p:cNvPr id="16" name="Rounded Rectangle 15"/>
          <p:cNvSpPr/>
          <p:nvPr/>
        </p:nvSpPr>
        <p:spPr>
          <a:xfrm>
            <a:off x="8048548" y="2468880"/>
            <a:ext cx="3503066" cy="177393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7148" y="2670048"/>
            <a:ext cx="3045866"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03</a:t>
            </a:r>
          </a:p>
        </p:txBody>
      </p:sp>
      <p:sp>
        <p:nvSpPr>
          <p:cNvPr id="18" name="TextBox 17"/>
          <p:cNvSpPr txBox="1"/>
          <p:nvPr/>
        </p:nvSpPr>
        <p:spPr>
          <a:xfrm>
            <a:off x="8277148" y="2962656"/>
            <a:ext cx="3045866"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Conception</a:t>
            </a:r>
          </a:p>
        </p:txBody>
      </p:sp>
      <p:sp>
        <p:nvSpPr>
          <p:cNvPr id="19" name="TextBox 18"/>
          <p:cNvSpPr txBox="1"/>
          <p:nvPr/>
        </p:nvSpPr>
        <p:spPr>
          <a:xfrm>
            <a:off x="8277148" y="3465576"/>
            <a:ext cx="3045866" cy="859536"/>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Architecture 5 couches · UML · Pipeline</a:t>
            </a:r>
          </a:p>
        </p:txBody>
      </p:sp>
      <p:sp>
        <p:nvSpPr>
          <p:cNvPr id="20" name="Rounded Rectangle 19"/>
          <p:cNvSpPr/>
          <p:nvPr/>
        </p:nvSpPr>
        <p:spPr>
          <a:xfrm>
            <a:off x="640080" y="4443984"/>
            <a:ext cx="3503066" cy="177393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645152"/>
            <a:ext cx="3045866"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04</a:t>
            </a:r>
          </a:p>
        </p:txBody>
      </p:sp>
      <p:sp>
        <p:nvSpPr>
          <p:cNvPr id="22" name="TextBox 21"/>
          <p:cNvSpPr txBox="1"/>
          <p:nvPr/>
        </p:nvSpPr>
        <p:spPr>
          <a:xfrm>
            <a:off x="868680" y="4937760"/>
            <a:ext cx="3045866"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Développement</a:t>
            </a:r>
          </a:p>
        </p:txBody>
      </p:sp>
      <p:sp>
        <p:nvSpPr>
          <p:cNvPr id="23" name="TextBox 22"/>
          <p:cNvSpPr txBox="1"/>
          <p:nvPr/>
        </p:nvSpPr>
        <p:spPr>
          <a:xfrm>
            <a:off x="868680" y="5440680"/>
            <a:ext cx="3045866" cy="859536"/>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Backend · IA · web · mobile · déploiement</a:t>
            </a:r>
          </a:p>
        </p:txBody>
      </p:sp>
      <p:sp>
        <p:nvSpPr>
          <p:cNvPr id="24" name="Rounded Rectangle 23"/>
          <p:cNvSpPr/>
          <p:nvPr/>
        </p:nvSpPr>
        <p:spPr>
          <a:xfrm>
            <a:off x="4344314" y="4443984"/>
            <a:ext cx="3503066" cy="177393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914" y="4645152"/>
            <a:ext cx="3045866"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05</a:t>
            </a:r>
          </a:p>
        </p:txBody>
      </p:sp>
      <p:sp>
        <p:nvSpPr>
          <p:cNvPr id="26" name="TextBox 25"/>
          <p:cNvSpPr txBox="1"/>
          <p:nvPr/>
        </p:nvSpPr>
        <p:spPr>
          <a:xfrm>
            <a:off x="4572914" y="4937760"/>
            <a:ext cx="3045866"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Démonstration</a:t>
            </a:r>
          </a:p>
        </p:txBody>
      </p:sp>
      <p:sp>
        <p:nvSpPr>
          <p:cNvPr id="27" name="TextBox 26"/>
          <p:cNvSpPr txBox="1"/>
          <p:nvPr/>
        </p:nvSpPr>
        <p:spPr>
          <a:xfrm>
            <a:off x="4572914" y="5440680"/>
            <a:ext cx="3045866" cy="859536"/>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Passage à la démo live</a:t>
            </a:r>
          </a:p>
        </p:txBody>
      </p:sp>
      <p:sp>
        <p:nvSpPr>
          <p:cNvPr id="28" name="Rounded Rectangle 27"/>
          <p:cNvSpPr/>
          <p:nvPr/>
        </p:nvSpPr>
        <p:spPr>
          <a:xfrm>
            <a:off x="8048548" y="4443984"/>
            <a:ext cx="3503066" cy="177393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7148" y="4645152"/>
            <a:ext cx="3045866"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06</a:t>
            </a:r>
          </a:p>
        </p:txBody>
      </p:sp>
      <p:sp>
        <p:nvSpPr>
          <p:cNvPr id="30" name="TextBox 29"/>
          <p:cNvSpPr txBox="1"/>
          <p:nvPr/>
        </p:nvSpPr>
        <p:spPr>
          <a:xfrm>
            <a:off x="8277148" y="4937760"/>
            <a:ext cx="3045866"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Résultats et conclusion</a:t>
            </a:r>
          </a:p>
        </p:txBody>
      </p:sp>
      <p:sp>
        <p:nvSpPr>
          <p:cNvPr id="31" name="TextBox 30"/>
          <p:cNvSpPr txBox="1"/>
          <p:nvPr/>
        </p:nvSpPr>
        <p:spPr>
          <a:xfrm>
            <a:off x="8277148" y="5440680"/>
            <a:ext cx="3045866" cy="859536"/>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KPI · perspectives · merci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76895" y="731520"/>
            <a:ext cx="3657600" cy="3200400"/>
          </a:xfrm>
          <a:prstGeom prst="rect">
            <a:avLst/>
          </a:prstGeom>
          <a:noFill/>
        </p:spPr>
        <p:txBody>
          <a:bodyPr wrap="square" lIns="0" rIns="0" tIns="0" bIns="0" anchor="t">
            <a:spAutoFit/>
          </a:bodyPr>
          <a:lstStyle/>
          <a:p>
            <a:pPr algn="r">
              <a:lnSpc>
                <a:spcPct val="100000"/>
              </a:lnSpc>
            </a:pPr>
            <a:r>
              <a:rPr sz="20000" b="1" i="0">
                <a:solidFill>
                  <a:srgbClr val="FF7A1A"/>
                </a:solidFill>
                <a:latin typeface="Space Grotesk"/>
              </a:rPr>
              <a:t>01</a:t>
            </a:r>
          </a:p>
        </p:txBody>
      </p:sp>
      <p:sp>
        <p:nvSpPr>
          <p:cNvPr id="6" name="TextBox 5"/>
          <p:cNvSpPr txBox="1"/>
          <p:nvPr/>
        </p:nvSpPr>
        <p:spPr>
          <a:xfrm>
            <a:off x="640080" y="1828800"/>
            <a:ext cx="10911535" cy="320040"/>
          </a:xfrm>
          <a:prstGeom prst="rect">
            <a:avLst/>
          </a:prstGeom>
          <a:noFill/>
        </p:spPr>
        <p:txBody>
          <a:bodyPr wrap="square" lIns="0" rIns="0" tIns="0" bIns="0" anchor="t">
            <a:spAutoFit/>
          </a:bodyPr>
          <a:lstStyle/>
          <a:p>
            <a:pPr algn="l">
              <a:lnSpc>
                <a:spcPct val="110000"/>
              </a:lnSpc>
            </a:pPr>
            <a:r>
              <a:rPr sz="1100" b="1" i="0" spc="240">
                <a:solidFill>
                  <a:srgbClr val="FF9548"/>
                </a:solidFill>
                <a:latin typeface="JetBrains Mono"/>
              </a:rPr>
              <a:t>SECTION</a:t>
            </a:r>
          </a:p>
        </p:txBody>
      </p:sp>
      <p:sp>
        <p:nvSpPr>
          <p:cNvPr id="7" name="TextBox 6"/>
          <p:cNvSpPr txBox="1"/>
          <p:nvPr/>
        </p:nvSpPr>
        <p:spPr>
          <a:xfrm>
            <a:off x="640080" y="2286000"/>
            <a:ext cx="7772400" cy="1645920"/>
          </a:xfrm>
          <a:prstGeom prst="rect">
            <a:avLst/>
          </a:prstGeom>
          <a:noFill/>
        </p:spPr>
        <p:txBody>
          <a:bodyPr wrap="square" lIns="0" rIns="0" tIns="0" bIns="0" anchor="t">
            <a:spAutoFit/>
          </a:bodyPr>
          <a:lstStyle/>
          <a:p>
            <a:pPr algn="l">
              <a:lnSpc>
                <a:spcPct val="102000"/>
              </a:lnSpc>
            </a:pPr>
            <a:r>
              <a:rPr sz="6000" b="1" i="0">
                <a:solidFill>
                  <a:srgbClr val="FFFFFF"/>
                </a:solidFill>
                <a:latin typeface="Space Grotesk"/>
              </a:rPr>
              <a:t>Introduction et contexte</a:t>
            </a:r>
          </a:p>
        </p:txBody>
      </p:sp>
      <p:sp>
        <p:nvSpPr>
          <p:cNvPr id="8" name="TextBox 7"/>
          <p:cNvSpPr txBox="1"/>
          <p:nvPr/>
        </p:nvSpPr>
        <p:spPr>
          <a:xfrm>
            <a:off x="640080" y="4206240"/>
            <a:ext cx="8686800" cy="457200"/>
          </a:xfrm>
          <a:prstGeom prst="rect">
            <a:avLst/>
          </a:prstGeom>
          <a:noFill/>
        </p:spPr>
        <p:txBody>
          <a:bodyPr wrap="square" lIns="0" rIns="0" tIns="0" bIns="0" anchor="t">
            <a:spAutoFit/>
          </a:bodyPr>
          <a:lstStyle/>
          <a:p>
            <a:pPr algn="l">
              <a:lnSpc>
                <a:spcPct val="110000"/>
              </a:lnSpc>
            </a:pPr>
            <a:r>
              <a:rPr sz="1800" b="0" i="0">
                <a:solidFill>
                  <a:srgbClr val="C9D0DC"/>
                </a:solidFill>
                <a:latin typeface="Inter"/>
              </a:rPr>
              <a:t>ICEM · Machines Komax · Problématique · Objectifs</a:t>
            </a:r>
          </a:p>
        </p:txBody>
      </p:sp>
      <p:sp>
        <p:nvSpPr>
          <p:cNvPr id="9" name="Rectangle 8"/>
          <p:cNvSpPr/>
          <p:nvPr/>
        </p:nvSpPr>
        <p:spPr>
          <a:xfrm>
            <a:off x="640080" y="3977639"/>
            <a:ext cx="2286000" cy="6350"/>
          </a:xfrm>
          <a:prstGeom prst="rect">
            <a:avLst/>
          </a:prstGeom>
          <a:solidFill>
            <a:srgbClr val="FF7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01 · INTRODUCTION</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L'ENTREPRISE</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ICEM Nabeul.</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Sous-traitant faisceaux électriques. Automobile · électroménager · médical.</a:t>
            </a:r>
          </a:p>
        </p:txBody>
      </p:sp>
      <p:sp>
        <p:nvSpPr>
          <p:cNvPr id="9" name="TextBox 8"/>
          <p:cNvSpPr txBox="1"/>
          <p:nvPr/>
        </p:nvSpPr>
        <p:spPr>
          <a:xfrm>
            <a:off x="640080" y="2651760"/>
            <a:ext cx="5943600" cy="3200400"/>
          </a:xfrm>
          <a:prstGeom prst="rect">
            <a:avLst/>
          </a:prstGeom>
          <a:noFill/>
        </p:spPr>
        <p:txBody>
          <a:bodyPr wrap="square" lIns="0" rIns="0" tIns="0" bIns="0" anchor="t">
            <a:spAutoFit/>
          </a:bodyPr>
          <a:lstStyle/>
          <a:p>
            <a:pPr algn="l">
              <a:lnSpc>
                <a:spcPct val="120000"/>
              </a:lnSpc>
            </a:pPr>
            <a:r>
              <a:rPr sz="1200" b="0" i="0" spc="120">
                <a:solidFill>
                  <a:srgbClr val="FFB37A"/>
                </a:solidFill>
                <a:latin typeface="JetBrains Mono"/>
              </a:rPr>
              <a:t>Coficab group · site industriel Nabeul</a:t>
            </a:r>
          </a:p>
          <a:p>
            <a:pPr algn="l">
              <a:lnSpc>
                <a:spcPct val="120000"/>
              </a:lnSpc>
            </a:pPr>
            <a:r>
              <a:rPr sz="800" b="0" i="0">
                <a:solidFill>
                  <a:srgbClr val="FFFFFF"/>
                </a:solidFill>
                <a:latin typeface="Inter"/>
              </a:rPr>
              <a:t> </a:t>
            </a:r>
          </a:p>
          <a:p>
            <a:pPr algn="l">
              <a:lnSpc>
                <a:spcPct val="140000"/>
              </a:lnSpc>
              <a:spcBef>
                <a:spcPts val="600"/>
              </a:spcBef>
            </a:pPr>
            <a:r>
              <a:rPr sz="1500" b="0" i="0">
                <a:solidFill>
                  <a:srgbClr val="FFFFFF"/>
                </a:solidFill>
                <a:latin typeface="Inter"/>
              </a:rPr>
              <a:t>ICEM est spécialisée dans la fabrication de faisceaux électriques pour l'automobile, l'électroménager et le médical.</a:t>
            </a:r>
          </a:p>
          <a:p>
            <a:pPr algn="l">
              <a:lnSpc>
                <a:spcPct val="120000"/>
              </a:lnSpc>
            </a:pPr>
            <a:r>
              <a:rPr sz="800" b="0" i="0">
                <a:solidFill>
                  <a:srgbClr val="FFFFFF"/>
                </a:solidFill>
                <a:latin typeface="Inter"/>
              </a:rPr>
              <a:t> </a:t>
            </a:r>
          </a:p>
          <a:p>
            <a:pPr algn="l">
              <a:lnSpc>
                <a:spcPct val="140000"/>
              </a:lnSpc>
              <a:spcBef>
                <a:spcPts val="600"/>
              </a:spcBef>
            </a:pPr>
            <a:r>
              <a:rPr sz="1300" b="0" i="0">
                <a:solidFill>
                  <a:srgbClr val="C9D0DC"/>
                </a:solidFill>
                <a:latin typeface="Inter"/>
              </a:rPr>
              <a:t>L'usine intègre coupe, sertissage, torsadage et contrôle qualité. Les machines Komax constituent le cœur de la ligne de production.</a:t>
            </a:r>
          </a:p>
        </p:txBody>
      </p:sp>
      <p:sp>
        <p:nvSpPr>
          <p:cNvPr id="10" name="Rounded Rectangle 9"/>
          <p:cNvSpPr/>
          <p:nvPr/>
        </p:nvSpPr>
        <p:spPr>
          <a:xfrm>
            <a:off x="7223760" y="2743200"/>
            <a:ext cx="4389120" cy="96012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0" y="2880360"/>
            <a:ext cx="1828800" cy="685800"/>
          </a:xfrm>
          <a:prstGeom prst="rect">
            <a:avLst/>
          </a:prstGeom>
          <a:noFill/>
        </p:spPr>
        <p:txBody>
          <a:bodyPr wrap="square" lIns="0" rIns="0" tIns="0" bIns="0" anchor="ctr">
            <a:spAutoFit/>
          </a:bodyPr>
          <a:lstStyle/>
          <a:p>
            <a:pPr algn="l">
              <a:lnSpc>
                <a:spcPct val="100000"/>
              </a:lnSpc>
            </a:pPr>
            <a:r>
              <a:rPr sz="3200" b="1" i="0">
                <a:solidFill>
                  <a:srgbClr val="FF9548"/>
                </a:solidFill>
                <a:latin typeface="Space Grotesk"/>
              </a:rPr>
              <a:t>40 ans</a:t>
            </a:r>
          </a:p>
        </p:txBody>
      </p:sp>
      <p:sp>
        <p:nvSpPr>
          <p:cNvPr id="12" name="TextBox 11"/>
          <p:cNvSpPr txBox="1"/>
          <p:nvPr/>
        </p:nvSpPr>
        <p:spPr>
          <a:xfrm>
            <a:off x="9326880" y="2743200"/>
            <a:ext cx="2103120" cy="960120"/>
          </a:xfrm>
          <a:prstGeom prst="rect">
            <a:avLst/>
          </a:prstGeom>
          <a:noFill/>
        </p:spPr>
        <p:txBody>
          <a:bodyPr wrap="square" lIns="0" rIns="0" tIns="0" bIns="0" anchor="ctr">
            <a:spAutoFit/>
          </a:bodyPr>
          <a:lstStyle/>
          <a:p>
            <a:pPr algn="l">
              <a:lnSpc>
                <a:spcPct val="130000"/>
              </a:lnSpc>
            </a:pPr>
            <a:r>
              <a:rPr sz="1300" b="0" i="0">
                <a:solidFill>
                  <a:srgbClr val="C9D0DC"/>
                </a:solidFill>
                <a:latin typeface="Inter"/>
              </a:rPr>
              <a:t>d'expérience industrielle</a:t>
            </a:r>
          </a:p>
        </p:txBody>
      </p:sp>
      <p:sp>
        <p:nvSpPr>
          <p:cNvPr id="13" name="Rounded Rectangle 12"/>
          <p:cNvSpPr/>
          <p:nvPr/>
        </p:nvSpPr>
        <p:spPr>
          <a:xfrm>
            <a:off x="7223760" y="3840480"/>
            <a:ext cx="4389120" cy="96012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0" y="3977640"/>
            <a:ext cx="1828800" cy="685800"/>
          </a:xfrm>
          <a:prstGeom prst="rect">
            <a:avLst/>
          </a:prstGeom>
          <a:noFill/>
        </p:spPr>
        <p:txBody>
          <a:bodyPr wrap="square" lIns="0" rIns="0" tIns="0" bIns="0" anchor="ctr">
            <a:spAutoFit/>
          </a:bodyPr>
          <a:lstStyle/>
          <a:p>
            <a:pPr algn="l">
              <a:lnSpc>
                <a:spcPct val="100000"/>
              </a:lnSpc>
            </a:pPr>
            <a:r>
              <a:rPr sz="3200" b="1" i="0">
                <a:solidFill>
                  <a:srgbClr val="FF9548"/>
                </a:solidFill>
                <a:latin typeface="Space Grotesk"/>
              </a:rPr>
              <a:t>1600+</a:t>
            </a:r>
          </a:p>
        </p:txBody>
      </p:sp>
      <p:sp>
        <p:nvSpPr>
          <p:cNvPr id="15" name="TextBox 14"/>
          <p:cNvSpPr txBox="1"/>
          <p:nvPr/>
        </p:nvSpPr>
        <p:spPr>
          <a:xfrm>
            <a:off x="9326880" y="3840480"/>
            <a:ext cx="2103120" cy="960120"/>
          </a:xfrm>
          <a:prstGeom prst="rect">
            <a:avLst/>
          </a:prstGeom>
          <a:noFill/>
        </p:spPr>
        <p:txBody>
          <a:bodyPr wrap="square" lIns="0" rIns="0" tIns="0" bIns="0" anchor="ctr">
            <a:spAutoFit/>
          </a:bodyPr>
          <a:lstStyle/>
          <a:p>
            <a:pPr algn="l">
              <a:lnSpc>
                <a:spcPct val="130000"/>
              </a:lnSpc>
            </a:pPr>
            <a:r>
              <a:rPr sz="1300" b="0" i="0">
                <a:solidFill>
                  <a:srgbClr val="C9D0DC"/>
                </a:solidFill>
                <a:latin typeface="Inter"/>
              </a:rPr>
              <a:t>salariés</a:t>
            </a:r>
          </a:p>
        </p:txBody>
      </p:sp>
      <p:sp>
        <p:nvSpPr>
          <p:cNvPr id="16" name="Rounded Rectangle 15"/>
          <p:cNvSpPr/>
          <p:nvPr/>
        </p:nvSpPr>
        <p:spPr>
          <a:xfrm>
            <a:off x="7223760" y="4937760"/>
            <a:ext cx="4389120" cy="96012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0" y="5074920"/>
            <a:ext cx="1828800" cy="685800"/>
          </a:xfrm>
          <a:prstGeom prst="rect">
            <a:avLst/>
          </a:prstGeom>
          <a:noFill/>
        </p:spPr>
        <p:txBody>
          <a:bodyPr wrap="square" lIns="0" rIns="0" tIns="0" bIns="0" anchor="ctr">
            <a:spAutoFit/>
          </a:bodyPr>
          <a:lstStyle/>
          <a:p>
            <a:pPr algn="l">
              <a:lnSpc>
                <a:spcPct val="100000"/>
              </a:lnSpc>
            </a:pPr>
            <a:r>
              <a:rPr sz="3200" b="1" i="0">
                <a:solidFill>
                  <a:srgbClr val="FF9548"/>
                </a:solidFill>
                <a:latin typeface="Space Grotesk"/>
              </a:rPr>
              <a:t>3</a:t>
            </a:r>
          </a:p>
        </p:txBody>
      </p:sp>
      <p:sp>
        <p:nvSpPr>
          <p:cNvPr id="18" name="TextBox 17"/>
          <p:cNvSpPr txBox="1"/>
          <p:nvPr/>
        </p:nvSpPr>
        <p:spPr>
          <a:xfrm>
            <a:off x="9326880" y="4937760"/>
            <a:ext cx="2103120" cy="960120"/>
          </a:xfrm>
          <a:prstGeom prst="rect">
            <a:avLst/>
          </a:prstGeom>
          <a:noFill/>
        </p:spPr>
        <p:txBody>
          <a:bodyPr wrap="square" lIns="0" rIns="0" tIns="0" bIns="0" anchor="ctr">
            <a:spAutoFit/>
          </a:bodyPr>
          <a:lstStyle/>
          <a:p>
            <a:pPr algn="l">
              <a:lnSpc>
                <a:spcPct val="130000"/>
              </a:lnSpc>
            </a:pPr>
            <a:r>
              <a:rPr sz="1300" b="0" i="0">
                <a:solidFill>
                  <a:srgbClr val="C9D0DC"/>
                </a:solidFill>
                <a:latin typeface="Inter"/>
              </a:rPr>
              <a:t>secteurs (auto · maison · médical)</a:t>
            </a:r>
          </a:p>
        </p:txBody>
      </p:sp>
      <p:sp>
        <p:nvSpPr>
          <p:cNvPr id="19" name="TextBox 18"/>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04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01 · INTRODUCTION</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LES DEUX MACHINES CIBLES</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Alpha 433 H · Gamma 333 PC.</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Machines Komax de coupe et sertissage de fil.</a:t>
            </a:r>
          </a:p>
        </p:txBody>
      </p:sp>
      <p:sp>
        <p:nvSpPr>
          <p:cNvPr id="9" name="Rounded Rectangle 8"/>
          <p:cNvSpPr/>
          <p:nvPr/>
        </p:nvSpPr>
        <p:spPr>
          <a:xfrm>
            <a:off x="640080" y="2651760"/>
            <a:ext cx="5318607"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971800"/>
            <a:ext cx="4587087" cy="365760"/>
          </a:xfrm>
          <a:prstGeom prst="rect">
            <a:avLst/>
          </a:prstGeom>
          <a:noFill/>
        </p:spPr>
        <p:txBody>
          <a:bodyPr wrap="square" lIns="0" rIns="0" tIns="0" bIns="0" anchor="t">
            <a:spAutoFit/>
          </a:bodyPr>
          <a:lstStyle/>
          <a:p>
            <a:pPr algn="l">
              <a:lnSpc>
                <a:spcPct val="110000"/>
              </a:lnSpc>
            </a:pPr>
            <a:r>
              <a:rPr sz="1000" b="1" i="0" spc="200">
                <a:solidFill>
                  <a:srgbClr val="FF9548"/>
                </a:solidFill>
                <a:latin typeface="JetBrains Mono"/>
              </a:rPr>
              <a:t>KOMAX</a:t>
            </a:r>
          </a:p>
        </p:txBody>
      </p:sp>
      <p:sp>
        <p:nvSpPr>
          <p:cNvPr id="11" name="TextBox 10"/>
          <p:cNvSpPr txBox="1"/>
          <p:nvPr/>
        </p:nvSpPr>
        <p:spPr>
          <a:xfrm>
            <a:off x="1005840" y="3291840"/>
            <a:ext cx="4587087" cy="640080"/>
          </a:xfrm>
          <a:prstGeom prst="rect">
            <a:avLst/>
          </a:prstGeom>
          <a:noFill/>
        </p:spPr>
        <p:txBody>
          <a:bodyPr wrap="square" lIns="0" rIns="0" tIns="0" bIns="0" anchor="t">
            <a:spAutoFit/>
          </a:bodyPr>
          <a:lstStyle/>
          <a:p>
            <a:pPr algn="l">
              <a:lnSpc>
                <a:spcPct val="110000"/>
              </a:lnSpc>
            </a:pPr>
            <a:r>
              <a:rPr sz="2800" b="1" i="0">
                <a:solidFill>
                  <a:srgbClr val="FFFFFF"/>
                </a:solidFill>
                <a:latin typeface="Space Grotesk"/>
              </a:rPr>
              <a:t>Alpha 433 H</a:t>
            </a:r>
          </a:p>
        </p:txBody>
      </p:sp>
      <p:sp>
        <p:nvSpPr>
          <p:cNvPr id="12" name="TextBox 11"/>
          <p:cNvSpPr txBox="1"/>
          <p:nvPr/>
        </p:nvSpPr>
        <p:spPr>
          <a:xfrm>
            <a:off x="1005840" y="3886200"/>
            <a:ext cx="4587087" cy="365760"/>
          </a:xfrm>
          <a:prstGeom prst="rect">
            <a:avLst/>
          </a:prstGeom>
          <a:noFill/>
        </p:spPr>
        <p:txBody>
          <a:bodyPr wrap="square" lIns="0" rIns="0" tIns="0" bIns="0" anchor="t">
            <a:spAutoFit/>
          </a:bodyPr>
          <a:lstStyle/>
          <a:p>
            <a:pPr algn="l">
              <a:lnSpc>
                <a:spcPct val="110000"/>
              </a:lnSpc>
            </a:pPr>
            <a:r>
              <a:rPr sz="1300" b="0" i="1">
                <a:solidFill>
                  <a:srgbClr val="FFB37A"/>
                </a:solidFill>
                <a:latin typeface="Inter"/>
              </a:rPr>
              <a:t>Servomoteurs électriques</a:t>
            </a:r>
          </a:p>
        </p:txBody>
      </p:sp>
      <p:sp>
        <p:nvSpPr>
          <p:cNvPr id="13" name="TextBox 12"/>
          <p:cNvSpPr txBox="1"/>
          <p:nvPr/>
        </p:nvSpPr>
        <p:spPr>
          <a:xfrm>
            <a:off x="1005840" y="4389120"/>
            <a:ext cx="1737360" cy="320040"/>
          </a:xfrm>
          <a:prstGeom prst="rect">
            <a:avLst/>
          </a:prstGeom>
          <a:noFill/>
        </p:spPr>
        <p:txBody>
          <a:bodyPr wrap="square" lIns="0" rIns="0" tIns="0" bIns="0" anchor="t">
            <a:spAutoFit/>
          </a:bodyPr>
          <a:lstStyle/>
          <a:p>
            <a:pPr algn="l">
              <a:lnSpc>
                <a:spcPct val="110000"/>
              </a:lnSpc>
            </a:pPr>
            <a:r>
              <a:rPr sz="1000" b="0" i="0" spc="140">
                <a:solidFill>
                  <a:srgbClr val="7D8496"/>
                </a:solidFill>
                <a:latin typeface="JetBrains Mono"/>
              </a:rPr>
              <a:t>ACTIONNEURS</a:t>
            </a:r>
          </a:p>
        </p:txBody>
      </p:sp>
      <p:sp>
        <p:nvSpPr>
          <p:cNvPr id="14" name="TextBox 13"/>
          <p:cNvSpPr txBox="1"/>
          <p:nvPr/>
        </p:nvSpPr>
        <p:spPr>
          <a:xfrm>
            <a:off x="2834640" y="4389120"/>
            <a:ext cx="2758287" cy="320040"/>
          </a:xfrm>
          <a:prstGeom prst="rect">
            <a:avLst/>
          </a:prstGeom>
          <a:noFill/>
        </p:spPr>
        <p:txBody>
          <a:bodyPr wrap="square" lIns="0" rIns="0" tIns="0" bIns="0" anchor="t">
            <a:spAutoFit/>
          </a:bodyPr>
          <a:lstStyle/>
          <a:p>
            <a:pPr algn="l">
              <a:lnSpc>
                <a:spcPct val="110000"/>
              </a:lnSpc>
            </a:pPr>
            <a:r>
              <a:rPr sz="1300" b="1" i="0">
                <a:solidFill>
                  <a:srgbClr val="FFFFFF"/>
                </a:solidFill>
                <a:latin typeface="Inter"/>
              </a:rPr>
              <a:t>6 servos BLDC</a:t>
            </a:r>
          </a:p>
        </p:txBody>
      </p:sp>
      <p:sp>
        <p:nvSpPr>
          <p:cNvPr id="15" name="TextBox 14"/>
          <p:cNvSpPr txBox="1"/>
          <p:nvPr/>
        </p:nvSpPr>
        <p:spPr>
          <a:xfrm>
            <a:off x="1005840" y="4846320"/>
            <a:ext cx="1737360" cy="320040"/>
          </a:xfrm>
          <a:prstGeom prst="rect">
            <a:avLst/>
          </a:prstGeom>
          <a:noFill/>
        </p:spPr>
        <p:txBody>
          <a:bodyPr wrap="square" lIns="0" rIns="0" tIns="0" bIns="0" anchor="t">
            <a:spAutoFit/>
          </a:bodyPr>
          <a:lstStyle/>
          <a:p>
            <a:pPr algn="l">
              <a:lnSpc>
                <a:spcPct val="110000"/>
              </a:lnSpc>
            </a:pPr>
            <a:r>
              <a:rPr sz="1000" b="0" i="0" spc="140">
                <a:solidFill>
                  <a:srgbClr val="7D8496"/>
                </a:solidFill>
                <a:latin typeface="JetBrains Mono"/>
              </a:rPr>
              <a:t>CYCLE</a:t>
            </a:r>
          </a:p>
        </p:txBody>
      </p:sp>
      <p:sp>
        <p:nvSpPr>
          <p:cNvPr id="16" name="TextBox 15"/>
          <p:cNvSpPr txBox="1"/>
          <p:nvPr/>
        </p:nvSpPr>
        <p:spPr>
          <a:xfrm>
            <a:off x="2834640" y="4846320"/>
            <a:ext cx="2758287" cy="320040"/>
          </a:xfrm>
          <a:prstGeom prst="rect">
            <a:avLst/>
          </a:prstGeom>
          <a:noFill/>
        </p:spPr>
        <p:txBody>
          <a:bodyPr wrap="square" lIns="0" rIns="0" tIns="0" bIns="0" anchor="t">
            <a:spAutoFit/>
          </a:bodyPr>
          <a:lstStyle/>
          <a:p>
            <a:pPr algn="l">
              <a:lnSpc>
                <a:spcPct val="110000"/>
              </a:lnSpc>
            </a:pPr>
            <a:r>
              <a:rPr sz="1300" b="1" i="0">
                <a:solidFill>
                  <a:srgbClr val="FFFFFF"/>
                </a:solidFill>
                <a:latin typeface="Inter"/>
              </a:rPr>
              <a:t>Ultra-rapide</a:t>
            </a:r>
          </a:p>
        </p:txBody>
      </p:sp>
      <p:sp>
        <p:nvSpPr>
          <p:cNvPr id="17" name="TextBox 16"/>
          <p:cNvSpPr txBox="1"/>
          <p:nvPr/>
        </p:nvSpPr>
        <p:spPr>
          <a:xfrm>
            <a:off x="1005840" y="5303520"/>
            <a:ext cx="1737360" cy="320040"/>
          </a:xfrm>
          <a:prstGeom prst="rect">
            <a:avLst/>
          </a:prstGeom>
          <a:noFill/>
        </p:spPr>
        <p:txBody>
          <a:bodyPr wrap="square" lIns="0" rIns="0" tIns="0" bIns="0" anchor="t">
            <a:spAutoFit/>
          </a:bodyPr>
          <a:lstStyle/>
          <a:p>
            <a:pPr algn="l">
              <a:lnSpc>
                <a:spcPct val="110000"/>
              </a:lnSpc>
            </a:pPr>
            <a:r>
              <a:rPr sz="1000" b="0" i="0" spc="140">
                <a:solidFill>
                  <a:srgbClr val="7D8496"/>
                </a:solidFill>
                <a:latin typeface="JetBrains Mono"/>
              </a:rPr>
              <a:t>SECTION DU FIL</a:t>
            </a:r>
          </a:p>
        </p:txBody>
      </p:sp>
      <p:sp>
        <p:nvSpPr>
          <p:cNvPr id="18" name="TextBox 17"/>
          <p:cNvSpPr txBox="1"/>
          <p:nvPr/>
        </p:nvSpPr>
        <p:spPr>
          <a:xfrm>
            <a:off x="2834640" y="5303520"/>
            <a:ext cx="2758287" cy="320040"/>
          </a:xfrm>
          <a:prstGeom prst="rect">
            <a:avLst/>
          </a:prstGeom>
          <a:noFill/>
        </p:spPr>
        <p:txBody>
          <a:bodyPr wrap="square" lIns="0" rIns="0" tIns="0" bIns="0" anchor="t">
            <a:spAutoFit/>
          </a:bodyPr>
          <a:lstStyle/>
          <a:p>
            <a:pPr algn="l">
              <a:lnSpc>
                <a:spcPct val="110000"/>
              </a:lnSpc>
            </a:pPr>
            <a:r>
              <a:rPr sz="1300" b="1" i="0">
                <a:solidFill>
                  <a:srgbClr val="FFFFFF"/>
                </a:solidFill>
                <a:latin typeface="Inter"/>
              </a:rPr>
              <a:t>0,5 – 6 mm²</a:t>
            </a:r>
          </a:p>
        </p:txBody>
      </p:sp>
      <p:sp>
        <p:nvSpPr>
          <p:cNvPr id="19" name="TextBox 18"/>
          <p:cNvSpPr txBox="1"/>
          <p:nvPr/>
        </p:nvSpPr>
        <p:spPr>
          <a:xfrm>
            <a:off x="1005840" y="5760720"/>
            <a:ext cx="1737360" cy="320040"/>
          </a:xfrm>
          <a:prstGeom prst="rect">
            <a:avLst/>
          </a:prstGeom>
          <a:noFill/>
        </p:spPr>
        <p:txBody>
          <a:bodyPr wrap="square" lIns="0" rIns="0" tIns="0" bIns="0" anchor="t">
            <a:spAutoFit/>
          </a:bodyPr>
          <a:lstStyle/>
          <a:p>
            <a:pPr algn="l">
              <a:lnSpc>
                <a:spcPct val="110000"/>
              </a:lnSpc>
            </a:pPr>
            <a:r>
              <a:rPr sz="1000" b="0" i="0" spc="140">
                <a:solidFill>
                  <a:srgbClr val="7D8496"/>
                </a:solidFill>
                <a:latin typeface="JetBrains Mono"/>
              </a:rPr>
              <a:t>POSITIONNEMENT</a:t>
            </a:r>
          </a:p>
        </p:txBody>
      </p:sp>
      <p:sp>
        <p:nvSpPr>
          <p:cNvPr id="20" name="TextBox 19"/>
          <p:cNvSpPr txBox="1"/>
          <p:nvPr/>
        </p:nvSpPr>
        <p:spPr>
          <a:xfrm>
            <a:off x="2834640" y="5760720"/>
            <a:ext cx="2758287" cy="320040"/>
          </a:xfrm>
          <a:prstGeom prst="rect">
            <a:avLst/>
          </a:prstGeom>
          <a:noFill/>
        </p:spPr>
        <p:txBody>
          <a:bodyPr wrap="square" lIns="0" rIns="0" tIns="0" bIns="0" anchor="t">
            <a:spAutoFit/>
          </a:bodyPr>
          <a:lstStyle/>
          <a:p>
            <a:pPr algn="l">
              <a:lnSpc>
                <a:spcPct val="110000"/>
              </a:lnSpc>
            </a:pPr>
            <a:r>
              <a:rPr sz="1300" b="1" i="0">
                <a:solidFill>
                  <a:srgbClr val="FFFFFF"/>
                </a:solidFill>
                <a:latin typeface="Inter"/>
              </a:rPr>
              <a:t>Entrée / milieu de gamme</a:t>
            </a:r>
          </a:p>
        </p:txBody>
      </p:sp>
      <p:sp>
        <p:nvSpPr>
          <p:cNvPr id="21" name="Rounded Rectangle 20"/>
          <p:cNvSpPr/>
          <p:nvPr/>
        </p:nvSpPr>
        <p:spPr>
          <a:xfrm>
            <a:off x="6233007" y="2651760"/>
            <a:ext cx="5318607"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98767" y="2971800"/>
            <a:ext cx="4587087" cy="365760"/>
          </a:xfrm>
          <a:prstGeom prst="rect">
            <a:avLst/>
          </a:prstGeom>
          <a:noFill/>
        </p:spPr>
        <p:txBody>
          <a:bodyPr wrap="square" lIns="0" rIns="0" tIns="0" bIns="0" anchor="t">
            <a:spAutoFit/>
          </a:bodyPr>
          <a:lstStyle/>
          <a:p>
            <a:pPr algn="l">
              <a:lnSpc>
                <a:spcPct val="110000"/>
              </a:lnSpc>
            </a:pPr>
            <a:r>
              <a:rPr sz="1000" b="1" i="0" spc="200">
                <a:solidFill>
                  <a:srgbClr val="FF9548"/>
                </a:solidFill>
                <a:latin typeface="JetBrains Mono"/>
              </a:rPr>
              <a:t>KOMAX</a:t>
            </a:r>
          </a:p>
        </p:txBody>
      </p:sp>
      <p:sp>
        <p:nvSpPr>
          <p:cNvPr id="23" name="TextBox 22"/>
          <p:cNvSpPr txBox="1"/>
          <p:nvPr/>
        </p:nvSpPr>
        <p:spPr>
          <a:xfrm>
            <a:off x="6598767" y="3291840"/>
            <a:ext cx="4587087" cy="640080"/>
          </a:xfrm>
          <a:prstGeom prst="rect">
            <a:avLst/>
          </a:prstGeom>
          <a:noFill/>
        </p:spPr>
        <p:txBody>
          <a:bodyPr wrap="square" lIns="0" rIns="0" tIns="0" bIns="0" anchor="t">
            <a:spAutoFit/>
          </a:bodyPr>
          <a:lstStyle/>
          <a:p>
            <a:pPr algn="l">
              <a:lnSpc>
                <a:spcPct val="110000"/>
              </a:lnSpc>
            </a:pPr>
            <a:r>
              <a:rPr sz="2800" b="1" i="0">
                <a:solidFill>
                  <a:srgbClr val="FFFFFF"/>
                </a:solidFill>
                <a:latin typeface="Space Grotesk"/>
              </a:rPr>
              <a:t>Gamma 333 PC</a:t>
            </a:r>
          </a:p>
        </p:txBody>
      </p:sp>
      <p:sp>
        <p:nvSpPr>
          <p:cNvPr id="24" name="TextBox 23"/>
          <p:cNvSpPr txBox="1"/>
          <p:nvPr/>
        </p:nvSpPr>
        <p:spPr>
          <a:xfrm>
            <a:off x="6598767" y="3886200"/>
            <a:ext cx="4587087" cy="365760"/>
          </a:xfrm>
          <a:prstGeom prst="rect">
            <a:avLst/>
          </a:prstGeom>
          <a:noFill/>
        </p:spPr>
        <p:txBody>
          <a:bodyPr wrap="square" lIns="0" rIns="0" tIns="0" bIns="0" anchor="t">
            <a:spAutoFit/>
          </a:bodyPr>
          <a:lstStyle/>
          <a:p>
            <a:pPr algn="l">
              <a:lnSpc>
                <a:spcPct val="110000"/>
              </a:lnSpc>
            </a:pPr>
            <a:r>
              <a:rPr sz="1300" b="0" i="1">
                <a:solidFill>
                  <a:srgbClr val="FFB37A"/>
                </a:solidFill>
                <a:latin typeface="Inter"/>
              </a:rPr>
              <a:t>Actionneurs pneumatiques + servos</a:t>
            </a:r>
          </a:p>
        </p:txBody>
      </p:sp>
      <p:sp>
        <p:nvSpPr>
          <p:cNvPr id="25" name="TextBox 24"/>
          <p:cNvSpPr txBox="1"/>
          <p:nvPr/>
        </p:nvSpPr>
        <p:spPr>
          <a:xfrm>
            <a:off x="6598767" y="4389120"/>
            <a:ext cx="1737360" cy="320040"/>
          </a:xfrm>
          <a:prstGeom prst="rect">
            <a:avLst/>
          </a:prstGeom>
          <a:noFill/>
        </p:spPr>
        <p:txBody>
          <a:bodyPr wrap="square" lIns="0" rIns="0" tIns="0" bIns="0" anchor="t">
            <a:spAutoFit/>
          </a:bodyPr>
          <a:lstStyle/>
          <a:p>
            <a:pPr algn="l">
              <a:lnSpc>
                <a:spcPct val="110000"/>
              </a:lnSpc>
            </a:pPr>
            <a:r>
              <a:rPr sz="1000" b="0" i="0" spc="140">
                <a:solidFill>
                  <a:srgbClr val="7D8496"/>
                </a:solidFill>
                <a:latin typeface="JetBrains Mono"/>
              </a:rPr>
              <a:t>ACTIONNEURS</a:t>
            </a:r>
          </a:p>
        </p:txBody>
      </p:sp>
      <p:sp>
        <p:nvSpPr>
          <p:cNvPr id="26" name="TextBox 25"/>
          <p:cNvSpPr txBox="1"/>
          <p:nvPr/>
        </p:nvSpPr>
        <p:spPr>
          <a:xfrm>
            <a:off x="8427567" y="4389120"/>
            <a:ext cx="2758287" cy="320040"/>
          </a:xfrm>
          <a:prstGeom prst="rect">
            <a:avLst/>
          </a:prstGeom>
          <a:noFill/>
        </p:spPr>
        <p:txBody>
          <a:bodyPr wrap="square" lIns="0" rIns="0" tIns="0" bIns="0" anchor="t">
            <a:spAutoFit/>
          </a:bodyPr>
          <a:lstStyle/>
          <a:p>
            <a:pPr algn="l">
              <a:lnSpc>
                <a:spcPct val="110000"/>
              </a:lnSpc>
            </a:pPr>
            <a:r>
              <a:rPr sz="1300" b="1" i="0">
                <a:solidFill>
                  <a:srgbClr val="FFFFFF"/>
                </a:solidFill>
                <a:latin typeface="Inter"/>
              </a:rPr>
              <a:t>Pneumatique + servos</a:t>
            </a:r>
          </a:p>
        </p:txBody>
      </p:sp>
      <p:sp>
        <p:nvSpPr>
          <p:cNvPr id="27" name="TextBox 26"/>
          <p:cNvSpPr txBox="1"/>
          <p:nvPr/>
        </p:nvSpPr>
        <p:spPr>
          <a:xfrm>
            <a:off x="6598767" y="4846320"/>
            <a:ext cx="1737360" cy="320040"/>
          </a:xfrm>
          <a:prstGeom prst="rect">
            <a:avLst/>
          </a:prstGeom>
          <a:noFill/>
        </p:spPr>
        <p:txBody>
          <a:bodyPr wrap="square" lIns="0" rIns="0" tIns="0" bIns="0" anchor="t">
            <a:spAutoFit/>
          </a:bodyPr>
          <a:lstStyle/>
          <a:p>
            <a:pPr algn="l">
              <a:lnSpc>
                <a:spcPct val="110000"/>
              </a:lnSpc>
            </a:pPr>
            <a:r>
              <a:rPr sz="1000" b="0" i="0" spc="140">
                <a:solidFill>
                  <a:srgbClr val="7D8496"/>
                </a:solidFill>
                <a:latin typeface="JetBrains Mono"/>
              </a:rPr>
              <a:t>CYCLE</a:t>
            </a:r>
          </a:p>
        </p:txBody>
      </p:sp>
      <p:sp>
        <p:nvSpPr>
          <p:cNvPr id="28" name="TextBox 27"/>
          <p:cNvSpPr txBox="1"/>
          <p:nvPr/>
        </p:nvSpPr>
        <p:spPr>
          <a:xfrm>
            <a:off x="8427567" y="4846320"/>
            <a:ext cx="2758287" cy="320040"/>
          </a:xfrm>
          <a:prstGeom prst="rect">
            <a:avLst/>
          </a:prstGeom>
          <a:noFill/>
        </p:spPr>
        <p:txBody>
          <a:bodyPr wrap="square" lIns="0" rIns="0" tIns="0" bIns="0" anchor="t">
            <a:spAutoFit/>
          </a:bodyPr>
          <a:lstStyle/>
          <a:p>
            <a:pPr algn="l">
              <a:lnSpc>
                <a:spcPct val="110000"/>
              </a:lnSpc>
            </a:pPr>
            <a:r>
              <a:rPr sz="1300" b="1" i="0">
                <a:solidFill>
                  <a:srgbClr val="FFFFFF"/>
                </a:solidFill>
                <a:latin typeface="Inter"/>
              </a:rPr>
              <a:t>Standard</a:t>
            </a:r>
          </a:p>
        </p:txBody>
      </p:sp>
      <p:sp>
        <p:nvSpPr>
          <p:cNvPr id="29" name="TextBox 28"/>
          <p:cNvSpPr txBox="1"/>
          <p:nvPr/>
        </p:nvSpPr>
        <p:spPr>
          <a:xfrm>
            <a:off x="6598767" y="5303520"/>
            <a:ext cx="1737360" cy="320040"/>
          </a:xfrm>
          <a:prstGeom prst="rect">
            <a:avLst/>
          </a:prstGeom>
          <a:noFill/>
        </p:spPr>
        <p:txBody>
          <a:bodyPr wrap="square" lIns="0" rIns="0" tIns="0" bIns="0" anchor="t">
            <a:spAutoFit/>
          </a:bodyPr>
          <a:lstStyle/>
          <a:p>
            <a:pPr algn="l">
              <a:lnSpc>
                <a:spcPct val="110000"/>
              </a:lnSpc>
            </a:pPr>
            <a:r>
              <a:rPr sz="1000" b="0" i="0" spc="140">
                <a:solidFill>
                  <a:srgbClr val="7D8496"/>
                </a:solidFill>
                <a:latin typeface="JetBrains Mono"/>
              </a:rPr>
              <a:t>SECTION DU FIL</a:t>
            </a:r>
          </a:p>
        </p:txBody>
      </p:sp>
      <p:sp>
        <p:nvSpPr>
          <p:cNvPr id="30" name="TextBox 29"/>
          <p:cNvSpPr txBox="1"/>
          <p:nvPr/>
        </p:nvSpPr>
        <p:spPr>
          <a:xfrm>
            <a:off x="8427567" y="5303520"/>
            <a:ext cx="2758287" cy="320040"/>
          </a:xfrm>
          <a:prstGeom prst="rect">
            <a:avLst/>
          </a:prstGeom>
          <a:noFill/>
        </p:spPr>
        <p:txBody>
          <a:bodyPr wrap="square" lIns="0" rIns="0" tIns="0" bIns="0" anchor="t">
            <a:spAutoFit/>
          </a:bodyPr>
          <a:lstStyle/>
          <a:p>
            <a:pPr algn="l">
              <a:lnSpc>
                <a:spcPct val="110000"/>
              </a:lnSpc>
            </a:pPr>
            <a:r>
              <a:rPr sz="1300" b="1" i="0">
                <a:solidFill>
                  <a:srgbClr val="FFFFFF"/>
                </a:solidFill>
                <a:latin typeface="Inter"/>
              </a:rPr>
              <a:t>0,22 – 4 mm²</a:t>
            </a:r>
          </a:p>
        </p:txBody>
      </p:sp>
      <p:sp>
        <p:nvSpPr>
          <p:cNvPr id="31" name="TextBox 30"/>
          <p:cNvSpPr txBox="1"/>
          <p:nvPr/>
        </p:nvSpPr>
        <p:spPr>
          <a:xfrm>
            <a:off x="6598767" y="5760720"/>
            <a:ext cx="1737360" cy="320040"/>
          </a:xfrm>
          <a:prstGeom prst="rect">
            <a:avLst/>
          </a:prstGeom>
          <a:noFill/>
        </p:spPr>
        <p:txBody>
          <a:bodyPr wrap="square" lIns="0" rIns="0" tIns="0" bIns="0" anchor="t">
            <a:spAutoFit/>
          </a:bodyPr>
          <a:lstStyle/>
          <a:p>
            <a:pPr algn="l">
              <a:lnSpc>
                <a:spcPct val="110000"/>
              </a:lnSpc>
            </a:pPr>
            <a:r>
              <a:rPr sz="1000" b="0" i="0" spc="140">
                <a:solidFill>
                  <a:srgbClr val="7D8496"/>
                </a:solidFill>
                <a:latin typeface="JetBrains Mono"/>
              </a:rPr>
              <a:t>POSITIONNEMENT</a:t>
            </a:r>
          </a:p>
        </p:txBody>
      </p:sp>
      <p:sp>
        <p:nvSpPr>
          <p:cNvPr id="32" name="TextBox 31"/>
          <p:cNvSpPr txBox="1"/>
          <p:nvPr/>
        </p:nvSpPr>
        <p:spPr>
          <a:xfrm>
            <a:off x="8427567" y="5760720"/>
            <a:ext cx="2758287" cy="320040"/>
          </a:xfrm>
          <a:prstGeom prst="rect">
            <a:avLst/>
          </a:prstGeom>
          <a:noFill/>
        </p:spPr>
        <p:txBody>
          <a:bodyPr wrap="square" lIns="0" rIns="0" tIns="0" bIns="0" anchor="t">
            <a:spAutoFit/>
          </a:bodyPr>
          <a:lstStyle/>
          <a:p>
            <a:pPr algn="l">
              <a:lnSpc>
                <a:spcPct val="110000"/>
              </a:lnSpc>
            </a:pPr>
            <a:r>
              <a:rPr sz="1300" b="1" i="0">
                <a:solidFill>
                  <a:srgbClr val="FFFFFF"/>
                </a:solidFill>
                <a:latin typeface="Inter"/>
              </a:rPr>
              <a:t>Milieu de gamme</a:t>
            </a:r>
          </a:p>
        </p:txBody>
      </p:sp>
      <p:sp>
        <p:nvSpPr>
          <p:cNvPr id="33" name="TextBox 32"/>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05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01 · INTRODUCTION</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LA PROBLÉMATIQUE</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Une panne coûte cher.</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Maintenance corrective : trop tard, trop long, trop cher.</a:t>
            </a:r>
          </a:p>
        </p:txBody>
      </p:sp>
      <p:sp>
        <p:nvSpPr>
          <p:cNvPr id="9" name="Rounded Rectangle 8"/>
          <p:cNvSpPr/>
          <p:nvPr/>
        </p:nvSpPr>
        <p:spPr>
          <a:xfrm>
            <a:off x="640080" y="2651760"/>
            <a:ext cx="3454298" cy="2286000"/>
          </a:xfrm>
          <a:prstGeom prst="roundRect">
            <a:avLst>
              <a:gd name="adj" fmla="val 6000"/>
            </a:avLst>
          </a:prstGeom>
          <a:solidFill>
            <a:srgbClr val="101A45">
              <a:alpha val="15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80360"/>
            <a:ext cx="3088538" cy="914400"/>
          </a:xfrm>
          <a:prstGeom prst="rect">
            <a:avLst/>
          </a:prstGeom>
          <a:noFill/>
        </p:spPr>
        <p:txBody>
          <a:bodyPr wrap="square" lIns="0" rIns="0" tIns="0" bIns="0" anchor="t">
            <a:spAutoFit/>
          </a:bodyPr>
          <a:lstStyle/>
          <a:p>
            <a:pPr algn="ctr">
              <a:lnSpc>
                <a:spcPct val="100000"/>
              </a:lnSpc>
            </a:pPr>
            <a:r>
              <a:rPr sz="4800" b="1" i="0">
                <a:solidFill>
                  <a:srgbClr val="FF9548"/>
                </a:solidFill>
                <a:latin typeface="Space Grotesk"/>
              </a:rPr>
              <a:t>1467</a:t>
            </a:r>
          </a:p>
        </p:txBody>
      </p:sp>
      <p:sp>
        <p:nvSpPr>
          <p:cNvPr id="11" name="TextBox 10"/>
          <p:cNvSpPr txBox="1"/>
          <p:nvPr/>
        </p:nvSpPr>
        <p:spPr>
          <a:xfrm>
            <a:off x="822960" y="3703320"/>
            <a:ext cx="3088538" cy="320040"/>
          </a:xfrm>
          <a:prstGeom prst="rect">
            <a:avLst/>
          </a:prstGeom>
          <a:noFill/>
        </p:spPr>
        <p:txBody>
          <a:bodyPr wrap="square" lIns="0" rIns="0" tIns="0" bIns="0" anchor="t">
            <a:spAutoFit/>
          </a:bodyPr>
          <a:lstStyle/>
          <a:p>
            <a:pPr algn="ctr">
              <a:lnSpc>
                <a:spcPct val="110000"/>
              </a:lnSpc>
            </a:pPr>
            <a:r>
              <a:rPr sz="1200" b="1" i="0">
                <a:solidFill>
                  <a:srgbClr val="FFFFFF"/>
                </a:solidFill>
                <a:latin typeface="Inter"/>
              </a:rPr>
              <a:t>Pannes documentées</a:t>
            </a:r>
          </a:p>
        </p:txBody>
      </p:sp>
      <p:sp>
        <p:nvSpPr>
          <p:cNvPr id="12" name="TextBox 11"/>
          <p:cNvSpPr txBox="1"/>
          <p:nvPr/>
        </p:nvSpPr>
        <p:spPr>
          <a:xfrm>
            <a:off x="822960" y="4023360"/>
            <a:ext cx="3088538" cy="320040"/>
          </a:xfrm>
          <a:prstGeom prst="rect">
            <a:avLst/>
          </a:prstGeom>
          <a:noFill/>
        </p:spPr>
        <p:txBody>
          <a:bodyPr wrap="square" lIns="0" rIns="0" tIns="0" bIns="0" anchor="t">
            <a:spAutoFit/>
          </a:bodyPr>
          <a:lstStyle/>
          <a:p>
            <a:pPr algn="ctr">
              <a:lnSpc>
                <a:spcPct val="110000"/>
              </a:lnSpc>
            </a:pPr>
            <a:r>
              <a:rPr sz="900" b="0" i="0" spc="80">
                <a:solidFill>
                  <a:srgbClr val="7D8496"/>
                </a:solidFill>
                <a:latin typeface="JetBrains Mono"/>
              </a:rPr>
              <a:t>Historique ICEM · 2019 – 2024</a:t>
            </a:r>
          </a:p>
        </p:txBody>
      </p:sp>
      <p:sp>
        <p:nvSpPr>
          <p:cNvPr id="13" name="Rounded Rectangle 12"/>
          <p:cNvSpPr/>
          <p:nvPr/>
        </p:nvSpPr>
        <p:spPr>
          <a:xfrm>
            <a:off x="4368698" y="2651760"/>
            <a:ext cx="3454298" cy="2286000"/>
          </a:xfrm>
          <a:prstGeom prst="roundRect">
            <a:avLst>
              <a:gd name="adj" fmla="val 6000"/>
            </a:avLst>
          </a:prstGeom>
          <a:solidFill>
            <a:srgbClr val="101A45">
              <a:alpha val="15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1578" y="2880360"/>
            <a:ext cx="3088538" cy="914400"/>
          </a:xfrm>
          <a:prstGeom prst="rect">
            <a:avLst/>
          </a:prstGeom>
          <a:noFill/>
        </p:spPr>
        <p:txBody>
          <a:bodyPr wrap="square" lIns="0" rIns="0" tIns="0" bIns="0" anchor="t">
            <a:spAutoFit/>
          </a:bodyPr>
          <a:lstStyle/>
          <a:p>
            <a:pPr algn="ctr">
              <a:lnSpc>
                <a:spcPct val="100000"/>
              </a:lnSpc>
            </a:pPr>
            <a:r>
              <a:rPr sz="4800" b="1" i="0">
                <a:solidFill>
                  <a:srgbClr val="FF9548"/>
                </a:solidFill>
                <a:latin typeface="Space Grotesk"/>
              </a:rPr>
              <a:t>12 zones</a:t>
            </a:r>
          </a:p>
        </p:txBody>
      </p:sp>
      <p:sp>
        <p:nvSpPr>
          <p:cNvPr id="15" name="TextBox 14"/>
          <p:cNvSpPr txBox="1"/>
          <p:nvPr/>
        </p:nvSpPr>
        <p:spPr>
          <a:xfrm>
            <a:off x="4551578" y="3703320"/>
            <a:ext cx="3088538" cy="320040"/>
          </a:xfrm>
          <a:prstGeom prst="rect">
            <a:avLst/>
          </a:prstGeom>
          <a:noFill/>
        </p:spPr>
        <p:txBody>
          <a:bodyPr wrap="square" lIns="0" rIns="0" tIns="0" bIns="0" anchor="t">
            <a:spAutoFit/>
          </a:bodyPr>
          <a:lstStyle/>
          <a:p>
            <a:pPr algn="ctr">
              <a:lnSpc>
                <a:spcPct val="110000"/>
              </a:lnSpc>
            </a:pPr>
            <a:r>
              <a:rPr sz="1200" b="1" i="0">
                <a:solidFill>
                  <a:srgbClr val="FFFFFF"/>
                </a:solidFill>
                <a:latin typeface="Inter"/>
              </a:rPr>
              <a:t>Sous-ensembles touchés</a:t>
            </a:r>
          </a:p>
        </p:txBody>
      </p:sp>
      <p:sp>
        <p:nvSpPr>
          <p:cNvPr id="16" name="TextBox 15"/>
          <p:cNvSpPr txBox="1"/>
          <p:nvPr/>
        </p:nvSpPr>
        <p:spPr>
          <a:xfrm>
            <a:off x="4551578" y="4023360"/>
            <a:ext cx="3088538" cy="320040"/>
          </a:xfrm>
          <a:prstGeom prst="rect">
            <a:avLst/>
          </a:prstGeom>
          <a:noFill/>
        </p:spPr>
        <p:txBody>
          <a:bodyPr wrap="square" lIns="0" rIns="0" tIns="0" bIns="0" anchor="t">
            <a:spAutoFit/>
          </a:bodyPr>
          <a:lstStyle/>
          <a:p>
            <a:pPr algn="ctr">
              <a:lnSpc>
                <a:spcPct val="110000"/>
              </a:lnSpc>
            </a:pPr>
            <a:r>
              <a:rPr sz="900" b="0" i="0" spc="80">
                <a:solidFill>
                  <a:srgbClr val="7D8496"/>
                </a:solidFill>
                <a:latin typeface="JetBrains Mono"/>
              </a:rPr>
              <a:t>Alpha 433 H · Gamma 333 PC</a:t>
            </a:r>
          </a:p>
        </p:txBody>
      </p:sp>
      <p:sp>
        <p:nvSpPr>
          <p:cNvPr id="17" name="Rounded Rectangle 16"/>
          <p:cNvSpPr/>
          <p:nvPr/>
        </p:nvSpPr>
        <p:spPr>
          <a:xfrm>
            <a:off x="8097316" y="2651760"/>
            <a:ext cx="3454298" cy="2286000"/>
          </a:xfrm>
          <a:prstGeom prst="roundRect">
            <a:avLst>
              <a:gd name="adj" fmla="val 6000"/>
            </a:avLst>
          </a:prstGeom>
          <a:solidFill>
            <a:srgbClr val="101A45">
              <a:alpha val="15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0196" y="2880360"/>
            <a:ext cx="3088538" cy="914400"/>
          </a:xfrm>
          <a:prstGeom prst="rect">
            <a:avLst/>
          </a:prstGeom>
          <a:noFill/>
        </p:spPr>
        <p:txBody>
          <a:bodyPr wrap="square" lIns="0" rIns="0" tIns="0" bIns="0" anchor="t">
            <a:spAutoFit/>
          </a:bodyPr>
          <a:lstStyle/>
          <a:p>
            <a:pPr algn="ctr">
              <a:lnSpc>
                <a:spcPct val="100000"/>
              </a:lnSpc>
            </a:pPr>
            <a:r>
              <a:rPr sz="4800" b="1" i="0">
                <a:solidFill>
                  <a:srgbClr val="FF9548"/>
                </a:solidFill>
                <a:latin typeface="Space Grotesk"/>
              </a:rPr>
              <a:t>40 %</a:t>
            </a:r>
          </a:p>
        </p:txBody>
      </p:sp>
      <p:sp>
        <p:nvSpPr>
          <p:cNvPr id="19" name="TextBox 18"/>
          <p:cNvSpPr txBox="1"/>
          <p:nvPr/>
        </p:nvSpPr>
        <p:spPr>
          <a:xfrm>
            <a:off x="8280196" y="3703320"/>
            <a:ext cx="3088538" cy="320040"/>
          </a:xfrm>
          <a:prstGeom prst="rect">
            <a:avLst/>
          </a:prstGeom>
          <a:noFill/>
        </p:spPr>
        <p:txBody>
          <a:bodyPr wrap="square" lIns="0" rIns="0" tIns="0" bIns="0" anchor="t">
            <a:spAutoFit/>
          </a:bodyPr>
          <a:lstStyle/>
          <a:p>
            <a:pPr algn="ctr">
              <a:lnSpc>
                <a:spcPct val="110000"/>
              </a:lnSpc>
            </a:pPr>
            <a:r>
              <a:rPr sz="1200" b="1" i="0">
                <a:solidFill>
                  <a:srgbClr val="FFFFFF"/>
                </a:solidFill>
                <a:latin typeface="Inter"/>
              </a:rPr>
              <a:t>Pannes évitables</a:t>
            </a:r>
          </a:p>
        </p:txBody>
      </p:sp>
      <p:sp>
        <p:nvSpPr>
          <p:cNvPr id="20" name="TextBox 19"/>
          <p:cNvSpPr txBox="1"/>
          <p:nvPr/>
        </p:nvSpPr>
        <p:spPr>
          <a:xfrm>
            <a:off x="8280196" y="4023360"/>
            <a:ext cx="3088538" cy="320040"/>
          </a:xfrm>
          <a:prstGeom prst="rect">
            <a:avLst/>
          </a:prstGeom>
          <a:noFill/>
        </p:spPr>
        <p:txBody>
          <a:bodyPr wrap="square" lIns="0" rIns="0" tIns="0" bIns="0" anchor="t">
            <a:spAutoFit/>
          </a:bodyPr>
          <a:lstStyle/>
          <a:p>
            <a:pPr algn="ctr">
              <a:lnSpc>
                <a:spcPct val="110000"/>
              </a:lnSpc>
            </a:pPr>
            <a:r>
              <a:rPr sz="900" b="0" i="0" spc="80">
                <a:solidFill>
                  <a:srgbClr val="7D8496"/>
                </a:solidFill>
                <a:latin typeface="JetBrains Mono"/>
              </a:rPr>
              <a:t>Avec détection préalable</a:t>
            </a:r>
          </a:p>
        </p:txBody>
      </p:sp>
      <p:sp>
        <p:nvSpPr>
          <p:cNvPr id="21" name="Rounded Rectangle 20"/>
          <p:cNvSpPr/>
          <p:nvPr/>
        </p:nvSpPr>
        <p:spPr>
          <a:xfrm>
            <a:off x="640080" y="5303520"/>
            <a:ext cx="10911535" cy="868680"/>
          </a:xfrm>
          <a:prstGeom prst="roundRect">
            <a:avLst>
              <a:gd name="adj" fmla="val 6000"/>
            </a:avLst>
          </a:prstGeom>
          <a:solidFill>
            <a:srgbClr val="101A45">
              <a:alpha val="30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5303520"/>
            <a:ext cx="10911535" cy="868680"/>
          </a:xfrm>
          <a:prstGeom prst="rect">
            <a:avLst/>
          </a:prstGeom>
          <a:noFill/>
        </p:spPr>
        <p:txBody>
          <a:bodyPr wrap="square" lIns="0" rIns="0" tIns="0" bIns="0" anchor="ctr">
            <a:spAutoFit/>
          </a:bodyPr>
          <a:lstStyle/>
          <a:p>
            <a:pPr algn="ctr">
              <a:lnSpc>
                <a:spcPct val="110000"/>
              </a:lnSpc>
            </a:pPr>
            <a:r>
              <a:rPr sz="2000" b="1" i="0">
                <a:solidFill>
                  <a:srgbClr val="FFB37A"/>
                </a:solidFill>
                <a:latin typeface="Space Grotesk"/>
              </a:rPr>
              <a:t>Notre solution  ·  prédire avant la panne.</a:t>
            </a:r>
          </a:p>
        </p:txBody>
      </p:sp>
      <p:sp>
        <p:nvSpPr>
          <p:cNvPr id="23" name="TextBox 22"/>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06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01 · INTRODUCTION</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OBJECTIF DU PROJET</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Trois verbes.</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Une chaîne simple, de la mesure à la décision.</a:t>
            </a:r>
          </a:p>
        </p:txBody>
      </p:sp>
      <p:sp>
        <p:nvSpPr>
          <p:cNvPr id="9" name="Rounded Rectangle 8"/>
          <p:cNvSpPr/>
          <p:nvPr/>
        </p:nvSpPr>
        <p:spPr>
          <a:xfrm>
            <a:off x="640080" y="2651760"/>
            <a:ext cx="3484778"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852928"/>
            <a:ext cx="3027578"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01</a:t>
            </a:r>
          </a:p>
        </p:txBody>
      </p:sp>
      <p:sp>
        <p:nvSpPr>
          <p:cNvPr id="11" name="TextBox 10"/>
          <p:cNvSpPr txBox="1"/>
          <p:nvPr/>
        </p:nvSpPr>
        <p:spPr>
          <a:xfrm>
            <a:off x="868680" y="3145536"/>
            <a:ext cx="3027578"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Prédire</a:t>
            </a:r>
          </a:p>
        </p:txBody>
      </p:sp>
      <p:sp>
        <p:nvSpPr>
          <p:cNvPr id="12" name="TextBox 11"/>
          <p:cNvSpPr txBox="1"/>
          <p:nvPr/>
        </p:nvSpPr>
        <p:spPr>
          <a:xfrm>
            <a:off x="868680" y="3648456"/>
            <a:ext cx="3027578" cy="265176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Modèles ML par cause (Random Forest, XGBoost) entraînés sur historique + signaux synthétiques ancrés physiquement.</a:t>
            </a:r>
          </a:p>
        </p:txBody>
      </p:sp>
      <p:sp>
        <p:nvSpPr>
          <p:cNvPr id="13" name="Rounded Rectangle 12"/>
          <p:cNvSpPr/>
          <p:nvPr/>
        </p:nvSpPr>
        <p:spPr>
          <a:xfrm>
            <a:off x="4353458" y="2651760"/>
            <a:ext cx="3484778"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2058" y="2852928"/>
            <a:ext cx="3027578"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02</a:t>
            </a:r>
          </a:p>
        </p:txBody>
      </p:sp>
      <p:sp>
        <p:nvSpPr>
          <p:cNvPr id="15" name="TextBox 14"/>
          <p:cNvSpPr txBox="1"/>
          <p:nvPr/>
        </p:nvSpPr>
        <p:spPr>
          <a:xfrm>
            <a:off x="4582058" y="3145536"/>
            <a:ext cx="3027578"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Alerter</a:t>
            </a:r>
          </a:p>
        </p:txBody>
      </p:sp>
      <p:sp>
        <p:nvSpPr>
          <p:cNvPr id="16" name="TextBox 15"/>
          <p:cNvSpPr txBox="1"/>
          <p:nvPr/>
        </p:nvSpPr>
        <p:spPr>
          <a:xfrm>
            <a:off x="4582058" y="3648456"/>
            <a:ext cx="3027578" cy="265176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Notifications mobile en temps réel via Firebase — technicien prévenu en moins d'une minute.</a:t>
            </a:r>
          </a:p>
        </p:txBody>
      </p:sp>
      <p:sp>
        <p:nvSpPr>
          <p:cNvPr id="17" name="Rounded Rectangle 16"/>
          <p:cNvSpPr/>
          <p:nvPr/>
        </p:nvSpPr>
        <p:spPr>
          <a:xfrm>
            <a:off x="8066836" y="2651760"/>
            <a:ext cx="3484778"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5436" y="2852928"/>
            <a:ext cx="3027578"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03</a:t>
            </a:r>
          </a:p>
        </p:txBody>
      </p:sp>
      <p:sp>
        <p:nvSpPr>
          <p:cNvPr id="19" name="TextBox 18"/>
          <p:cNvSpPr txBox="1"/>
          <p:nvPr/>
        </p:nvSpPr>
        <p:spPr>
          <a:xfrm>
            <a:off x="8295436" y="3145536"/>
            <a:ext cx="3027578"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Réduire</a:t>
            </a:r>
          </a:p>
        </p:txBody>
      </p:sp>
      <p:sp>
        <p:nvSpPr>
          <p:cNvPr id="20" name="TextBox 19"/>
          <p:cNvSpPr txBox="1"/>
          <p:nvPr/>
        </p:nvSpPr>
        <p:spPr>
          <a:xfrm>
            <a:off x="8295436" y="3648456"/>
            <a:ext cx="3027578" cy="265176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Coût de maintenance et arrêts de production, en intervenant au bon moment plutôt qu'à date fixe.</a:t>
            </a:r>
          </a:p>
        </p:txBody>
      </p:sp>
      <p:sp>
        <p:nvSpPr>
          <p:cNvPr id="21" name="TextBox 20"/>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07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76895" y="731520"/>
            <a:ext cx="3657600" cy="3200400"/>
          </a:xfrm>
          <a:prstGeom prst="rect">
            <a:avLst/>
          </a:prstGeom>
          <a:noFill/>
        </p:spPr>
        <p:txBody>
          <a:bodyPr wrap="square" lIns="0" rIns="0" tIns="0" bIns="0" anchor="t">
            <a:spAutoFit/>
          </a:bodyPr>
          <a:lstStyle/>
          <a:p>
            <a:pPr algn="r">
              <a:lnSpc>
                <a:spcPct val="100000"/>
              </a:lnSpc>
            </a:pPr>
            <a:r>
              <a:rPr sz="20000" b="1" i="0">
                <a:solidFill>
                  <a:srgbClr val="FF7A1A"/>
                </a:solidFill>
                <a:latin typeface="Space Grotesk"/>
              </a:rPr>
              <a:t>02</a:t>
            </a:r>
          </a:p>
        </p:txBody>
      </p:sp>
      <p:sp>
        <p:nvSpPr>
          <p:cNvPr id="6" name="TextBox 5"/>
          <p:cNvSpPr txBox="1"/>
          <p:nvPr/>
        </p:nvSpPr>
        <p:spPr>
          <a:xfrm>
            <a:off x="640080" y="1828800"/>
            <a:ext cx="10911535" cy="320040"/>
          </a:xfrm>
          <a:prstGeom prst="rect">
            <a:avLst/>
          </a:prstGeom>
          <a:noFill/>
        </p:spPr>
        <p:txBody>
          <a:bodyPr wrap="square" lIns="0" rIns="0" tIns="0" bIns="0" anchor="t">
            <a:spAutoFit/>
          </a:bodyPr>
          <a:lstStyle/>
          <a:p>
            <a:pPr algn="l">
              <a:lnSpc>
                <a:spcPct val="110000"/>
              </a:lnSpc>
            </a:pPr>
            <a:r>
              <a:rPr sz="1100" b="1" i="0" spc="240">
                <a:solidFill>
                  <a:srgbClr val="FF9548"/>
                </a:solidFill>
                <a:latin typeface="JetBrains Mono"/>
              </a:rPr>
              <a:t>SECTION</a:t>
            </a:r>
          </a:p>
        </p:txBody>
      </p:sp>
      <p:sp>
        <p:nvSpPr>
          <p:cNvPr id="7" name="TextBox 6"/>
          <p:cNvSpPr txBox="1"/>
          <p:nvPr/>
        </p:nvSpPr>
        <p:spPr>
          <a:xfrm>
            <a:off x="640080" y="2286000"/>
            <a:ext cx="7772400" cy="1645920"/>
          </a:xfrm>
          <a:prstGeom prst="rect">
            <a:avLst/>
          </a:prstGeom>
          <a:noFill/>
        </p:spPr>
        <p:txBody>
          <a:bodyPr wrap="square" lIns="0" rIns="0" tIns="0" bIns="0" anchor="t">
            <a:spAutoFit/>
          </a:bodyPr>
          <a:lstStyle/>
          <a:p>
            <a:pPr algn="l">
              <a:lnSpc>
                <a:spcPct val="102000"/>
              </a:lnSpc>
            </a:pPr>
            <a:r>
              <a:rPr sz="6000" b="1" i="0">
                <a:solidFill>
                  <a:srgbClr val="FFFFFF"/>
                </a:solidFill>
                <a:latin typeface="Space Grotesk"/>
              </a:rPr>
              <a:t>Étude préliminaire et état de l'art</a:t>
            </a:r>
          </a:p>
        </p:txBody>
      </p:sp>
      <p:sp>
        <p:nvSpPr>
          <p:cNvPr id="8" name="TextBox 7"/>
          <p:cNvSpPr txBox="1"/>
          <p:nvPr/>
        </p:nvSpPr>
        <p:spPr>
          <a:xfrm>
            <a:off x="640080" y="4206240"/>
            <a:ext cx="8686800" cy="457200"/>
          </a:xfrm>
          <a:prstGeom prst="rect">
            <a:avLst/>
          </a:prstGeom>
          <a:noFill/>
        </p:spPr>
        <p:txBody>
          <a:bodyPr wrap="square" lIns="0" rIns="0" tIns="0" bIns="0" anchor="t">
            <a:spAutoFit/>
          </a:bodyPr>
          <a:lstStyle/>
          <a:p>
            <a:pPr algn="l">
              <a:lnSpc>
                <a:spcPct val="110000"/>
              </a:lnSpc>
            </a:pPr>
            <a:r>
              <a:rPr sz="1800" b="0" i="0">
                <a:solidFill>
                  <a:srgbClr val="C9D0DC"/>
                </a:solidFill>
                <a:latin typeface="Inter"/>
              </a:rPr>
              <a:t>Méthodologie · Matériels · Stack technique</a:t>
            </a:r>
          </a:p>
        </p:txBody>
      </p:sp>
      <p:sp>
        <p:nvSpPr>
          <p:cNvPr id="9" name="Rectangle 8"/>
          <p:cNvSpPr/>
          <p:nvPr/>
        </p:nvSpPr>
        <p:spPr>
          <a:xfrm>
            <a:off x="640080" y="3977639"/>
            <a:ext cx="2286000" cy="6350"/>
          </a:xfrm>
          <a:prstGeom prst="rect">
            <a:avLst/>
          </a:prstGeom>
          <a:solidFill>
            <a:srgbClr val="FF7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02 · ÉTAT DE L'ART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MÉTHODOLOGIE DE TRAVAIL</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Méthodologie Scrum.</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Cycle itératif adopté pendant les 6 mois du stage.</a:t>
            </a:r>
          </a:p>
        </p:txBody>
      </p:sp>
      <p:sp>
        <p:nvSpPr>
          <p:cNvPr id="9" name="Rounded Rectangle 8"/>
          <p:cNvSpPr/>
          <p:nvPr/>
        </p:nvSpPr>
        <p:spPr>
          <a:xfrm>
            <a:off x="640080" y="2606040"/>
            <a:ext cx="10911535"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33141"/>
            <a:ext cx="822960" cy="365760"/>
          </a:xfrm>
          <a:prstGeom prst="rect">
            <a:avLst/>
          </a:prstGeom>
          <a:noFill/>
        </p:spPr>
        <p:txBody>
          <a:bodyPr wrap="square" lIns="0" rIns="0" tIns="0" bIns="0" anchor="ctr">
            <a:spAutoFit/>
          </a:bodyPr>
          <a:lstStyle/>
          <a:p>
            <a:pPr algn="l">
              <a:lnSpc>
                <a:spcPct val="110000"/>
              </a:lnSpc>
            </a:pPr>
            <a:r>
              <a:rPr sz="2200" b="1" i="0">
                <a:solidFill>
                  <a:srgbClr val="FF9548"/>
                </a:solidFill>
                <a:latin typeface="Space Grotesk"/>
              </a:rPr>
              <a:t>01</a:t>
            </a:r>
          </a:p>
        </p:txBody>
      </p:sp>
      <p:sp>
        <p:nvSpPr>
          <p:cNvPr id="11" name="TextBox 10"/>
          <p:cNvSpPr txBox="1"/>
          <p:nvPr/>
        </p:nvSpPr>
        <p:spPr>
          <a:xfrm>
            <a:off x="1874520" y="2606040"/>
            <a:ext cx="3657600" cy="619963"/>
          </a:xfrm>
          <a:prstGeom prst="rect">
            <a:avLst/>
          </a:prstGeom>
          <a:noFill/>
        </p:spPr>
        <p:txBody>
          <a:bodyPr wrap="square" lIns="0" rIns="0" tIns="0" bIns="0" anchor="ctr">
            <a:spAutoFit/>
          </a:bodyPr>
          <a:lstStyle/>
          <a:p>
            <a:pPr algn="l">
              <a:lnSpc>
                <a:spcPct val="120000"/>
              </a:lnSpc>
            </a:pPr>
            <a:r>
              <a:rPr sz="1500" b="1" i="0">
                <a:solidFill>
                  <a:srgbClr val="FFFFFF"/>
                </a:solidFill>
                <a:latin typeface="Space Grotesk"/>
              </a:rPr>
              <a:t>Backlog produit</a:t>
            </a:r>
          </a:p>
        </p:txBody>
      </p:sp>
      <p:sp>
        <p:nvSpPr>
          <p:cNvPr id="12" name="TextBox 11"/>
          <p:cNvSpPr txBox="1"/>
          <p:nvPr/>
        </p:nvSpPr>
        <p:spPr>
          <a:xfrm>
            <a:off x="5715000" y="2606040"/>
            <a:ext cx="5562295" cy="619963"/>
          </a:xfrm>
          <a:prstGeom prst="rect">
            <a:avLst/>
          </a:prstGeom>
          <a:noFill/>
        </p:spPr>
        <p:txBody>
          <a:bodyPr wrap="square" lIns="0" rIns="0" tIns="0" bIns="0" anchor="ctr">
            <a:spAutoFit/>
          </a:bodyPr>
          <a:lstStyle/>
          <a:p>
            <a:pPr algn="l">
              <a:lnSpc>
                <a:spcPct val="130000"/>
              </a:lnSpc>
            </a:pPr>
            <a:r>
              <a:rPr sz="1200" b="0" i="0">
                <a:solidFill>
                  <a:srgbClr val="C9D0DC"/>
                </a:solidFill>
                <a:latin typeface="Inter"/>
              </a:rPr>
              <a:t>Besoins ICEM · exigences fonctionnelles priorisées</a:t>
            </a:r>
          </a:p>
        </p:txBody>
      </p:sp>
      <p:sp>
        <p:nvSpPr>
          <p:cNvPr id="13" name="Rounded Rectangle 12"/>
          <p:cNvSpPr/>
          <p:nvPr/>
        </p:nvSpPr>
        <p:spPr>
          <a:xfrm>
            <a:off x="640080" y="3354019"/>
            <a:ext cx="10911535"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481120"/>
            <a:ext cx="822960" cy="365760"/>
          </a:xfrm>
          <a:prstGeom prst="rect">
            <a:avLst/>
          </a:prstGeom>
          <a:noFill/>
        </p:spPr>
        <p:txBody>
          <a:bodyPr wrap="square" lIns="0" rIns="0" tIns="0" bIns="0" anchor="ctr">
            <a:spAutoFit/>
          </a:bodyPr>
          <a:lstStyle/>
          <a:p>
            <a:pPr algn="l">
              <a:lnSpc>
                <a:spcPct val="110000"/>
              </a:lnSpc>
            </a:pPr>
            <a:r>
              <a:rPr sz="2200" b="1" i="0">
                <a:solidFill>
                  <a:srgbClr val="FF9548"/>
                </a:solidFill>
                <a:latin typeface="Space Grotesk"/>
              </a:rPr>
              <a:t>02</a:t>
            </a:r>
          </a:p>
        </p:txBody>
      </p:sp>
      <p:sp>
        <p:nvSpPr>
          <p:cNvPr id="15" name="TextBox 14"/>
          <p:cNvSpPr txBox="1"/>
          <p:nvPr/>
        </p:nvSpPr>
        <p:spPr>
          <a:xfrm>
            <a:off x="1874520" y="3354019"/>
            <a:ext cx="3657600" cy="619963"/>
          </a:xfrm>
          <a:prstGeom prst="rect">
            <a:avLst/>
          </a:prstGeom>
          <a:noFill/>
        </p:spPr>
        <p:txBody>
          <a:bodyPr wrap="square" lIns="0" rIns="0" tIns="0" bIns="0" anchor="ctr">
            <a:spAutoFit/>
          </a:bodyPr>
          <a:lstStyle/>
          <a:p>
            <a:pPr algn="l">
              <a:lnSpc>
                <a:spcPct val="120000"/>
              </a:lnSpc>
            </a:pPr>
            <a:r>
              <a:rPr sz="1500" b="1" i="0">
                <a:solidFill>
                  <a:srgbClr val="FFFFFF"/>
                </a:solidFill>
                <a:latin typeface="Space Grotesk"/>
              </a:rPr>
              <a:t>Sprints</a:t>
            </a:r>
          </a:p>
        </p:txBody>
      </p:sp>
      <p:sp>
        <p:nvSpPr>
          <p:cNvPr id="16" name="TextBox 15"/>
          <p:cNvSpPr txBox="1"/>
          <p:nvPr/>
        </p:nvSpPr>
        <p:spPr>
          <a:xfrm>
            <a:off x="5715000" y="3354019"/>
            <a:ext cx="5562295" cy="619963"/>
          </a:xfrm>
          <a:prstGeom prst="rect">
            <a:avLst/>
          </a:prstGeom>
          <a:noFill/>
        </p:spPr>
        <p:txBody>
          <a:bodyPr wrap="square" lIns="0" rIns="0" tIns="0" bIns="0" anchor="ctr">
            <a:spAutoFit/>
          </a:bodyPr>
          <a:lstStyle/>
          <a:p>
            <a:pPr algn="l">
              <a:lnSpc>
                <a:spcPct val="130000"/>
              </a:lnSpc>
            </a:pPr>
            <a:r>
              <a:rPr sz="1200" b="0" i="0">
                <a:solidFill>
                  <a:srgbClr val="C9D0DC"/>
                </a:solidFill>
                <a:latin typeface="Inter"/>
              </a:rPr>
              <a:t>2 à 4 semaines · livrable incrémental à chaque itération</a:t>
            </a:r>
          </a:p>
        </p:txBody>
      </p:sp>
      <p:sp>
        <p:nvSpPr>
          <p:cNvPr id="17" name="Rounded Rectangle 16"/>
          <p:cNvSpPr/>
          <p:nvPr/>
        </p:nvSpPr>
        <p:spPr>
          <a:xfrm>
            <a:off x="640080" y="4101998"/>
            <a:ext cx="10911535"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229100"/>
            <a:ext cx="822960" cy="365760"/>
          </a:xfrm>
          <a:prstGeom prst="rect">
            <a:avLst/>
          </a:prstGeom>
          <a:noFill/>
        </p:spPr>
        <p:txBody>
          <a:bodyPr wrap="square" lIns="0" rIns="0" tIns="0" bIns="0" anchor="ctr">
            <a:spAutoFit/>
          </a:bodyPr>
          <a:lstStyle/>
          <a:p>
            <a:pPr algn="l">
              <a:lnSpc>
                <a:spcPct val="110000"/>
              </a:lnSpc>
            </a:pPr>
            <a:r>
              <a:rPr sz="2200" b="1" i="0">
                <a:solidFill>
                  <a:srgbClr val="FF9548"/>
                </a:solidFill>
                <a:latin typeface="Space Grotesk"/>
              </a:rPr>
              <a:t>03</a:t>
            </a:r>
          </a:p>
        </p:txBody>
      </p:sp>
      <p:sp>
        <p:nvSpPr>
          <p:cNvPr id="19" name="TextBox 18"/>
          <p:cNvSpPr txBox="1"/>
          <p:nvPr/>
        </p:nvSpPr>
        <p:spPr>
          <a:xfrm>
            <a:off x="1874520" y="4101998"/>
            <a:ext cx="3657600" cy="619963"/>
          </a:xfrm>
          <a:prstGeom prst="rect">
            <a:avLst/>
          </a:prstGeom>
          <a:noFill/>
        </p:spPr>
        <p:txBody>
          <a:bodyPr wrap="square" lIns="0" rIns="0" tIns="0" bIns="0" anchor="ctr">
            <a:spAutoFit/>
          </a:bodyPr>
          <a:lstStyle/>
          <a:p>
            <a:pPr algn="l">
              <a:lnSpc>
                <a:spcPct val="120000"/>
              </a:lnSpc>
            </a:pPr>
            <a:r>
              <a:rPr sz="1500" b="1" i="0">
                <a:solidFill>
                  <a:srgbClr val="FFFFFF"/>
                </a:solidFill>
                <a:latin typeface="Space Grotesk"/>
              </a:rPr>
              <a:t>Daily stand-up</a:t>
            </a:r>
          </a:p>
        </p:txBody>
      </p:sp>
      <p:sp>
        <p:nvSpPr>
          <p:cNvPr id="20" name="TextBox 19"/>
          <p:cNvSpPr txBox="1"/>
          <p:nvPr/>
        </p:nvSpPr>
        <p:spPr>
          <a:xfrm>
            <a:off x="5715000" y="4101998"/>
            <a:ext cx="5562295" cy="619963"/>
          </a:xfrm>
          <a:prstGeom prst="rect">
            <a:avLst/>
          </a:prstGeom>
          <a:noFill/>
        </p:spPr>
        <p:txBody>
          <a:bodyPr wrap="square" lIns="0" rIns="0" tIns="0" bIns="0" anchor="ctr">
            <a:spAutoFit/>
          </a:bodyPr>
          <a:lstStyle/>
          <a:p>
            <a:pPr algn="l">
              <a:lnSpc>
                <a:spcPct val="130000"/>
              </a:lnSpc>
            </a:pPr>
            <a:r>
              <a:rPr sz="1200" b="0" i="0">
                <a:solidFill>
                  <a:srgbClr val="C9D0DC"/>
                </a:solidFill>
                <a:latin typeface="Inter"/>
              </a:rPr>
              <a:t>10 min · état d'avancement · blocages identifiés</a:t>
            </a:r>
          </a:p>
        </p:txBody>
      </p:sp>
      <p:sp>
        <p:nvSpPr>
          <p:cNvPr id="21" name="Rounded Rectangle 20"/>
          <p:cNvSpPr/>
          <p:nvPr/>
        </p:nvSpPr>
        <p:spPr>
          <a:xfrm>
            <a:off x="640080" y="4849977"/>
            <a:ext cx="10911535"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977079"/>
            <a:ext cx="822960" cy="365760"/>
          </a:xfrm>
          <a:prstGeom prst="rect">
            <a:avLst/>
          </a:prstGeom>
          <a:noFill/>
        </p:spPr>
        <p:txBody>
          <a:bodyPr wrap="square" lIns="0" rIns="0" tIns="0" bIns="0" anchor="ctr">
            <a:spAutoFit/>
          </a:bodyPr>
          <a:lstStyle/>
          <a:p>
            <a:pPr algn="l">
              <a:lnSpc>
                <a:spcPct val="110000"/>
              </a:lnSpc>
            </a:pPr>
            <a:r>
              <a:rPr sz="2200" b="1" i="0">
                <a:solidFill>
                  <a:srgbClr val="FF9548"/>
                </a:solidFill>
                <a:latin typeface="Space Grotesk"/>
              </a:rPr>
              <a:t>04</a:t>
            </a:r>
          </a:p>
        </p:txBody>
      </p:sp>
      <p:sp>
        <p:nvSpPr>
          <p:cNvPr id="23" name="TextBox 22"/>
          <p:cNvSpPr txBox="1"/>
          <p:nvPr/>
        </p:nvSpPr>
        <p:spPr>
          <a:xfrm>
            <a:off x="1874520" y="4849977"/>
            <a:ext cx="3657600" cy="619963"/>
          </a:xfrm>
          <a:prstGeom prst="rect">
            <a:avLst/>
          </a:prstGeom>
          <a:noFill/>
        </p:spPr>
        <p:txBody>
          <a:bodyPr wrap="square" lIns="0" rIns="0" tIns="0" bIns="0" anchor="ctr">
            <a:spAutoFit/>
          </a:bodyPr>
          <a:lstStyle/>
          <a:p>
            <a:pPr algn="l">
              <a:lnSpc>
                <a:spcPct val="120000"/>
              </a:lnSpc>
            </a:pPr>
            <a:r>
              <a:rPr sz="1500" b="1" i="0">
                <a:solidFill>
                  <a:srgbClr val="FFFFFF"/>
                </a:solidFill>
                <a:latin typeface="Space Grotesk"/>
              </a:rPr>
              <a:t>Revue de sprint</a:t>
            </a:r>
          </a:p>
        </p:txBody>
      </p:sp>
      <p:sp>
        <p:nvSpPr>
          <p:cNvPr id="24" name="TextBox 23"/>
          <p:cNvSpPr txBox="1"/>
          <p:nvPr/>
        </p:nvSpPr>
        <p:spPr>
          <a:xfrm>
            <a:off x="5715000" y="4849977"/>
            <a:ext cx="5562295" cy="619963"/>
          </a:xfrm>
          <a:prstGeom prst="rect">
            <a:avLst/>
          </a:prstGeom>
          <a:noFill/>
        </p:spPr>
        <p:txBody>
          <a:bodyPr wrap="square" lIns="0" rIns="0" tIns="0" bIns="0" anchor="ctr">
            <a:spAutoFit/>
          </a:bodyPr>
          <a:lstStyle/>
          <a:p>
            <a:pPr algn="l">
              <a:lnSpc>
                <a:spcPct val="130000"/>
              </a:lnSpc>
            </a:pPr>
            <a:r>
              <a:rPr sz="1200" b="0" i="0">
                <a:solidFill>
                  <a:srgbClr val="C9D0DC"/>
                </a:solidFill>
                <a:latin typeface="Inter"/>
              </a:rPr>
              <a:t>Livrable présenté aux encadreurs · feedback intégré</a:t>
            </a:r>
          </a:p>
        </p:txBody>
      </p:sp>
      <p:sp>
        <p:nvSpPr>
          <p:cNvPr id="25" name="Rounded Rectangle 24"/>
          <p:cNvSpPr/>
          <p:nvPr/>
        </p:nvSpPr>
        <p:spPr>
          <a:xfrm>
            <a:off x="640080" y="5597956"/>
            <a:ext cx="10911535"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725058"/>
            <a:ext cx="822960" cy="365760"/>
          </a:xfrm>
          <a:prstGeom prst="rect">
            <a:avLst/>
          </a:prstGeom>
          <a:noFill/>
        </p:spPr>
        <p:txBody>
          <a:bodyPr wrap="square" lIns="0" rIns="0" tIns="0" bIns="0" anchor="ctr">
            <a:spAutoFit/>
          </a:bodyPr>
          <a:lstStyle/>
          <a:p>
            <a:pPr algn="l">
              <a:lnSpc>
                <a:spcPct val="110000"/>
              </a:lnSpc>
            </a:pPr>
            <a:r>
              <a:rPr sz="2200" b="1" i="0">
                <a:solidFill>
                  <a:srgbClr val="FF9548"/>
                </a:solidFill>
                <a:latin typeface="Space Grotesk"/>
              </a:rPr>
              <a:t>05</a:t>
            </a:r>
          </a:p>
        </p:txBody>
      </p:sp>
      <p:sp>
        <p:nvSpPr>
          <p:cNvPr id="27" name="TextBox 26"/>
          <p:cNvSpPr txBox="1"/>
          <p:nvPr/>
        </p:nvSpPr>
        <p:spPr>
          <a:xfrm>
            <a:off x="1874520" y="5597956"/>
            <a:ext cx="3657600" cy="619963"/>
          </a:xfrm>
          <a:prstGeom prst="rect">
            <a:avLst/>
          </a:prstGeom>
          <a:noFill/>
        </p:spPr>
        <p:txBody>
          <a:bodyPr wrap="square" lIns="0" rIns="0" tIns="0" bIns="0" anchor="ctr">
            <a:spAutoFit/>
          </a:bodyPr>
          <a:lstStyle/>
          <a:p>
            <a:pPr algn="l">
              <a:lnSpc>
                <a:spcPct val="120000"/>
              </a:lnSpc>
            </a:pPr>
            <a:r>
              <a:rPr sz="1500" b="1" i="0">
                <a:solidFill>
                  <a:srgbClr val="FFFFFF"/>
                </a:solidFill>
                <a:latin typeface="Space Grotesk"/>
              </a:rPr>
              <a:t>Rétrospective</a:t>
            </a:r>
          </a:p>
        </p:txBody>
      </p:sp>
      <p:sp>
        <p:nvSpPr>
          <p:cNvPr id="28" name="TextBox 27"/>
          <p:cNvSpPr txBox="1"/>
          <p:nvPr/>
        </p:nvSpPr>
        <p:spPr>
          <a:xfrm>
            <a:off x="5715000" y="5597956"/>
            <a:ext cx="5562295" cy="619963"/>
          </a:xfrm>
          <a:prstGeom prst="rect">
            <a:avLst/>
          </a:prstGeom>
          <a:noFill/>
        </p:spPr>
        <p:txBody>
          <a:bodyPr wrap="square" lIns="0" rIns="0" tIns="0" bIns="0" anchor="ctr">
            <a:spAutoFit/>
          </a:bodyPr>
          <a:lstStyle/>
          <a:p>
            <a:pPr algn="l">
              <a:lnSpc>
                <a:spcPct val="130000"/>
              </a:lnSpc>
            </a:pPr>
            <a:r>
              <a:rPr sz="1200" b="0" i="0">
                <a:solidFill>
                  <a:srgbClr val="C9D0DC"/>
                </a:solidFill>
                <a:latin typeface="Inter"/>
              </a:rPr>
              <a:t>Améliorer le cycle suivant · dette technique traitée</a:t>
            </a:r>
          </a:p>
        </p:txBody>
      </p:sp>
      <p:sp>
        <p:nvSpPr>
          <p:cNvPr id="29" name="TextBox 28"/>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09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02 · ÉTAT DE L'ART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MATÉRIEL D'INSTRUMENTATION</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Cinq capteurs.</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Quatre grandeurs physiques · une seule vérité terrain.</a:t>
            </a:r>
          </a:p>
        </p:txBody>
      </p:sp>
      <p:sp>
        <p:nvSpPr>
          <p:cNvPr id="9" name="Rounded Rectangle 8"/>
          <p:cNvSpPr/>
          <p:nvPr/>
        </p:nvSpPr>
        <p:spPr>
          <a:xfrm>
            <a:off x="640080" y="2651760"/>
            <a:ext cx="2556433"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053513" y="2834640"/>
            <a:ext cx="914400" cy="256032"/>
          </a:xfrm>
          <a:prstGeom prst="roundRect">
            <a:avLst>
              <a:gd name="adj" fmla="val 50000"/>
            </a:avLst>
          </a:prstGeom>
          <a:solidFill>
            <a:srgbClr val="FF7A1A">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800" b="1" spc="140">
                <a:solidFill>
                  <a:srgbClr val="050B1E"/>
                </a:solidFill>
                <a:latin typeface="JetBrains Mono"/>
              </a:rPr>
              <a:t>×2</a:t>
            </a:r>
          </a:p>
        </p:txBody>
      </p:sp>
      <p:sp>
        <p:nvSpPr>
          <p:cNvPr id="11" name="TextBox 10"/>
          <p:cNvSpPr txBox="1"/>
          <p:nvPr/>
        </p:nvSpPr>
        <p:spPr>
          <a:xfrm>
            <a:off x="868680" y="2852928"/>
            <a:ext cx="2099233"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DS18B20 ×2</a:t>
            </a:r>
          </a:p>
        </p:txBody>
      </p:sp>
      <p:sp>
        <p:nvSpPr>
          <p:cNvPr id="12" name="TextBox 11"/>
          <p:cNvSpPr txBox="1"/>
          <p:nvPr/>
        </p:nvSpPr>
        <p:spPr>
          <a:xfrm>
            <a:off x="868680" y="3355848"/>
            <a:ext cx="2099233" cy="265176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Température · sonde 1-Wire
Moteur + armoire électrique</a:t>
            </a:r>
          </a:p>
        </p:txBody>
      </p:sp>
      <p:sp>
        <p:nvSpPr>
          <p:cNvPr id="13" name="Rounded Rectangle 12"/>
          <p:cNvSpPr/>
          <p:nvPr/>
        </p:nvSpPr>
        <p:spPr>
          <a:xfrm>
            <a:off x="3425113" y="2651760"/>
            <a:ext cx="2556433"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3713" y="2852928"/>
            <a:ext cx="2099233"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MPU-6050</a:t>
            </a:r>
          </a:p>
        </p:txBody>
      </p:sp>
      <p:sp>
        <p:nvSpPr>
          <p:cNvPr id="15" name="TextBox 14"/>
          <p:cNvSpPr txBox="1"/>
          <p:nvPr/>
        </p:nvSpPr>
        <p:spPr>
          <a:xfrm>
            <a:off x="3653713" y="3355848"/>
            <a:ext cx="2099233" cy="265176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Vibrations · accéléromètre 3 axes
Châssis moteur</a:t>
            </a:r>
          </a:p>
        </p:txBody>
      </p:sp>
      <p:sp>
        <p:nvSpPr>
          <p:cNvPr id="16" name="Rounded Rectangle 15"/>
          <p:cNvSpPr/>
          <p:nvPr/>
        </p:nvSpPr>
        <p:spPr>
          <a:xfrm>
            <a:off x="6210147" y="2651760"/>
            <a:ext cx="2556433"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8747" y="2852928"/>
            <a:ext cx="2099233"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AMG8833</a:t>
            </a:r>
          </a:p>
        </p:txBody>
      </p:sp>
      <p:sp>
        <p:nvSpPr>
          <p:cNvPr id="18" name="TextBox 17"/>
          <p:cNvSpPr txBox="1"/>
          <p:nvPr/>
        </p:nvSpPr>
        <p:spPr>
          <a:xfrm>
            <a:off x="6438747" y="3355848"/>
            <a:ext cx="2099233" cy="265176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Imagerie thermique · grille 8×8
Vue armoire</a:t>
            </a:r>
          </a:p>
        </p:txBody>
      </p:sp>
      <p:sp>
        <p:nvSpPr>
          <p:cNvPr id="19" name="Rounded Rectangle 18"/>
          <p:cNvSpPr/>
          <p:nvPr/>
        </p:nvSpPr>
        <p:spPr>
          <a:xfrm>
            <a:off x="8995181" y="2651760"/>
            <a:ext cx="2556433"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3781" y="2852928"/>
            <a:ext cx="2099233"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SCT-013</a:t>
            </a:r>
          </a:p>
        </p:txBody>
      </p:sp>
      <p:sp>
        <p:nvSpPr>
          <p:cNvPr id="21" name="TextBox 20"/>
          <p:cNvSpPr txBox="1"/>
          <p:nvPr/>
        </p:nvSpPr>
        <p:spPr>
          <a:xfrm>
            <a:off x="9223781" y="3355848"/>
            <a:ext cx="2099233" cy="265176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Courant électrique · pince ampèremétrique
Feeder armoire (via ADS1015)</a:t>
            </a:r>
          </a:p>
        </p:txBody>
      </p:sp>
      <p:sp>
        <p:nvSpPr>
          <p:cNvPr id="22" name="TextBox 21"/>
          <p:cNvSpPr txBox="1"/>
          <p:nvPr/>
        </p:nvSpPr>
        <p:spPr>
          <a:xfrm>
            <a:off x="640080" y="6537960"/>
            <a:ext cx="10911535" cy="228600"/>
          </a:xfrm>
          <a:prstGeom prst="rect">
            <a:avLst/>
          </a:prstGeom>
          <a:noFill/>
        </p:spPr>
        <p:txBody>
          <a:bodyPr wrap="square" lIns="0" rIns="0" tIns="0" bIns="0" anchor="t">
            <a:spAutoFit/>
          </a:bodyPr>
          <a:lstStyle/>
          <a:p>
            <a:pPr algn="l">
              <a:lnSpc>
                <a:spcPct val="110000"/>
              </a:lnSpc>
            </a:pPr>
            <a:r>
              <a:rPr sz="900" b="0" i="0" spc="120">
                <a:solidFill>
                  <a:srgbClr val="7D8496"/>
                </a:solidFill>
                <a:latin typeface="JetBrains Mono"/>
              </a:rPr>
              <a:t>ÉCHANTILLONNAGE 1 s   ·   TRANSMISSION 60 s   ·   JSON HTTP POST</a:t>
            </a:r>
          </a:p>
        </p:txBody>
      </p:sp>
      <p:sp>
        <p:nvSpPr>
          <p:cNvPr id="23" name="TextBox 22"/>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02 · ÉTAT DE L'ART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STACK TECHNIQUE</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Stack technique.</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Trois familles technologiques mobilisées.</a:t>
            </a:r>
          </a:p>
        </p:txBody>
      </p:sp>
      <p:sp>
        <p:nvSpPr>
          <p:cNvPr id="9" name="Rounded Rectangle 8"/>
          <p:cNvSpPr/>
          <p:nvPr/>
        </p:nvSpPr>
        <p:spPr>
          <a:xfrm>
            <a:off x="640080" y="2697480"/>
            <a:ext cx="3454298" cy="352044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971800"/>
            <a:ext cx="2905658" cy="365760"/>
          </a:xfrm>
          <a:prstGeom prst="rect">
            <a:avLst/>
          </a:prstGeom>
          <a:noFill/>
        </p:spPr>
        <p:txBody>
          <a:bodyPr wrap="square" lIns="0" rIns="0" tIns="0" bIns="0" anchor="t">
            <a:spAutoFit/>
          </a:bodyPr>
          <a:lstStyle/>
          <a:p>
            <a:pPr algn="l">
              <a:lnSpc>
                <a:spcPct val="110000"/>
              </a:lnSpc>
            </a:pPr>
            <a:r>
              <a:rPr sz="1100" b="1" i="0" spc="180">
                <a:solidFill>
                  <a:srgbClr val="FF9548"/>
                </a:solidFill>
                <a:latin typeface="JetBrains Mono"/>
              </a:rPr>
              <a:t>01</a:t>
            </a:r>
          </a:p>
        </p:txBody>
      </p:sp>
      <p:sp>
        <p:nvSpPr>
          <p:cNvPr id="11" name="TextBox 10"/>
          <p:cNvSpPr txBox="1"/>
          <p:nvPr/>
        </p:nvSpPr>
        <p:spPr>
          <a:xfrm>
            <a:off x="914400" y="3291840"/>
            <a:ext cx="2905658" cy="548640"/>
          </a:xfrm>
          <a:prstGeom prst="rect">
            <a:avLst/>
          </a:prstGeom>
          <a:noFill/>
        </p:spPr>
        <p:txBody>
          <a:bodyPr wrap="square" lIns="0" rIns="0" tIns="0" bIns="0" anchor="t">
            <a:spAutoFit/>
          </a:bodyPr>
          <a:lstStyle/>
          <a:p>
            <a:pPr algn="l">
              <a:lnSpc>
                <a:spcPct val="110000"/>
              </a:lnSpc>
            </a:pPr>
            <a:r>
              <a:rPr sz="2000" b="1" i="0">
                <a:solidFill>
                  <a:srgbClr val="FFFFFF"/>
                </a:solidFill>
                <a:latin typeface="Space Grotesk"/>
              </a:rPr>
              <a:t>Backend</a:t>
            </a:r>
          </a:p>
        </p:txBody>
      </p:sp>
      <p:sp>
        <p:nvSpPr>
          <p:cNvPr id="12" name="Rectangle 11"/>
          <p:cNvSpPr/>
          <p:nvPr/>
        </p:nvSpPr>
        <p:spPr>
          <a:xfrm>
            <a:off x="914400" y="3977640"/>
            <a:ext cx="731520" cy="6350"/>
          </a:xfrm>
          <a:prstGeom prst="rect">
            <a:avLst/>
          </a:prstGeom>
          <a:solidFill>
            <a:srgbClr val="FF7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251960"/>
            <a:ext cx="2905658" cy="1691640"/>
          </a:xfrm>
          <a:prstGeom prst="rect">
            <a:avLst/>
          </a:prstGeom>
          <a:noFill/>
        </p:spPr>
        <p:txBody>
          <a:bodyPr wrap="square" lIns="0" rIns="0" tIns="0" bIns="0" anchor="t">
            <a:spAutoFit/>
          </a:bodyPr>
          <a:lstStyle/>
          <a:p>
            <a:pPr algn="l">
              <a:lnSpc>
                <a:spcPct val="160000"/>
              </a:lnSpc>
            </a:pPr>
            <a:r>
              <a:rPr sz="1400" b="0" i="0">
                <a:solidFill>
                  <a:srgbClr val="F4F6FB"/>
                </a:solidFill>
                <a:latin typeface="Inter"/>
              </a:rPr>
              <a:t>Node.js · Express
MongoDB · JWT
Mongoose ODM
asyncHandler pattern</a:t>
            </a:r>
          </a:p>
        </p:txBody>
      </p:sp>
      <p:sp>
        <p:nvSpPr>
          <p:cNvPr id="14" name="Rounded Rectangle 13"/>
          <p:cNvSpPr/>
          <p:nvPr/>
        </p:nvSpPr>
        <p:spPr>
          <a:xfrm>
            <a:off x="4368698" y="2697480"/>
            <a:ext cx="3454298" cy="352044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43018" y="2971800"/>
            <a:ext cx="2905658" cy="365760"/>
          </a:xfrm>
          <a:prstGeom prst="rect">
            <a:avLst/>
          </a:prstGeom>
          <a:noFill/>
        </p:spPr>
        <p:txBody>
          <a:bodyPr wrap="square" lIns="0" rIns="0" tIns="0" bIns="0" anchor="t">
            <a:spAutoFit/>
          </a:bodyPr>
          <a:lstStyle/>
          <a:p>
            <a:pPr algn="l">
              <a:lnSpc>
                <a:spcPct val="110000"/>
              </a:lnSpc>
            </a:pPr>
            <a:r>
              <a:rPr sz="1100" b="1" i="0" spc="180">
                <a:solidFill>
                  <a:srgbClr val="FF9548"/>
                </a:solidFill>
                <a:latin typeface="JetBrains Mono"/>
              </a:rPr>
              <a:t>02</a:t>
            </a:r>
          </a:p>
        </p:txBody>
      </p:sp>
      <p:sp>
        <p:nvSpPr>
          <p:cNvPr id="16" name="TextBox 15"/>
          <p:cNvSpPr txBox="1"/>
          <p:nvPr/>
        </p:nvSpPr>
        <p:spPr>
          <a:xfrm>
            <a:off x="4643018" y="3291840"/>
            <a:ext cx="2905658" cy="548640"/>
          </a:xfrm>
          <a:prstGeom prst="rect">
            <a:avLst/>
          </a:prstGeom>
          <a:noFill/>
        </p:spPr>
        <p:txBody>
          <a:bodyPr wrap="square" lIns="0" rIns="0" tIns="0" bIns="0" anchor="t">
            <a:spAutoFit/>
          </a:bodyPr>
          <a:lstStyle/>
          <a:p>
            <a:pPr algn="l">
              <a:lnSpc>
                <a:spcPct val="110000"/>
              </a:lnSpc>
            </a:pPr>
            <a:r>
              <a:rPr sz="2000" b="1" i="0">
                <a:solidFill>
                  <a:srgbClr val="FFFFFF"/>
                </a:solidFill>
                <a:latin typeface="Space Grotesk"/>
              </a:rPr>
              <a:t>Intelligence artificielle</a:t>
            </a:r>
          </a:p>
        </p:txBody>
      </p:sp>
      <p:sp>
        <p:nvSpPr>
          <p:cNvPr id="17" name="Rectangle 16"/>
          <p:cNvSpPr/>
          <p:nvPr/>
        </p:nvSpPr>
        <p:spPr>
          <a:xfrm>
            <a:off x="4643018" y="3977640"/>
            <a:ext cx="731520" cy="6350"/>
          </a:xfrm>
          <a:prstGeom prst="rect">
            <a:avLst/>
          </a:prstGeom>
          <a:solidFill>
            <a:srgbClr val="FF7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018" y="4251960"/>
            <a:ext cx="2905658" cy="1691640"/>
          </a:xfrm>
          <a:prstGeom prst="rect">
            <a:avLst/>
          </a:prstGeom>
          <a:noFill/>
        </p:spPr>
        <p:txBody>
          <a:bodyPr wrap="square" lIns="0" rIns="0" tIns="0" bIns="0" anchor="t">
            <a:spAutoFit/>
          </a:bodyPr>
          <a:lstStyle/>
          <a:p>
            <a:pPr algn="l">
              <a:lnSpc>
                <a:spcPct val="160000"/>
              </a:lnSpc>
            </a:pPr>
            <a:r>
              <a:rPr sz="1400" b="0" i="0">
                <a:solidFill>
                  <a:srgbClr val="F4F6FB"/>
                </a:solidFill>
                <a:latin typeface="Inter"/>
              </a:rPr>
              <a:t>Python · FastAPI
scikit-learn
XGBoost
Uvicorn</a:t>
            </a:r>
          </a:p>
        </p:txBody>
      </p:sp>
      <p:sp>
        <p:nvSpPr>
          <p:cNvPr id="19" name="Rounded Rectangle 18"/>
          <p:cNvSpPr/>
          <p:nvPr/>
        </p:nvSpPr>
        <p:spPr>
          <a:xfrm>
            <a:off x="8097316" y="2697480"/>
            <a:ext cx="3454298" cy="352044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1636" y="2971800"/>
            <a:ext cx="2905658" cy="365760"/>
          </a:xfrm>
          <a:prstGeom prst="rect">
            <a:avLst/>
          </a:prstGeom>
          <a:noFill/>
        </p:spPr>
        <p:txBody>
          <a:bodyPr wrap="square" lIns="0" rIns="0" tIns="0" bIns="0" anchor="t">
            <a:spAutoFit/>
          </a:bodyPr>
          <a:lstStyle/>
          <a:p>
            <a:pPr algn="l">
              <a:lnSpc>
                <a:spcPct val="110000"/>
              </a:lnSpc>
            </a:pPr>
            <a:r>
              <a:rPr sz="1100" b="1" i="0" spc="180">
                <a:solidFill>
                  <a:srgbClr val="FF9548"/>
                </a:solidFill>
                <a:latin typeface="JetBrains Mono"/>
              </a:rPr>
              <a:t>03</a:t>
            </a:r>
          </a:p>
        </p:txBody>
      </p:sp>
      <p:sp>
        <p:nvSpPr>
          <p:cNvPr id="21" name="TextBox 20"/>
          <p:cNvSpPr txBox="1"/>
          <p:nvPr/>
        </p:nvSpPr>
        <p:spPr>
          <a:xfrm>
            <a:off x="8371636" y="3291840"/>
            <a:ext cx="2905658" cy="548640"/>
          </a:xfrm>
          <a:prstGeom prst="rect">
            <a:avLst/>
          </a:prstGeom>
          <a:noFill/>
        </p:spPr>
        <p:txBody>
          <a:bodyPr wrap="square" lIns="0" rIns="0" tIns="0" bIns="0" anchor="t">
            <a:spAutoFit/>
          </a:bodyPr>
          <a:lstStyle/>
          <a:p>
            <a:pPr algn="l">
              <a:lnSpc>
                <a:spcPct val="110000"/>
              </a:lnSpc>
            </a:pPr>
            <a:r>
              <a:rPr sz="2000" b="1" i="0">
                <a:solidFill>
                  <a:srgbClr val="FFFFFF"/>
                </a:solidFill>
                <a:latin typeface="Space Grotesk"/>
              </a:rPr>
              <a:t>Frontend &amp; Mobile</a:t>
            </a:r>
          </a:p>
        </p:txBody>
      </p:sp>
      <p:sp>
        <p:nvSpPr>
          <p:cNvPr id="22" name="Rectangle 21"/>
          <p:cNvSpPr/>
          <p:nvPr/>
        </p:nvSpPr>
        <p:spPr>
          <a:xfrm>
            <a:off x="8371636" y="3977640"/>
            <a:ext cx="731520" cy="6350"/>
          </a:xfrm>
          <a:prstGeom prst="rect">
            <a:avLst/>
          </a:prstGeom>
          <a:solidFill>
            <a:srgbClr val="FF7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71636" y="4251960"/>
            <a:ext cx="2905658" cy="1691640"/>
          </a:xfrm>
          <a:prstGeom prst="rect">
            <a:avLst/>
          </a:prstGeom>
          <a:noFill/>
        </p:spPr>
        <p:txBody>
          <a:bodyPr wrap="square" lIns="0" rIns="0" tIns="0" bIns="0" anchor="t">
            <a:spAutoFit/>
          </a:bodyPr>
          <a:lstStyle/>
          <a:p>
            <a:pPr algn="l">
              <a:lnSpc>
                <a:spcPct val="160000"/>
              </a:lnSpc>
            </a:pPr>
            <a:r>
              <a:rPr sz="1400" b="0" i="0">
                <a:solidFill>
                  <a:srgbClr val="F4F6FB"/>
                </a:solidFill>
                <a:latin typeface="Inter"/>
              </a:rPr>
              <a:t>React · Vite
Flutter · Dart
Firebase (push)
Material 3</a:t>
            </a:r>
          </a:p>
        </p:txBody>
      </p:sp>
      <p:sp>
        <p:nvSpPr>
          <p:cNvPr id="24" name="TextBox 23"/>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76895" y="731520"/>
            <a:ext cx="3657600" cy="3200400"/>
          </a:xfrm>
          <a:prstGeom prst="rect">
            <a:avLst/>
          </a:prstGeom>
          <a:noFill/>
        </p:spPr>
        <p:txBody>
          <a:bodyPr wrap="square" lIns="0" rIns="0" tIns="0" bIns="0" anchor="t">
            <a:spAutoFit/>
          </a:bodyPr>
          <a:lstStyle/>
          <a:p>
            <a:pPr algn="r">
              <a:lnSpc>
                <a:spcPct val="100000"/>
              </a:lnSpc>
            </a:pPr>
            <a:r>
              <a:rPr sz="20000" b="1" i="0">
                <a:solidFill>
                  <a:srgbClr val="FF7A1A"/>
                </a:solidFill>
                <a:latin typeface="Space Grotesk"/>
              </a:rPr>
              <a:t>03</a:t>
            </a:r>
          </a:p>
        </p:txBody>
      </p:sp>
      <p:sp>
        <p:nvSpPr>
          <p:cNvPr id="6" name="TextBox 5"/>
          <p:cNvSpPr txBox="1"/>
          <p:nvPr/>
        </p:nvSpPr>
        <p:spPr>
          <a:xfrm>
            <a:off x="640080" y="1828800"/>
            <a:ext cx="10911535" cy="320040"/>
          </a:xfrm>
          <a:prstGeom prst="rect">
            <a:avLst/>
          </a:prstGeom>
          <a:noFill/>
        </p:spPr>
        <p:txBody>
          <a:bodyPr wrap="square" lIns="0" rIns="0" tIns="0" bIns="0" anchor="t">
            <a:spAutoFit/>
          </a:bodyPr>
          <a:lstStyle/>
          <a:p>
            <a:pPr algn="l">
              <a:lnSpc>
                <a:spcPct val="110000"/>
              </a:lnSpc>
            </a:pPr>
            <a:r>
              <a:rPr sz="1100" b="1" i="0" spc="240">
                <a:solidFill>
                  <a:srgbClr val="FF9548"/>
                </a:solidFill>
                <a:latin typeface="JetBrains Mono"/>
              </a:rPr>
              <a:t>SECTION</a:t>
            </a:r>
          </a:p>
        </p:txBody>
      </p:sp>
      <p:sp>
        <p:nvSpPr>
          <p:cNvPr id="7" name="TextBox 6"/>
          <p:cNvSpPr txBox="1"/>
          <p:nvPr/>
        </p:nvSpPr>
        <p:spPr>
          <a:xfrm>
            <a:off x="640080" y="2286000"/>
            <a:ext cx="7772400" cy="1645920"/>
          </a:xfrm>
          <a:prstGeom prst="rect">
            <a:avLst/>
          </a:prstGeom>
          <a:noFill/>
        </p:spPr>
        <p:txBody>
          <a:bodyPr wrap="square" lIns="0" rIns="0" tIns="0" bIns="0" anchor="t">
            <a:spAutoFit/>
          </a:bodyPr>
          <a:lstStyle/>
          <a:p>
            <a:pPr algn="l">
              <a:lnSpc>
                <a:spcPct val="102000"/>
              </a:lnSpc>
            </a:pPr>
            <a:r>
              <a:rPr sz="6000" b="1" i="0">
                <a:solidFill>
                  <a:srgbClr val="FFFFFF"/>
                </a:solidFill>
                <a:latin typeface="Space Grotesk"/>
              </a:rPr>
              <a:t>Conception du système</a:t>
            </a:r>
          </a:p>
        </p:txBody>
      </p:sp>
      <p:sp>
        <p:nvSpPr>
          <p:cNvPr id="8" name="TextBox 7"/>
          <p:cNvSpPr txBox="1"/>
          <p:nvPr/>
        </p:nvSpPr>
        <p:spPr>
          <a:xfrm>
            <a:off x="640080" y="4206240"/>
            <a:ext cx="8686800" cy="457200"/>
          </a:xfrm>
          <a:prstGeom prst="rect">
            <a:avLst/>
          </a:prstGeom>
          <a:noFill/>
        </p:spPr>
        <p:txBody>
          <a:bodyPr wrap="square" lIns="0" rIns="0" tIns="0" bIns="0" anchor="t">
            <a:spAutoFit/>
          </a:bodyPr>
          <a:lstStyle/>
          <a:p>
            <a:pPr algn="l">
              <a:lnSpc>
                <a:spcPct val="110000"/>
              </a:lnSpc>
            </a:pPr>
            <a:r>
              <a:rPr sz="1800" b="0" i="0">
                <a:solidFill>
                  <a:srgbClr val="C9D0DC"/>
                </a:solidFill>
                <a:latin typeface="Inter"/>
              </a:rPr>
              <a:t>Architecture 5 couches · Edge · UML · Pipeline temps réel</a:t>
            </a:r>
          </a:p>
        </p:txBody>
      </p:sp>
      <p:sp>
        <p:nvSpPr>
          <p:cNvPr id="9" name="Rectangle 8"/>
          <p:cNvSpPr/>
          <p:nvPr/>
        </p:nvSpPr>
        <p:spPr>
          <a:xfrm>
            <a:off x="640080" y="3977639"/>
            <a:ext cx="2286000" cy="6350"/>
          </a:xfrm>
          <a:prstGeom prst="rect">
            <a:avLst/>
          </a:prstGeom>
          <a:solidFill>
            <a:srgbClr val="FF7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03 · CONCEPTION</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MODÈLE EN COUCHES</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Cinq couches.</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Du capteur physique au téléphone du technicien.</a:t>
            </a:r>
          </a:p>
        </p:txBody>
      </p:sp>
      <p:sp>
        <p:nvSpPr>
          <p:cNvPr id="9" name="Rounded Rectangle 8"/>
          <p:cNvSpPr/>
          <p:nvPr/>
        </p:nvSpPr>
        <p:spPr>
          <a:xfrm>
            <a:off x="640080" y="2606040"/>
            <a:ext cx="10911535"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33141"/>
            <a:ext cx="822960" cy="365760"/>
          </a:xfrm>
          <a:prstGeom prst="rect">
            <a:avLst/>
          </a:prstGeom>
          <a:noFill/>
        </p:spPr>
        <p:txBody>
          <a:bodyPr wrap="square" lIns="0" rIns="0" tIns="0" bIns="0" anchor="ctr">
            <a:spAutoFit/>
          </a:bodyPr>
          <a:lstStyle/>
          <a:p>
            <a:pPr algn="l">
              <a:lnSpc>
                <a:spcPct val="110000"/>
              </a:lnSpc>
            </a:pPr>
            <a:r>
              <a:rPr sz="2200" b="1" i="0">
                <a:solidFill>
                  <a:srgbClr val="FF9548"/>
                </a:solidFill>
                <a:latin typeface="Space Grotesk"/>
              </a:rPr>
              <a:t>05</a:t>
            </a:r>
          </a:p>
        </p:txBody>
      </p:sp>
      <p:sp>
        <p:nvSpPr>
          <p:cNvPr id="11" name="TextBox 10"/>
          <p:cNvSpPr txBox="1"/>
          <p:nvPr/>
        </p:nvSpPr>
        <p:spPr>
          <a:xfrm>
            <a:off x="1874520" y="2606040"/>
            <a:ext cx="3657600" cy="619963"/>
          </a:xfrm>
          <a:prstGeom prst="rect">
            <a:avLst/>
          </a:prstGeom>
          <a:noFill/>
        </p:spPr>
        <p:txBody>
          <a:bodyPr wrap="square" lIns="0" rIns="0" tIns="0" bIns="0" anchor="ctr">
            <a:spAutoFit/>
          </a:bodyPr>
          <a:lstStyle/>
          <a:p>
            <a:pPr algn="l">
              <a:lnSpc>
                <a:spcPct val="120000"/>
              </a:lnSpc>
            </a:pPr>
            <a:r>
              <a:rPr sz="1500" b="1" i="0">
                <a:solidFill>
                  <a:srgbClr val="FFFFFF"/>
                </a:solidFill>
                <a:latin typeface="Space Grotesk"/>
              </a:rPr>
              <a:t>Application</a:t>
            </a:r>
          </a:p>
        </p:txBody>
      </p:sp>
      <p:sp>
        <p:nvSpPr>
          <p:cNvPr id="12" name="TextBox 11"/>
          <p:cNvSpPr txBox="1"/>
          <p:nvPr/>
        </p:nvSpPr>
        <p:spPr>
          <a:xfrm>
            <a:off x="5715000" y="2606040"/>
            <a:ext cx="5562295" cy="619963"/>
          </a:xfrm>
          <a:prstGeom prst="rect">
            <a:avLst/>
          </a:prstGeom>
          <a:noFill/>
        </p:spPr>
        <p:txBody>
          <a:bodyPr wrap="square" lIns="0" rIns="0" tIns="0" bIns="0" anchor="ctr">
            <a:spAutoFit/>
          </a:bodyPr>
          <a:lstStyle/>
          <a:p>
            <a:pPr algn="l">
              <a:lnSpc>
                <a:spcPct val="130000"/>
              </a:lnSpc>
            </a:pPr>
            <a:r>
              <a:rPr sz="1200" b="0" i="0">
                <a:solidFill>
                  <a:srgbClr val="C9D0DC"/>
                </a:solidFill>
                <a:latin typeface="Inter"/>
              </a:rPr>
              <a:t>React (web) · Flutter (mobile) · restitution utilisateur</a:t>
            </a:r>
          </a:p>
        </p:txBody>
      </p:sp>
      <p:sp>
        <p:nvSpPr>
          <p:cNvPr id="13" name="Rounded Rectangle 12"/>
          <p:cNvSpPr/>
          <p:nvPr/>
        </p:nvSpPr>
        <p:spPr>
          <a:xfrm>
            <a:off x="640080" y="3354019"/>
            <a:ext cx="10911535"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481120"/>
            <a:ext cx="822960" cy="365760"/>
          </a:xfrm>
          <a:prstGeom prst="rect">
            <a:avLst/>
          </a:prstGeom>
          <a:noFill/>
        </p:spPr>
        <p:txBody>
          <a:bodyPr wrap="square" lIns="0" rIns="0" tIns="0" bIns="0" anchor="ctr">
            <a:spAutoFit/>
          </a:bodyPr>
          <a:lstStyle/>
          <a:p>
            <a:pPr algn="l">
              <a:lnSpc>
                <a:spcPct val="110000"/>
              </a:lnSpc>
            </a:pPr>
            <a:r>
              <a:rPr sz="2200" b="1" i="0">
                <a:solidFill>
                  <a:srgbClr val="FF9548"/>
                </a:solidFill>
                <a:latin typeface="Space Grotesk"/>
              </a:rPr>
              <a:t>04</a:t>
            </a:r>
          </a:p>
        </p:txBody>
      </p:sp>
      <p:sp>
        <p:nvSpPr>
          <p:cNvPr id="15" name="TextBox 14"/>
          <p:cNvSpPr txBox="1"/>
          <p:nvPr/>
        </p:nvSpPr>
        <p:spPr>
          <a:xfrm>
            <a:off x="1874520" y="3354019"/>
            <a:ext cx="3657600" cy="619963"/>
          </a:xfrm>
          <a:prstGeom prst="rect">
            <a:avLst/>
          </a:prstGeom>
          <a:noFill/>
        </p:spPr>
        <p:txBody>
          <a:bodyPr wrap="square" lIns="0" rIns="0" tIns="0" bIns="0" anchor="ctr">
            <a:spAutoFit/>
          </a:bodyPr>
          <a:lstStyle/>
          <a:p>
            <a:pPr algn="l">
              <a:lnSpc>
                <a:spcPct val="120000"/>
              </a:lnSpc>
            </a:pPr>
            <a:r>
              <a:rPr sz="1500" b="1" i="0">
                <a:solidFill>
                  <a:srgbClr val="FFFFFF"/>
                </a:solidFill>
                <a:latin typeface="Space Grotesk"/>
              </a:rPr>
              <a:t>Intelligence</a:t>
            </a:r>
          </a:p>
        </p:txBody>
      </p:sp>
      <p:sp>
        <p:nvSpPr>
          <p:cNvPr id="16" name="TextBox 15"/>
          <p:cNvSpPr txBox="1"/>
          <p:nvPr/>
        </p:nvSpPr>
        <p:spPr>
          <a:xfrm>
            <a:off x="5715000" y="3354019"/>
            <a:ext cx="5562295" cy="619963"/>
          </a:xfrm>
          <a:prstGeom prst="rect">
            <a:avLst/>
          </a:prstGeom>
          <a:noFill/>
        </p:spPr>
        <p:txBody>
          <a:bodyPr wrap="square" lIns="0" rIns="0" tIns="0" bIns="0" anchor="ctr">
            <a:spAutoFit/>
          </a:bodyPr>
          <a:lstStyle/>
          <a:p>
            <a:pPr algn="l">
              <a:lnSpc>
                <a:spcPct val="130000"/>
              </a:lnSpc>
            </a:pPr>
            <a:r>
              <a:rPr sz="1200" b="0" i="0">
                <a:solidFill>
                  <a:srgbClr val="C9D0DC"/>
                </a:solidFill>
                <a:latin typeface="Inter"/>
              </a:rPr>
              <a:t>FastAPI · Random Forest · XGBoost · probabilité + cause</a:t>
            </a:r>
          </a:p>
        </p:txBody>
      </p:sp>
      <p:sp>
        <p:nvSpPr>
          <p:cNvPr id="17" name="Rounded Rectangle 16"/>
          <p:cNvSpPr/>
          <p:nvPr/>
        </p:nvSpPr>
        <p:spPr>
          <a:xfrm>
            <a:off x="640080" y="4101998"/>
            <a:ext cx="10911535"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229100"/>
            <a:ext cx="822960" cy="365760"/>
          </a:xfrm>
          <a:prstGeom prst="rect">
            <a:avLst/>
          </a:prstGeom>
          <a:noFill/>
        </p:spPr>
        <p:txBody>
          <a:bodyPr wrap="square" lIns="0" rIns="0" tIns="0" bIns="0" anchor="ctr">
            <a:spAutoFit/>
          </a:bodyPr>
          <a:lstStyle/>
          <a:p>
            <a:pPr algn="l">
              <a:lnSpc>
                <a:spcPct val="110000"/>
              </a:lnSpc>
            </a:pPr>
            <a:r>
              <a:rPr sz="2200" b="1" i="0">
                <a:solidFill>
                  <a:srgbClr val="FF9548"/>
                </a:solidFill>
                <a:latin typeface="Space Grotesk"/>
              </a:rPr>
              <a:t>03</a:t>
            </a:r>
          </a:p>
        </p:txBody>
      </p:sp>
      <p:sp>
        <p:nvSpPr>
          <p:cNvPr id="19" name="TextBox 18"/>
          <p:cNvSpPr txBox="1"/>
          <p:nvPr/>
        </p:nvSpPr>
        <p:spPr>
          <a:xfrm>
            <a:off x="1874520" y="4101998"/>
            <a:ext cx="3657600" cy="619963"/>
          </a:xfrm>
          <a:prstGeom prst="rect">
            <a:avLst/>
          </a:prstGeom>
          <a:noFill/>
        </p:spPr>
        <p:txBody>
          <a:bodyPr wrap="square" lIns="0" rIns="0" tIns="0" bIns="0" anchor="ctr">
            <a:spAutoFit/>
          </a:bodyPr>
          <a:lstStyle/>
          <a:p>
            <a:pPr algn="l">
              <a:lnSpc>
                <a:spcPct val="120000"/>
              </a:lnSpc>
            </a:pPr>
            <a:r>
              <a:rPr sz="1500" b="1" i="0">
                <a:solidFill>
                  <a:srgbClr val="FFFFFF"/>
                </a:solidFill>
                <a:latin typeface="Space Grotesk"/>
              </a:rPr>
              <a:t>Backend</a:t>
            </a:r>
          </a:p>
        </p:txBody>
      </p:sp>
      <p:sp>
        <p:nvSpPr>
          <p:cNvPr id="20" name="TextBox 19"/>
          <p:cNvSpPr txBox="1"/>
          <p:nvPr/>
        </p:nvSpPr>
        <p:spPr>
          <a:xfrm>
            <a:off x="5715000" y="4101998"/>
            <a:ext cx="5562295" cy="619963"/>
          </a:xfrm>
          <a:prstGeom prst="rect">
            <a:avLst/>
          </a:prstGeom>
          <a:noFill/>
        </p:spPr>
        <p:txBody>
          <a:bodyPr wrap="square" lIns="0" rIns="0" tIns="0" bIns="0" anchor="ctr">
            <a:spAutoFit/>
          </a:bodyPr>
          <a:lstStyle/>
          <a:p>
            <a:pPr algn="l">
              <a:lnSpc>
                <a:spcPct val="130000"/>
              </a:lnSpc>
            </a:pPr>
            <a:r>
              <a:rPr sz="1200" b="0" i="0">
                <a:solidFill>
                  <a:srgbClr val="C9D0DC"/>
                </a:solidFill>
                <a:latin typeface="Inter"/>
              </a:rPr>
              <a:t>Node.js · Express · MongoDB · REST + JWT</a:t>
            </a:r>
          </a:p>
        </p:txBody>
      </p:sp>
      <p:sp>
        <p:nvSpPr>
          <p:cNvPr id="21" name="Rounded Rectangle 20"/>
          <p:cNvSpPr/>
          <p:nvPr/>
        </p:nvSpPr>
        <p:spPr>
          <a:xfrm>
            <a:off x="640080" y="4849977"/>
            <a:ext cx="10911535"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977079"/>
            <a:ext cx="822960" cy="365760"/>
          </a:xfrm>
          <a:prstGeom prst="rect">
            <a:avLst/>
          </a:prstGeom>
          <a:noFill/>
        </p:spPr>
        <p:txBody>
          <a:bodyPr wrap="square" lIns="0" rIns="0" tIns="0" bIns="0" anchor="ctr">
            <a:spAutoFit/>
          </a:bodyPr>
          <a:lstStyle/>
          <a:p>
            <a:pPr algn="l">
              <a:lnSpc>
                <a:spcPct val="110000"/>
              </a:lnSpc>
            </a:pPr>
            <a:r>
              <a:rPr sz="2200" b="1" i="0">
                <a:solidFill>
                  <a:srgbClr val="FF9548"/>
                </a:solidFill>
                <a:latin typeface="Space Grotesk"/>
              </a:rPr>
              <a:t>02</a:t>
            </a:r>
          </a:p>
        </p:txBody>
      </p:sp>
      <p:sp>
        <p:nvSpPr>
          <p:cNvPr id="23" name="TextBox 22"/>
          <p:cNvSpPr txBox="1"/>
          <p:nvPr/>
        </p:nvSpPr>
        <p:spPr>
          <a:xfrm>
            <a:off x="1874520" y="4849977"/>
            <a:ext cx="3657600" cy="619963"/>
          </a:xfrm>
          <a:prstGeom prst="rect">
            <a:avLst/>
          </a:prstGeom>
          <a:noFill/>
        </p:spPr>
        <p:txBody>
          <a:bodyPr wrap="square" lIns="0" rIns="0" tIns="0" bIns="0" anchor="ctr">
            <a:spAutoFit/>
          </a:bodyPr>
          <a:lstStyle/>
          <a:p>
            <a:pPr algn="l">
              <a:lnSpc>
                <a:spcPct val="120000"/>
              </a:lnSpc>
            </a:pPr>
            <a:r>
              <a:rPr sz="1500" b="1" i="0">
                <a:solidFill>
                  <a:srgbClr val="FFFFFF"/>
                </a:solidFill>
                <a:latin typeface="Space Grotesk"/>
              </a:rPr>
              <a:t>Edge</a:t>
            </a:r>
          </a:p>
        </p:txBody>
      </p:sp>
      <p:sp>
        <p:nvSpPr>
          <p:cNvPr id="24" name="TextBox 23"/>
          <p:cNvSpPr txBox="1"/>
          <p:nvPr/>
        </p:nvSpPr>
        <p:spPr>
          <a:xfrm>
            <a:off x="5715000" y="4849977"/>
            <a:ext cx="5562295" cy="619963"/>
          </a:xfrm>
          <a:prstGeom prst="rect">
            <a:avLst/>
          </a:prstGeom>
          <a:noFill/>
        </p:spPr>
        <p:txBody>
          <a:bodyPr wrap="square" lIns="0" rIns="0" tIns="0" bIns="0" anchor="ctr">
            <a:spAutoFit/>
          </a:bodyPr>
          <a:lstStyle/>
          <a:p>
            <a:pPr algn="l">
              <a:lnSpc>
                <a:spcPct val="130000"/>
              </a:lnSpc>
            </a:pPr>
            <a:r>
              <a:rPr sz="1200" b="0" i="0">
                <a:solidFill>
                  <a:srgbClr val="C9D0DC"/>
                </a:solidFill>
                <a:latin typeface="Inter"/>
              </a:rPr>
              <a:t>Raspberry Pi 4 · lecture I²C / 1-Wire · agrégation 60 s</a:t>
            </a:r>
          </a:p>
        </p:txBody>
      </p:sp>
      <p:sp>
        <p:nvSpPr>
          <p:cNvPr id="25" name="Rounded Rectangle 24"/>
          <p:cNvSpPr/>
          <p:nvPr/>
        </p:nvSpPr>
        <p:spPr>
          <a:xfrm>
            <a:off x="640080" y="5597956"/>
            <a:ext cx="10911535"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725058"/>
            <a:ext cx="822960" cy="365760"/>
          </a:xfrm>
          <a:prstGeom prst="rect">
            <a:avLst/>
          </a:prstGeom>
          <a:noFill/>
        </p:spPr>
        <p:txBody>
          <a:bodyPr wrap="square" lIns="0" rIns="0" tIns="0" bIns="0" anchor="ctr">
            <a:spAutoFit/>
          </a:bodyPr>
          <a:lstStyle/>
          <a:p>
            <a:pPr algn="l">
              <a:lnSpc>
                <a:spcPct val="110000"/>
              </a:lnSpc>
            </a:pPr>
            <a:r>
              <a:rPr sz="2200" b="1" i="0">
                <a:solidFill>
                  <a:srgbClr val="FF9548"/>
                </a:solidFill>
                <a:latin typeface="Space Grotesk"/>
              </a:rPr>
              <a:t>01</a:t>
            </a:r>
          </a:p>
        </p:txBody>
      </p:sp>
      <p:sp>
        <p:nvSpPr>
          <p:cNvPr id="27" name="TextBox 26"/>
          <p:cNvSpPr txBox="1"/>
          <p:nvPr/>
        </p:nvSpPr>
        <p:spPr>
          <a:xfrm>
            <a:off x="1874520" y="5597956"/>
            <a:ext cx="3657600" cy="619963"/>
          </a:xfrm>
          <a:prstGeom prst="rect">
            <a:avLst/>
          </a:prstGeom>
          <a:noFill/>
        </p:spPr>
        <p:txBody>
          <a:bodyPr wrap="square" lIns="0" rIns="0" tIns="0" bIns="0" anchor="ctr">
            <a:spAutoFit/>
          </a:bodyPr>
          <a:lstStyle/>
          <a:p>
            <a:pPr algn="l">
              <a:lnSpc>
                <a:spcPct val="120000"/>
              </a:lnSpc>
            </a:pPr>
            <a:r>
              <a:rPr sz="1500" b="1" i="0">
                <a:solidFill>
                  <a:srgbClr val="FFFFFF"/>
                </a:solidFill>
                <a:latin typeface="Space Grotesk"/>
              </a:rPr>
              <a:t>Perception</a:t>
            </a:r>
          </a:p>
        </p:txBody>
      </p:sp>
      <p:sp>
        <p:nvSpPr>
          <p:cNvPr id="28" name="TextBox 27"/>
          <p:cNvSpPr txBox="1"/>
          <p:nvPr/>
        </p:nvSpPr>
        <p:spPr>
          <a:xfrm>
            <a:off x="5715000" y="5597956"/>
            <a:ext cx="5562295" cy="619963"/>
          </a:xfrm>
          <a:prstGeom prst="rect">
            <a:avLst/>
          </a:prstGeom>
          <a:noFill/>
        </p:spPr>
        <p:txBody>
          <a:bodyPr wrap="square" lIns="0" rIns="0" tIns="0" bIns="0" anchor="ctr">
            <a:spAutoFit/>
          </a:bodyPr>
          <a:lstStyle/>
          <a:p>
            <a:pPr algn="l">
              <a:lnSpc>
                <a:spcPct val="130000"/>
              </a:lnSpc>
            </a:pPr>
            <a:r>
              <a:rPr sz="1200" b="0" i="0">
                <a:solidFill>
                  <a:srgbClr val="C9D0DC"/>
                </a:solidFill>
                <a:latin typeface="Inter"/>
              </a:rPr>
              <a:t>5 capteurs IoT : DS18B20 ×2 · MPU-6050 · AMG8833 · SCT-013</a:t>
            </a:r>
          </a:p>
        </p:txBody>
      </p:sp>
      <p:sp>
        <p:nvSpPr>
          <p:cNvPr id="29" name="TextBox 28"/>
          <p:cNvSpPr txBox="1"/>
          <p:nvPr/>
        </p:nvSpPr>
        <p:spPr>
          <a:xfrm>
            <a:off x="640080" y="6537960"/>
            <a:ext cx="10911535" cy="228600"/>
          </a:xfrm>
          <a:prstGeom prst="rect">
            <a:avLst/>
          </a:prstGeom>
          <a:noFill/>
        </p:spPr>
        <p:txBody>
          <a:bodyPr wrap="square" lIns="0" rIns="0" tIns="0" bIns="0" anchor="t">
            <a:spAutoFit/>
          </a:bodyPr>
          <a:lstStyle/>
          <a:p>
            <a:pPr algn="l">
              <a:lnSpc>
                <a:spcPct val="110000"/>
              </a:lnSpc>
            </a:pPr>
            <a:r>
              <a:rPr sz="900" b="0" i="0" spc="120">
                <a:solidFill>
                  <a:srgbClr val="7D8496"/>
                </a:solidFill>
                <a:latin typeface="JetBrains Mono"/>
              </a:rPr>
              <a:t>MODÈLE DE RÉFÉRENCE ITU-T Y.2060  ·  SÉPARATION DES RESPONSABILITÉS</a:t>
            </a:r>
          </a:p>
        </p:txBody>
      </p:sp>
      <p:sp>
        <p:nvSpPr>
          <p:cNvPr id="30" name="TextBox 29"/>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03 · CONCEPTION</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COUCHE EDGE</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Raspberry Pi.</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Un mini-ordinateur, cinq capteurs, une machine.</a:t>
            </a:r>
          </a:p>
        </p:txBody>
      </p:sp>
      <p:sp>
        <p:nvSpPr>
          <p:cNvPr id="9" name="Rounded Rectangle 8"/>
          <p:cNvSpPr/>
          <p:nvPr/>
        </p:nvSpPr>
        <p:spPr>
          <a:xfrm>
            <a:off x="640080" y="2651760"/>
            <a:ext cx="5318607"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971800"/>
            <a:ext cx="4769967" cy="320040"/>
          </a:xfrm>
          <a:prstGeom prst="rect">
            <a:avLst/>
          </a:prstGeom>
          <a:noFill/>
        </p:spPr>
        <p:txBody>
          <a:bodyPr wrap="square" lIns="0" rIns="0" tIns="0" bIns="0" anchor="t">
            <a:spAutoFit/>
          </a:bodyPr>
          <a:lstStyle/>
          <a:p>
            <a:pPr algn="l">
              <a:lnSpc>
                <a:spcPct val="110000"/>
              </a:lnSpc>
            </a:pPr>
            <a:r>
              <a:rPr sz="1000" b="1" i="0" spc="200">
                <a:solidFill>
                  <a:srgbClr val="FF9548"/>
                </a:solidFill>
                <a:latin typeface="JetBrains Mono"/>
              </a:rPr>
              <a:t>SPÉCIFICATIONS</a:t>
            </a:r>
          </a:p>
        </p:txBody>
      </p:sp>
      <p:sp>
        <p:nvSpPr>
          <p:cNvPr id="11" name="TextBox 10"/>
          <p:cNvSpPr txBox="1"/>
          <p:nvPr/>
        </p:nvSpPr>
        <p:spPr>
          <a:xfrm>
            <a:off x="914400" y="3474720"/>
            <a:ext cx="1828800" cy="320040"/>
          </a:xfrm>
          <a:prstGeom prst="rect">
            <a:avLst/>
          </a:prstGeom>
          <a:noFill/>
        </p:spPr>
        <p:txBody>
          <a:bodyPr wrap="square" lIns="0" rIns="0" tIns="0" bIns="0" anchor="t">
            <a:spAutoFit/>
          </a:bodyPr>
          <a:lstStyle/>
          <a:p>
            <a:pPr algn="l">
              <a:lnSpc>
                <a:spcPct val="110000"/>
              </a:lnSpc>
            </a:pPr>
            <a:r>
              <a:rPr sz="1000" b="0" i="0" spc="140">
                <a:solidFill>
                  <a:srgbClr val="7D8496"/>
                </a:solidFill>
                <a:latin typeface="JetBrains Mono"/>
              </a:rPr>
              <a:t>LECTURE</a:t>
            </a:r>
          </a:p>
        </p:txBody>
      </p:sp>
      <p:sp>
        <p:nvSpPr>
          <p:cNvPr id="12" name="TextBox 11"/>
          <p:cNvSpPr txBox="1"/>
          <p:nvPr/>
        </p:nvSpPr>
        <p:spPr>
          <a:xfrm>
            <a:off x="2743200" y="3474720"/>
            <a:ext cx="3032607" cy="365760"/>
          </a:xfrm>
          <a:prstGeom prst="rect">
            <a:avLst/>
          </a:prstGeom>
          <a:noFill/>
        </p:spPr>
        <p:txBody>
          <a:bodyPr wrap="square" lIns="0" rIns="0" tIns="0" bIns="0" anchor="t">
            <a:spAutoFit/>
          </a:bodyPr>
          <a:lstStyle/>
          <a:p>
            <a:pPr algn="l">
              <a:lnSpc>
                <a:spcPct val="110000"/>
              </a:lnSpc>
            </a:pPr>
            <a:r>
              <a:rPr sz="1300" b="1" i="0">
                <a:solidFill>
                  <a:srgbClr val="FFFFFF"/>
                </a:solidFill>
                <a:latin typeface="Inter"/>
              </a:rPr>
              <a:t>1-Wire · I²C · GPIO</a:t>
            </a:r>
          </a:p>
        </p:txBody>
      </p:sp>
      <p:sp>
        <p:nvSpPr>
          <p:cNvPr id="13" name="TextBox 12"/>
          <p:cNvSpPr txBox="1"/>
          <p:nvPr/>
        </p:nvSpPr>
        <p:spPr>
          <a:xfrm>
            <a:off x="914400" y="4023360"/>
            <a:ext cx="1828800" cy="320040"/>
          </a:xfrm>
          <a:prstGeom prst="rect">
            <a:avLst/>
          </a:prstGeom>
          <a:noFill/>
        </p:spPr>
        <p:txBody>
          <a:bodyPr wrap="square" lIns="0" rIns="0" tIns="0" bIns="0" anchor="t">
            <a:spAutoFit/>
          </a:bodyPr>
          <a:lstStyle/>
          <a:p>
            <a:pPr algn="l">
              <a:lnSpc>
                <a:spcPct val="110000"/>
              </a:lnSpc>
            </a:pPr>
            <a:r>
              <a:rPr sz="1000" b="0" i="0" spc="140">
                <a:solidFill>
                  <a:srgbClr val="7D8496"/>
                </a:solidFill>
                <a:latin typeface="JetBrains Mono"/>
              </a:rPr>
              <a:t>AGRÉGATION</a:t>
            </a:r>
          </a:p>
        </p:txBody>
      </p:sp>
      <p:sp>
        <p:nvSpPr>
          <p:cNvPr id="14" name="TextBox 13"/>
          <p:cNvSpPr txBox="1"/>
          <p:nvPr/>
        </p:nvSpPr>
        <p:spPr>
          <a:xfrm>
            <a:off x="2743200" y="4023360"/>
            <a:ext cx="3032607" cy="365760"/>
          </a:xfrm>
          <a:prstGeom prst="rect">
            <a:avLst/>
          </a:prstGeom>
          <a:noFill/>
        </p:spPr>
        <p:txBody>
          <a:bodyPr wrap="square" lIns="0" rIns="0" tIns="0" bIns="0" anchor="t">
            <a:spAutoFit/>
          </a:bodyPr>
          <a:lstStyle/>
          <a:p>
            <a:pPr algn="l">
              <a:lnSpc>
                <a:spcPct val="110000"/>
              </a:lnSpc>
            </a:pPr>
            <a:r>
              <a:rPr sz="1300" b="1" i="0">
                <a:solidFill>
                  <a:srgbClr val="FFFFFF"/>
                </a:solidFill>
                <a:latin typeface="Inter"/>
              </a:rPr>
              <a:t>Fenêtres glissantes de 60 s</a:t>
            </a:r>
          </a:p>
        </p:txBody>
      </p:sp>
      <p:sp>
        <p:nvSpPr>
          <p:cNvPr id="15" name="TextBox 14"/>
          <p:cNvSpPr txBox="1"/>
          <p:nvPr/>
        </p:nvSpPr>
        <p:spPr>
          <a:xfrm>
            <a:off x="914400" y="4572000"/>
            <a:ext cx="1828800" cy="320040"/>
          </a:xfrm>
          <a:prstGeom prst="rect">
            <a:avLst/>
          </a:prstGeom>
          <a:noFill/>
        </p:spPr>
        <p:txBody>
          <a:bodyPr wrap="square" lIns="0" rIns="0" tIns="0" bIns="0" anchor="t">
            <a:spAutoFit/>
          </a:bodyPr>
          <a:lstStyle/>
          <a:p>
            <a:pPr algn="l">
              <a:lnSpc>
                <a:spcPct val="110000"/>
              </a:lnSpc>
            </a:pPr>
            <a:r>
              <a:rPr sz="1000" b="0" i="0" spc="140">
                <a:solidFill>
                  <a:srgbClr val="7D8496"/>
                </a:solidFill>
                <a:latin typeface="JetBrains Mono"/>
              </a:rPr>
              <a:t>ENVOI</a:t>
            </a:r>
          </a:p>
        </p:txBody>
      </p:sp>
      <p:sp>
        <p:nvSpPr>
          <p:cNvPr id="16" name="TextBox 15"/>
          <p:cNvSpPr txBox="1"/>
          <p:nvPr/>
        </p:nvSpPr>
        <p:spPr>
          <a:xfrm>
            <a:off x="2743200" y="4572000"/>
            <a:ext cx="3032607" cy="365760"/>
          </a:xfrm>
          <a:prstGeom prst="rect">
            <a:avLst/>
          </a:prstGeom>
          <a:noFill/>
        </p:spPr>
        <p:txBody>
          <a:bodyPr wrap="square" lIns="0" rIns="0" tIns="0" bIns="0" anchor="t">
            <a:spAutoFit/>
          </a:bodyPr>
          <a:lstStyle/>
          <a:p>
            <a:pPr algn="l">
              <a:lnSpc>
                <a:spcPct val="110000"/>
              </a:lnSpc>
            </a:pPr>
            <a:r>
              <a:rPr sz="1300" b="1" i="0">
                <a:solidFill>
                  <a:srgbClr val="FFFFFF"/>
                </a:solidFill>
                <a:latin typeface="Inter"/>
              </a:rPr>
              <a:t>HTTP POST /api/capteurs/ingest</a:t>
            </a:r>
          </a:p>
        </p:txBody>
      </p:sp>
      <p:sp>
        <p:nvSpPr>
          <p:cNvPr id="17" name="TextBox 16"/>
          <p:cNvSpPr txBox="1"/>
          <p:nvPr/>
        </p:nvSpPr>
        <p:spPr>
          <a:xfrm>
            <a:off x="914400" y="5120640"/>
            <a:ext cx="1828800" cy="320040"/>
          </a:xfrm>
          <a:prstGeom prst="rect">
            <a:avLst/>
          </a:prstGeom>
          <a:noFill/>
        </p:spPr>
        <p:txBody>
          <a:bodyPr wrap="square" lIns="0" rIns="0" tIns="0" bIns="0" anchor="t">
            <a:spAutoFit/>
          </a:bodyPr>
          <a:lstStyle/>
          <a:p>
            <a:pPr algn="l">
              <a:lnSpc>
                <a:spcPct val="110000"/>
              </a:lnSpc>
            </a:pPr>
            <a:r>
              <a:rPr sz="1000" b="0" i="0" spc="140">
                <a:solidFill>
                  <a:srgbClr val="7D8496"/>
                </a:solidFill>
                <a:latin typeface="JetBrains Mono"/>
              </a:rPr>
              <a:t>AUTONOMIE</a:t>
            </a:r>
          </a:p>
        </p:txBody>
      </p:sp>
      <p:sp>
        <p:nvSpPr>
          <p:cNvPr id="18" name="TextBox 17"/>
          <p:cNvSpPr txBox="1"/>
          <p:nvPr/>
        </p:nvSpPr>
        <p:spPr>
          <a:xfrm>
            <a:off x="2743200" y="5120640"/>
            <a:ext cx="3032607" cy="365760"/>
          </a:xfrm>
          <a:prstGeom prst="rect">
            <a:avLst/>
          </a:prstGeom>
          <a:noFill/>
        </p:spPr>
        <p:txBody>
          <a:bodyPr wrap="square" lIns="0" rIns="0" tIns="0" bIns="0" anchor="t">
            <a:spAutoFit/>
          </a:bodyPr>
          <a:lstStyle/>
          <a:p>
            <a:pPr algn="l">
              <a:lnSpc>
                <a:spcPct val="110000"/>
              </a:lnSpc>
            </a:pPr>
            <a:r>
              <a:rPr sz="1300" b="1" i="0">
                <a:solidFill>
                  <a:srgbClr val="FFFFFF"/>
                </a:solidFill>
                <a:latin typeface="Inter"/>
              </a:rPr>
              <a:t>systemd · redémarrage auto · retry</a:t>
            </a:r>
          </a:p>
        </p:txBody>
      </p:sp>
      <p:sp>
        <p:nvSpPr>
          <p:cNvPr id="19" name="Rounded Rectangle 18"/>
          <p:cNvSpPr/>
          <p:nvPr/>
        </p:nvSpPr>
        <p:spPr>
          <a:xfrm>
            <a:off x="6233007" y="2651760"/>
            <a:ext cx="5318607" cy="3566160"/>
          </a:xfrm>
          <a:prstGeom prst="roundRect">
            <a:avLst>
              <a:gd name="adj" fmla="val 6000"/>
            </a:avLst>
          </a:prstGeom>
          <a:solidFill>
            <a:srgbClr val="101A45">
              <a:alpha val="18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07327" y="2971800"/>
            <a:ext cx="1463040" cy="292608"/>
          </a:xfrm>
          <a:prstGeom prst="roundRect">
            <a:avLst>
              <a:gd name="adj" fmla="val 50000"/>
            </a:avLst>
          </a:prstGeom>
          <a:solidFill>
            <a:srgbClr val="4ECDC4">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50">
                <a:solidFill>
                  <a:srgbClr val="050B1E"/>
                </a:solidFill>
                <a:latin typeface="JetBrains Mono"/>
              </a:rPr>
              <a:t>EN DIRECT · 1 min</a:t>
            </a:r>
          </a:p>
        </p:txBody>
      </p:sp>
      <p:sp>
        <p:nvSpPr>
          <p:cNvPr id="21" name="TextBox 20"/>
          <p:cNvSpPr txBox="1"/>
          <p:nvPr/>
        </p:nvSpPr>
        <p:spPr>
          <a:xfrm>
            <a:off x="6507327" y="3474720"/>
            <a:ext cx="4769967" cy="457200"/>
          </a:xfrm>
          <a:prstGeom prst="rect">
            <a:avLst/>
          </a:prstGeom>
          <a:noFill/>
        </p:spPr>
        <p:txBody>
          <a:bodyPr wrap="square" lIns="0" rIns="0" tIns="0" bIns="0" anchor="t">
            <a:spAutoFit/>
          </a:bodyPr>
          <a:lstStyle/>
          <a:p>
            <a:pPr algn="l">
              <a:lnSpc>
                <a:spcPct val="110000"/>
              </a:lnSpc>
            </a:pPr>
            <a:r>
              <a:rPr sz="2000" b="1" i="0">
                <a:solidFill>
                  <a:srgbClr val="FFFFFF"/>
                </a:solidFill>
                <a:latin typeface="Space Grotesk"/>
              </a:rPr>
              <a:t>Flux de données</a:t>
            </a:r>
          </a:p>
        </p:txBody>
      </p:sp>
      <p:sp>
        <p:nvSpPr>
          <p:cNvPr id="22" name="Rounded Rectangle 21"/>
          <p:cNvSpPr/>
          <p:nvPr/>
        </p:nvSpPr>
        <p:spPr>
          <a:xfrm>
            <a:off x="6507327" y="4160520"/>
            <a:ext cx="1737360" cy="292608"/>
          </a:xfrm>
          <a:prstGeom prst="roundRect">
            <a:avLst>
              <a:gd name="adj" fmla="val 50000"/>
            </a:avLst>
          </a:prstGeom>
          <a:solidFill>
            <a:srgbClr val="101A45">
              <a:alpha val="22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60">
                <a:solidFill>
                  <a:srgbClr val="4ECDC4"/>
                </a:solidFill>
                <a:latin typeface="JetBrains Mono"/>
              </a:rPr>
              <a:t>① CAPTEURS</a:t>
            </a:r>
          </a:p>
        </p:txBody>
      </p:sp>
      <p:sp>
        <p:nvSpPr>
          <p:cNvPr id="23" name="TextBox 22"/>
          <p:cNvSpPr txBox="1"/>
          <p:nvPr/>
        </p:nvSpPr>
        <p:spPr>
          <a:xfrm>
            <a:off x="8381847" y="4160520"/>
            <a:ext cx="2895447" cy="320040"/>
          </a:xfrm>
          <a:prstGeom prst="rect">
            <a:avLst/>
          </a:prstGeom>
          <a:noFill/>
        </p:spPr>
        <p:txBody>
          <a:bodyPr wrap="square" lIns="0" rIns="0" tIns="0" bIns="0" anchor="ctr">
            <a:spAutoFit/>
          </a:bodyPr>
          <a:lstStyle/>
          <a:p>
            <a:pPr algn="l">
              <a:lnSpc>
                <a:spcPct val="120000"/>
              </a:lnSpc>
            </a:pPr>
            <a:r>
              <a:rPr sz="1200" b="0" i="0">
                <a:solidFill>
                  <a:srgbClr val="F4F6FB"/>
                </a:solidFill>
                <a:latin typeface="Inter"/>
              </a:rPr>
              <a:t>5 sondes lues à 1 s</a:t>
            </a:r>
          </a:p>
        </p:txBody>
      </p:sp>
      <p:sp>
        <p:nvSpPr>
          <p:cNvPr id="24" name="Rounded Rectangle 23"/>
          <p:cNvSpPr/>
          <p:nvPr/>
        </p:nvSpPr>
        <p:spPr>
          <a:xfrm>
            <a:off x="6507327" y="4663440"/>
            <a:ext cx="1737360" cy="292608"/>
          </a:xfrm>
          <a:prstGeom prst="roundRect">
            <a:avLst>
              <a:gd name="adj" fmla="val 50000"/>
            </a:avLst>
          </a:prstGeom>
          <a:solidFill>
            <a:srgbClr val="101A45">
              <a:alpha val="22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60">
                <a:solidFill>
                  <a:srgbClr val="4ECDC4"/>
                </a:solidFill>
                <a:latin typeface="JetBrains Mono"/>
              </a:rPr>
              <a:t>② RASPBERRY</a:t>
            </a:r>
          </a:p>
        </p:txBody>
      </p:sp>
      <p:sp>
        <p:nvSpPr>
          <p:cNvPr id="25" name="TextBox 24"/>
          <p:cNvSpPr txBox="1"/>
          <p:nvPr/>
        </p:nvSpPr>
        <p:spPr>
          <a:xfrm>
            <a:off x="8381847" y="4663440"/>
            <a:ext cx="2895447" cy="320040"/>
          </a:xfrm>
          <a:prstGeom prst="rect">
            <a:avLst/>
          </a:prstGeom>
          <a:noFill/>
        </p:spPr>
        <p:txBody>
          <a:bodyPr wrap="square" lIns="0" rIns="0" tIns="0" bIns="0" anchor="ctr">
            <a:spAutoFit/>
          </a:bodyPr>
          <a:lstStyle/>
          <a:p>
            <a:pPr algn="l">
              <a:lnSpc>
                <a:spcPct val="120000"/>
              </a:lnSpc>
            </a:pPr>
            <a:r>
              <a:rPr sz="1200" b="0" i="0">
                <a:solidFill>
                  <a:srgbClr val="F4F6FB"/>
                </a:solidFill>
                <a:latin typeface="Inter"/>
              </a:rPr>
              <a:t>Agrégation 60 s · moyenne, min, max</a:t>
            </a:r>
          </a:p>
        </p:txBody>
      </p:sp>
      <p:sp>
        <p:nvSpPr>
          <p:cNvPr id="26" name="Rounded Rectangle 25"/>
          <p:cNvSpPr/>
          <p:nvPr/>
        </p:nvSpPr>
        <p:spPr>
          <a:xfrm>
            <a:off x="6507327" y="5166360"/>
            <a:ext cx="1737360" cy="292608"/>
          </a:xfrm>
          <a:prstGeom prst="roundRect">
            <a:avLst>
              <a:gd name="adj" fmla="val 50000"/>
            </a:avLst>
          </a:prstGeom>
          <a:solidFill>
            <a:srgbClr val="101A45">
              <a:alpha val="22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60">
                <a:solidFill>
                  <a:srgbClr val="4ECDC4"/>
                </a:solidFill>
                <a:latin typeface="JetBrains Mono"/>
              </a:rPr>
              <a:t>③ BACKEND</a:t>
            </a:r>
          </a:p>
        </p:txBody>
      </p:sp>
      <p:sp>
        <p:nvSpPr>
          <p:cNvPr id="27" name="TextBox 26"/>
          <p:cNvSpPr txBox="1"/>
          <p:nvPr/>
        </p:nvSpPr>
        <p:spPr>
          <a:xfrm>
            <a:off x="8381847" y="5166360"/>
            <a:ext cx="2895447" cy="320040"/>
          </a:xfrm>
          <a:prstGeom prst="rect">
            <a:avLst/>
          </a:prstGeom>
          <a:noFill/>
        </p:spPr>
        <p:txBody>
          <a:bodyPr wrap="square" lIns="0" rIns="0" tIns="0" bIns="0" anchor="ctr">
            <a:spAutoFit/>
          </a:bodyPr>
          <a:lstStyle/>
          <a:p>
            <a:pPr algn="l">
              <a:lnSpc>
                <a:spcPct val="120000"/>
              </a:lnSpc>
            </a:pPr>
            <a:r>
              <a:rPr sz="1200" b="0" i="0">
                <a:solidFill>
                  <a:srgbClr val="F4F6FB"/>
                </a:solidFill>
                <a:latin typeface="Inter"/>
              </a:rPr>
              <a:t>POST /api/capteurs/ingest · JSON</a:t>
            </a:r>
          </a:p>
        </p:txBody>
      </p:sp>
      <p:sp>
        <p:nvSpPr>
          <p:cNvPr id="28" name="TextBox 27"/>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03 · CONCEPTION</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MODÉLISATION</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Modélisation UML.</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Cas d'utilisation et diagramme de classes.</a:t>
            </a:r>
          </a:p>
        </p:txBody>
      </p:sp>
      <p:sp>
        <p:nvSpPr>
          <p:cNvPr id="9" name="Rounded Rectangle 8"/>
          <p:cNvSpPr/>
          <p:nvPr/>
        </p:nvSpPr>
        <p:spPr>
          <a:xfrm>
            <a:off x="640080" y="2651760"/>
            <a:ext cx="5295747"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852928"/>
            <a:ext cx="4838547"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01</a:t>
            </a:r>
          </a:p>
        </p:txBody>
      </p:sp>
      <p:sp>
        <p:nvSpPr>
          <p:cNvPr id="11" name="TextBox 10"/>
          <p:cNvSpPr txBox="1"/>
          <p:nvPr/>
        </p:nvSpPr>
        <p:spPr>
          <a:xfrm>
            <a:off x="868680" y="3145536"/>
            <a:ext cx="4838547"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Diagramme de cas d'utilisation</a:t>
            </a:r>
          </a:p>
        </p:txBody>
      </p:sp>
      <p:sp>
        <p:nvSpPr>
          <p:cNvPr id="12" name="TextBox 11"/>
          <p:cNvSpPr txBox="1"/>
          <p:nvPr/>
        </p:nvSpPr>
        <p:spPr>
          <a:xfrm>
            <a:off x="868680" y="3648456"/>
            <a:ext cx="4838547" cy="265176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4 acteurs (Responsable, Chef de Ligne, Technicien, système IA) · 12 cas d'utilisation globaux couvrant supervision, intervention, notification et analyse.</a:t>
            </a:r>
          </a:p>
        </p:txBody>
      </p:sp>
      <p:sp>
        <p:nvSpPr>
          <p:cNvPr id="13" name="Rounded Rectangle 12"/>
          <p:cNvSpPr/>
          <p:nvPr/>
        </p:nvSpPr>
        <p:spPr>
          <a:xfrm>
            <a:off x="3924147" y="5577840"/>
            <a:ext cx="1828800" cy="320040"/>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20">
                <a:solidFill>
                  <a:srgbClr val="FFB37A"/>
                </a:solidFill>
                <a:latin typeface="JetBrains Mono"/>
              </a:rPr>
              <a:t>voir diagramme joint</a:t>
            </a:r>
          </a:p>
        </p:txBody>
      </p:sp>
      <p:sp>
        <p:nvSpPr>
          <p:cNvPr id="14" name="Rounded Rectangle 13"/>
          <p:cNvSpPr/>
          <p:nvPr/>
        </p:nvSpPr>
        <p:spPr>
          <a:xfrm>
            <a:off x="6255867" y="2651760"/>
            <a:ext cx="5295747"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4467" y="2852928"/>
            <a:ext cx="4838547"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02</a:t>
            </a:r>
          </a:p>
        </p:txBody>
      </p:sp>
      <p:sp>
        <p:nvSpPr>
          <p:cNvPr id="16" name="TextBox 15"/>
          <p:cNvSpPr txBox="1"/>
          <p:nvPr/>
        </p:nvSpPr>
        <p:spPr>
          <a:xfrm>
            <a:off x="6484467" y="3145536"/>
            <a:ext cx="4838547"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Diagramme de classes</a:t>
            </a:r>
          </a:p>
        </p:txBody>
      </p:sp>
      <p:sp>
        <p:nvSpPr>
          <p:cNvPr id="17" name="TextBox 16"/>
          <p:cNvSpPr txBox="1"/>
          <p:nvPr/>
        </p:nvSpPr>
        <p:spPr>
          <a:xfrm>
            <a:off x="6484467" y="3648456"/>
            <a:ext cx="4838547" cy="265176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9 classes métier — Machine, Utilisateur, Intervention, Alerte, Capteur, Maintenance (type enum), AnalyseTCO, PreventiveChecklist, Notification.</a:t>
            </a:r>
          </a:p>
        </p:txBody>
      </p:sp>
      <p:sp>
        <p:nvSpPr>
          <p:cNvPr id="18" name="Rounded Rectangle 17"/>
          <p:cNvSpPr/>
          <p:nvPr/>
        </p:nvSpPr>
        <p:spPr>
          <a:xfrm>
            <a:off x="9539935" y="5577840"/>
            <a:ext cx="1828800" cy="320040"/>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20">
                <a:solidFill>
                  <a:srgbClr val="FFB37A"/>
                </a:solidFill>
                <a:latin typeface="JetBrains Mono"/>
              </a:rPr>
              <a:t>voir diagramme joint</a:t>
            </a:r>
          </a:p>
        </p:txBody>
      </p:sp>
      <p:sp>
        <p:nvSpPr>
          <p:cNvPr id="19" name="TextBox 18"/>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03 · CONCEPTION</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PIPELINE TEMPS RÉEL</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Du capteur à l'alerte.</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Cinq étapes · moins d'une minute · sans intervention humaine.</a:t>
            </a:r>
          </a:p>
        </p:txBody>
      </p:sp>
      <p:sp>
        <p:nvSpPr>
          <p:cNvPr id="9" name="Rounded Rectangle 8"/>
          <p:cNvSpPr/>
          <p:nvPr/>
        </p:nvSpPr>
        <p:spPr>
          <a:xfrm>
            <a:off x="640080" y="2743200"/>
            <a:ext cx="2072579" cy="1828800"/>
          </a:xfrm>
          <a:prstGeom prst="roundRect">
            <a:avLst>
              <a:gd name="adj" fmla="val 6000"/>
            </a:avLst>
          </a:prstGeom>
          <a:solidFill>
            <a:srgbClr val="101A45">
              <a:alpha val="20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63240"/>
            <a:ext cx="2072579" cy="457200"/>
          </a:xfrm>
          <a:prstGeom prst="rect">
            <a:avLst/>
          </a:prstGeom>
          <a:noFill/>
        </p:spPr>
        <p:txBody>
          <a:bodyPr wrap="square" lIns="0" rIns="0" tIns="0" bIns="0" anchor="t">
            <a:spAutoFit/>
          </a:bodyPr>
          <a:lstStyle/>
          <a:p>
            <a:pPr algn="ctr">
              <a:lnSpc>
                <a:spcPct val="110000"/>
              </a:lnSpc>
            </a:pPr>
            <a:r>
              <a:rPr sz="1800" b="1" i="0">
                <a:solidFill>
                  <a:srgbClr val="FFB37A"/>
                </a:solidFill>
                <a:latin typeface="Space Grotesk"/>
              </a:rPr>
              <a:t>① CAPTEUR</a:t>
            </a:r>
          </a:p>
        </p:txBody>
      </p:sp>
      <p:sp>
        <p:nvSpPr>
          <p:cNvPr id="11" name="TextBox 10"/>
          <p:cNvSpPr txBox="1"/>
          <p:nvPr/>
        </p:nvSpPr>
        <p:spPr>
          <a:xfrm>
            <a:off x="640080" y="3657600"/>
            <a:ext cx="2072579" cy="457200"/>
          </a:xfrm>
          <a:prstGeom prst="rect">
            <a:avLst/>
          </a:prstGeom>
          <a:noFill/>
        </p:spPr>
        <p:txBody>
          <a:bodyPr wrap="square" lIns="0" rIns="0" tIns="0" bIns="0" anchor="t">
            <a:spAutoFit/>
          </a:bodyPr>
          <a:lstStyle/>
          <a:p>
            <a:pPr algn="ctr">
              <a:lnSpc>
                <a:spcPct val="110000"/>
              </a:lnSpc>
            </a:pPr>
            <a:r>
              <a:rPr sz="1200" b="0" i="0">
                <a:solidFill>
                  <a:srgbClr val="F4F6FB"/>
                </a:solidFill>
                <a:latin typeface="Inter"/>
              </a:rPr>
              <a:t>5 sondes · 1 s</a:t>
            </a:r>
          </a:p>
        </p:txBody>
      </p:sp>
      <p:sp>
        <p:nvSpPr>
          <p:cNvPr id="12" name="Rounded Rectangle 11"/>
          <p:cNvSpPr/>
          <p:nvPr/>
        </p:nvSpPr>
        <p:spPr>
          <a:xfrm>
            <a:off x="2849819" y="2743200"/>
            <a:ext cx="2072579" cy="1828800"/>
          </a:xfrm>
          <a:prstGeom prst="roundRect">
            <a:avLst>
              <a:gd name="adj" fmla="val 6000"/>
            </a:avLst>
          </a:prstGeom>
          <a:solidFill>
            <a:srgbClr val="101A45">
              <a:alpha val="20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49819" y="3063240"/>
            <a:ext cx="2072579" cy="457200"/>
          </a:xfrm>
          <a:prstGeom prst="rect">
            <a:avLst/>
          </a:prstGeom>
          <a:noFill/>
        </p:spPr>
        <p:txBody>
          <a:bodyPr wrap="square" lIns="0" rIns="0" tIns="0" bIns="0" anchor="t">
            <a:spAutoFit/>
          </a:bodyPr>
          <a:lstStyle/>
          <a:p>
            <a:pPr algn="ctr">
              <a:lnSpc>
                <a:spcPct val="110000"/>
              </a:lnSpc>
            </a:pPr>
            <a:r>
              <a:rPr sz="1800" b="1" i="0">
                <a:solidFill>
                  <a:srgbClr val="FFB37A"/>
                </a:solidFill>
                <a:latin typeface="Space Grotesk"/>
              </a:rPr>
              <a:t>② EDGE</a:t>
            </a:r>
          </a:p>
        </p:txBody>
      </p:sp>
      <p:sp>
        <p:nvSpPr>
          <p:cNvPr id="14" name="TextBox 13"/>
          <p:cNvSpPr txBox="1"/>
          <p:nvPr/>
        </p:nvSpPr>
        <p:spPr>
          <a:xfrm>
            <a:off x="2849819" y="3657600"/>
            <a:ext cx="2072579" cy="457200"/>
          </a:xfrm>
          <a:prstGeom prst="rect">
            <a:avLst/>
          </a:prstGeom>
          <a:noFill/>
        </p:spPr>
        <p:txBody>
          <a:bodyPr wrap="square" lIns="0" rIns="0" tIns="0" bIns="0" anchor="t">
            <a:spAutoFit/>
          </a:bodyPr>
          <a:lstStyle/>
          <a:p>
            <a:pPr algn="ctr">
              <a:lnSpc>
                <a:spcPct val="110000"/>
              </a:lnSpc>
            </a:pPr>
            <a:r>
              <a:rPr sz="1200" b="0" i="0">
                <a:solidFill>
                  <a:srgbClr val="F4F6FB"/>
                </a:solidFill>
                <a:latin typeface="Inter"/>
              </a:rPr>
              <a:t>Raspberry · 60 s</a:t>
            </a:r>
          </a:p>
        </p:txBody>
      </p:sp>
      <p:sp>
        <p:nvSpPr>
          <p:cNvPr id="15" name="Rounded Rectangle 14"/>
          <p:cNvSpPr/>
          <p:nvPr/>
        </p:nvSpPr>
        <p:spPr>
          <a:xfrm>
            <a:off x="5059558" y="2743200"/>
            <a:ext cx="2072579" cy="1828800"/>
          </a:xfrm>
          <a:prstGeom prst="roundRect">
            <a:avLst>
              <a:gd name="adj" fmla="val 6000"/>
            </a:avLst>
          </a:prstGeom>
          <a:solidFill>
            <a:srgbClr val="101A45">
              <a:alpha val="20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59558" y="3063240"/>
            <a:ext cx="2072579" cy="457200"/>
          </a:xfrm>
          <a:prstGeom prst="rect">
            <a:avLst/>
          </a:prstGeom>
          <a:noFill/>
        </p:spPr>
        <p:txBody>
          <a:bodyPr wrap="square" lIns="0" rIns="0" tIns="0" bIns="0" anchor="t">
            <a:spAutoFit/>
          </a:bodyPr>
          <a:lstStyle/>
          <a:p>
            <a:pPr algn="ctr">
              <a:lnSpc>
                <a:spcPct val="110000"/>
              </a:lnSpc>
            </a:pPr>
            <a:r>
              <a:rPr sz="1800" b="1" i="0">
                <a:solidFill>
                  <a:srgbClr val="FFB37A"/>
                </a:solidFill>
                <a:latin typeface="Space Grotesk"/>
              </a:rPr>
              <a:t>③ BACKEND</a:t>
            </a:r>
          </a:p>
        </p:txBody>
      </p:sp>
      <p:sp>
        <p:nvSpPr>
          <p:cNvPr id="17" name="TextBox 16"/>
          <p:cNvSpPr txBox="1"/>
          <p:nvPr/>
        </p:nvSpPr>
        <p:spPr>
          <a:xfrm>
            <a:off x="5059558" y="3657600"/>
            <a:ext cx="2072579" cy="457200"/>
          </a:xfrm>
          <a:prstGeom prst="rect">
            <a:avLst/>
          </a:prstGeom>
          <a:noFill/>
        </p:spPr>
        <p:txBody>
          <a:bodyPr wrap="square" lIns="0" rIns="0" tIns="0" bIns="0" anchor="t">
            <a:spAutoFit/>
          </a:bodyPr>
          <a:lstStyle/>
          <a:p>
            <a:pPr algn="ctr">
              <a:lnSpc>
                <a:spcPct val="110000"/>
              </a:lnSpc>
            </a:pPr>
            <a:r>
              <a:rPr sz="1200" b="0" i="0">
                <a:solidFill>
                  <a:srgbClr val="F4F6FB"/>
                </a:solidFill>
                <a:latin typeface="Inter"/>
              </a:rPr>
              <a:t>POST /ingest</a:t>
            </a:r>
          </a:p>
        </p:txBody>
      </p:sp>
      <p:sp>
        <p:nvSpPr>
          <p:cNvPr id="18" name="Rounded Rectangle 17"/>
          <p:cNvSpPr/>
          <p:nvPr/>
        </p:nvSpPr>
        <p:spPr>
          <a:xfrm>
            <a:off x="7269297" y="2743200"/>
            <a:ext cx="2072579" cy="1828800"/>
          </a:xfrm>
          <a:prstGeom prst="roundRect">
            <a:avLst>
              <a:gd name="adj" fmla="val 6000"/>
            </a:avLst>
          </a:prstGeom>
          <a:solidFill>
            <a:srgbClr val="101A45">
              <a:alpha val="20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69297" y="3063240"/>
            <a:ext cx="2072579" cy="457200"/>
          </a:xfrm>
          <a:prstGeom prst="rect">
            <a:avLst/>
          </a:prstGeom>
          <a:noFill/>
        </p:spPr>
        <p:txBody>
          <a:bodyPr wrap="square" lIns="0" rIns="0" tIns="0" bIns="0" anchor="t">
            <a:spAutoFit/>
          </a:bodyPr>
          <a:lstStyle/>
          <a:p>
            <a:pPr algn="ctr">
              <a:lnSpc>
                <a:spcPct val="110000"/>
              </a:lnSpc>
            </a:pPr>
            <a:r>
              <a:rPr sz="1800" b="1" i="0">
                <a:solidFill>
                  <a:srgbClr val="FFB37A"/>
                </a:solidFill>
                <a:latin typeface="Space Grotesk"/>
              </a:rPr>
              <a:t>④ IA</a:t>
            </a:r>
          </a:p>
        </p:txBody>
      </p:sp>
      <p:sp>
        <p:nvSpPr>
          <p:cNvPr id="20" name="TextBox 19"/>
          <p:cNvSpPr txBox="1"/>
          <p:nvPr/>
        </p:nvSpPr>
        <p:spPr>
          <a:xfrm>
            <a:off x="7269297" y="3657600"/>
            <a:ext cx="2072579" cy="457200"/>
          </a:xfrm>
          <a:prstGeom prst="rect">
            <a:avLst/>
          </a:prstGeom>
          <a:noFill/>
        </p:spPr>
        <p:txBody>
          <a:bodyPr wrap="square" lIns="0" rIns="0" tIns="0" bIns="0" anchor="t">
            <a:spAutoFit/>
          </a:bodyPr>
          <a:lstStyle/>
          <a:p>
            <a:pPr algn="ctr">
              <a:lnSpc>
                <a:spcPct val="110000"/>
              </a:lnSpc>
            </a:pPr>
            <a:r>
              <a:rPr sz="1200" b="0" i="0">
                <a:solidFill>
                  <a:srgbClr val="F4F6FB"/>
                </a:solidFill>
                <a:latin typeface="Inter"/>
              </a:rPr>
              <a:t>proba &gt; 80 %</a:t>
            </a:r>
          </a:p>
        </p:txBody>
      </p:sp>
      <p:sp>
        <p:nvSpPr>
          <p:cNvPr id="21" name="Rounded Rectangle 20"/>
          <p:cNvSpPr/>
          <p:nvPr/>
        </p:nvSpPr>
        <p:spPr>
          <a:xfrm>
            <a:off x="9479036" y="2743200"/>
            <a:ext cx="2072579" cy="1828800"/>
          </a:xfrm>
          <a:prstGeom prst="roundRect">
            <a:avLst>
              <a:gd name="adj" fmla="val 6000"/>
            </a:avLst>
          </a:prstGeom>
          <a:solidFill>
            <a:srgbClr val="101A45">
              <a:alpha val="20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79036" y="3063240"/>
            <a:ext cx="2072579" cy="457200"/>
          </a:xfrm>
          <a:prstGeom prst="rect">
            <a:avLst/>
          </a:prstGeom>
          <a:noFill/>
        </p:spPr>
        <p:txBody>
          <a:bodyPr wrap="square" lIns="0" rIns="0" tIns="0" bIns="0" anchor="t">
            <a:spAutoFit/>
          </a:bodyPr>
          <a:lstStyle/>
          <a:p>
            <a:pPr algn="ctr">
              <a:lnSpc>
                <a:spcPct val="110000"/>
              </a:lnSpc>
            </a:pPr>
            <a:r>
              <a:rPr sz="1800" b="1" i="0">
                <a:solidFill>
                  <a:srgbClr val="FFB37A"/>
                </a:solidFill>
                <a:latin typeface="Space Grotesk"/>
              </a:rPr>
              <a:t>⑤ ALERTE</a:t>
            </a:r>
          </a:p>
        </p:txBody>
      </p:sp>
      <p:sp>
        <p:nvSpPr>
          <p:cNvPr id="23" name="TextBox 22"/>
          <p:cNvSpPr txBox="1"/>
          <p:nvPr/>
        </p:nvSpPr>
        <p:spPr>
          <a:xfrm>
            <a:off x="9479036" y="3657600"/>
            <a:ext cx="2072579" cy="457200"/>
          </a:xfrm>
          <a:prstGeom prst="rect">
            <a:avLst/>
          </a:prstGeom>
          <a:noFill/>
        </p:spPr>
        <p:txBody>
          <a:bodyPr wrap="square" lIns="0" rIns="0" tIns="0" bIns="0" anchor="t">
            <a:spAutoFit/>
          </a:bodyPr>
          <a:lstStyle/>
          <a:p>
            <a:pPr algn="ctr">
              <a:lnSpc>
                <a:spcPct val="110000"/>
              </a:lnSpc>
            </a:pPr>
            <a:r>
              <a:rPr sz="1200" b="0" i="0">
                <a:solidFill>
                  <a:srgbClr val="F4F6FB"/>
                </a:solidFill>
                <a:latin typeface="Inter"/>
              </a:rPr>
              <a:t>Push Firebase</a:t>
            </a:r>
          </a:p>
        </p:txBody>
      </p:sp>
      <p:sp>
        <p:nvSpPr>
          <p:cNvPr id="24" name="Rounded Rectangle 23"/>
          <p:cNvSpPr/>
          <p:nvPr/>
        </p:nvSpPr>
        <p:spPr>
          <a:xfrm>
            <a:off x="640080" y="4937760"/>
            <a:ext cx="3454298" cy="868680"/>
          </a:xfrm>
          <a:prstGeom prst="roundRect">
            <a:avLst>
              <a:gd name="adj" fmla="val 6000"/>
            </a:avLst>
          </a:prstGeom>
          <a:solidFill>
            <a:srgbClr val="101A45">
              <a:alpha val="18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937760"/>
            <a:ext cx="2286000" cy="868680"/>
          </a:xfrm>
          <a:prstGeom prst="rect">
            <a:avLst/>
          </a:prstGeom>
          <a:noFill/>
        </p:spPr>
        <p:txBody>
          <a:bodyPr wrap="square" lIns="0" rIns="0" tIns="0" bIns="0" anchor="ctr">
            <a:spAutoFit/>
          </a:bodyPr>
          <a:lstStyle/>
          <a:p>
            <a:pPr algn="l">
              <a:lnSpc>
                <a:spcPct val="110000"/>
              </a:lnSpc>
            </a:pPr>
            <a:r>
              <a:rPr sz="2200" b="1" i="0">
                <a:solidFill>
                  <a:srgbClr val="FF9548"/>
                </a:solidFill>
                <a:latin typeface="Space Grotesk"/>
              </a:rPr>
              <a:t>~60 s</a:t>
            </a:r>
          </a:p>
        </p:txBody>
      </p:sp>
      <p:sp>
        <p:nvSpPr>
          <p:cNvPr id="26" name="TextBox 25"/>
          <p:cNvSpPr txBox="1"/>
          <p:nvPr/>
        </p:nvSpPr>
        <p:spPr>
          <a:xfrm>
            <a:off x="3200400" y="4937760"/>
            <a:ext cx="619658" cy="868680"/>
          </a:xfrm>
          <a:prstGeom prst="rect">
            <a:avLst/>
          </a:prstGeom>
          <a:noFill/>
        </p:spPr>
        <p:txBody>
          <a:bodyPr wrap="square" lIns="0" rIns="0" tIns="0" bIns="0" anchor="ctr">
            <a:spAutoFit/>
          </a:bodyPr>
          <a:lstStyle/>
          <a:p>
            <a:pPr algn="l">
              <a:lnSpc>
                <a:spcPct val="110000"/>
              </a:lnSpc>
            </a:pPr>
            <a:r>
              <a:rPr sz="1200" b="0" i="0">
                <a:solidFill>
                  <a:srgbClr val="C9D0DC"/>
                </a:solidFill>
                <a:latin typeface="Inter"/>
              </a:rPr>
              <a:t>Latence bout-en-bout</a:t>
            </a:r>
          </a:p>
        </p:txBody>
      </p:sp>
      <p:sp>
        <p:nvSpPr>
          <p:cNvPr id="27" name="Rounded Rectangle 26"/>
          <p:cNvSpPr/>
          <p:nvPr/>
        </p:nvSpPr>
        <p:spPr>
          <a:xfrm>
            <a:off x="4368698" y="4937760"/>
            <a:ext cx="3454298" cy="868680"/>
          </a:xfrm>
          <a:prstGeom prst="roundRect">
            <a:avLst>
              <a:gd name="adj" fmla="val 6000"/>
            </a:avLst>
          </a:prstGeom>
          <a:solidFill>
            <a:srgbClr val="101A45">
              <a:alpha val="18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43018" y="4937760"/>
            <a:ext cx="2286000" cy="868680"/>
          </a:xfrm>
          <a:prstGeom prst="rect">
            <a:avLst/>
          </a:prstGeom>
          <a:noFill/>
        </p:spPr>
        <p:txBody>
          <a:bodyPr wrap="square" lIns="0" rIns="0" tIns="0" bIns="0" anchor="ctr">
            <a:spAutoFit/>
          </a:bodyPr>
          <a:lstStyle/>
          <a:p>
            <a:pPr algn="l">
              <a:lnSpc>
                <a:spcPct val="110000"/>
              </a:lnSpc>
            </a:pPr>
            <a:r>
              <a:rPr sz="2200" b="1" i="0">
                <a:solidFill>
                  <a:srgbClr val="FF9548"/>
                </a:solidFill>
                <a:latin typeface="Space Grotesk"/>
              </a:rPr>
              <a:t>Automatique</a:t>
            </a:r>
          </a:p>
        </p:txBody>
      </p:sp>
      <p:sp>
        <p:nvSpPr>
          <p:cNvPr id="29" name="TextBox 28"/>
          <p:cNvSpPr txBox="1"/>
          <p:nvPr/>
        </p:nvSpPr>
        <p:spPr>
          <a:xfrm>
            <a:off x="6929018" y="4937760"/>
            <a:ext cx="619658" cy="868680"/>
          </a:xfrm>
          <a:prstGeom prst="rect">
            <a:avLst/>
          </a:prstGeom>
          <a:noFill/>
        </p:spPr>
        <p:txBody>
          <a:bodyPr wrap="square" lIns="0" rIns="0" tIns="0" bIns="0" anchor="ctr">
            <a:spAutoFit/>
          </a:bodyPr>
          <a:lstStyle/>
          <a:p>
            <a:pPr algn="l">
              <a:lnSpc>
                <a:spcPct val="110000"/>
              </a:lnSpc>
            </a:pPr>
            <a:r>
              <a:rPr sz="1200" b="0" i="0">
                <a:solidFill>
                  <a:srgbClr val="C9D0DC"/>
                </a:solidFill>
                <a:latin typeface="Inter"/>
              </a:rPr>
              <a:t>Zéro action manuelle</a:t>
            </a:r>
          </a:p>
        </p:txBody>
      </p:sp>
      <p:sp>
        <p:nvSpPr>
          <p:cNvPr id="30" name="Rounded Rectangle 29"/>
          <p:cNvSpPr/>
          <p:nvPr/>
        </p:nvSpPr>
        <p:spPr>
          <a:xfrm>
            <a:off x="8097316" y="4937760"/>
            <a:ext cx="3454298" cy="868680"/>
          </a:xfrm>
          <a:prstGeom prst="roundRect">
            <a:avLst>
              <a:gd name="adj" fmla="val 6000"/>
            </a:avLst>
          </a:prstGeom>
          <a:solidFill>
            <a:srgbClr val="101A45">
              <a:alpha val="18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1636" y="4937760"/>
            <a:ext cx="2286000" cy="868680"/>
          </a:xfrm>
          <a:prstGeom prst="rect">
            <a:avLst/>
          </a:prstGeom>
          <a:noFill/>
        </p:spPr>
        <p:txBody>
          <a:bodyPr wrap="square" lIns="0" rIns="0" tIns="0" bIns="0" anchor="ctr">
            <a:spAutoFit/>
          </a:bodyPr>
          <a:lstStyle/>
          <a:p>
            <a:pPr algn="l">
              <a:lnSpc>
                <a:spcPct val="110000"/>
              </a:lnSpc>
            </a:pPr>
            <a:r>
              <a:rPr sz="2200" b="1" i="0">
                <a:solidFill>
                  <a:srgbClr val="FF9548"/>
                </a:solidFill>
                <a:latin typeface="Space Grotesk"/>
              </a:rPr>
              <a:t>Terrain</a:t>
            </a:r>
          </a:p>
        </p:txBody>
      </p:sp>
      <p:sp>
        <p:nvSpPr>
          <p:cNvPr id="32" name="TextBox 31"/>
          <p:cNvSpPr txBox="1"/>
          <p:nvPr/>
        </p:nvSpPr>
        <p:spPr>
          <a:xfrm>
            <a:off x="10657636" y="4937760"/>
            <a:ext cx="619658" cy="868680"/>
          </a:xfrm>
          <a:prstGeom prst="rect">
            <a:avLst/>
          </a:prstGeom>
          <a:noFill/>
        </p:spPr>
        <p:txBody>
          <a:bodyPr wrap="square" lIns="0" rIns="0" tIns="0" bIns="0" anchor="ctr">
            <a:spAutoFit/>
          </a:bodyPr>
          <a:lstStyle/>
          <a:p>
            <a:pPr algn="l">
              <a:lnSpc>
                <a:spcPct val="110000"/>
              </a:lnSpc>
            </a:pPr>
            <a:r>
              <a:rPr sz="1200" b="0" i="0">
                <a:solidFill>
                  <a:srgbClr val="C9D0DC"/>
                </a:solidFill>
                <a:latin typeface="Inter"/>
              </a:rPr>
              <a:t>Notification mobile</a:t>
            </a:r>
          </a:p>
        </p:txBody>
      </p:sp>
      <p:sp>
        <p:nvSpPr>
          <p:cNvPr id="33" name="TextBox 32"/>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76895" y="731520"/>
            <a:ext cx="3657600" cy="3200400"/>
          </a:xfrm>
          <a:prstGeom prst="rect">
            <a:avLst/>
          </a:prstGeom>
          <a:noFill/>
        </p:spPr>
        <p:txBody>
          <a:bodyPr wrap="square" lIns="0" rIns="0" tIns="0" bIns="0" anchor="t">
            <a:spAutoFit/>
          </a:bodyPr>
          <a:lstStyle/>
          <a:p>
            <a:pPr algn="r">
              <a:lnSpc>
                <a:spcPct val="100000"/>
              </a:lnSpc>
            </a:pPr>
            <a:r>
              <a:rPr sz="20000" b="1" i="0">
                <a:solidFill>
                  <a:srgbClr val="FF7A1A"/>
                </a:solidFill>
                <a:latin typeface="Space Grotesk"/>
              </a:rPr>
              <a:t>04</a:t>
            </a:r>
          </a:p>
        </p:txBody>
      </p:sp>
      <p:sp>
        <p:nvSpPr>
          <p:cNvPr id="6" name="TextBox 5"/>
          <p:cNvSpPr txBox="1"/>
          <p:nvPr/>
        </p:nvSpPr>
        <p:spPr>
          <a:xfrm>
            <a:off x="640080" y="1828800"/>
            <a:ext cx="10911535" cy="320040"/>
          </a:xfrm>
          <a:prstGeom prst="rect">
            <a:avLst/>
          </a:prstGeom>
          <a:noFill/>
        </p:spPr>
        <p:txBody>
          <a:bodyPr wrap="square" lIns="0" rIns="0" tIns="0" bIns="0" anchor="t">
            <a:spAutoFit/>
          </a:bodyPr>
          <a:lstStyle/>
          <a:p>
            <a:pPr algn="l">
              <a:lnSpc>
                <a:spcPct val="110000"/>
              </a:lnSpc>
            </a:pPr>
            <a:r>
              <a:rPr sz="1100" b="1" i="0" spc="240">
                <a:solidFill>
                  <a:srgbClr val="FF9548"/>
                </a:solidFill>
                <a:latin typeface="JetBrains Mono"/>
              </a:rPr>
              <a:t>SECTION</a:t>
            </a:r>
          </a:p>
        </p:txBody>
      </p:sp>
      <p:sp>
        <p:nvSpPr>
          <p:cNvPr id="7" name="TextBox 6"/>
          <p:cNvSpPr txBox="1"/>
          <p:nvPr/>
        </p:nvSpPr>
        <p:spPr>
          <a:xfrm>
            <a:off x="640080" y="2286000"/>
            <a:ext cx="7772400" cy="1645920"/>
          </a:xfrm>
          <a:prstGeom prst="rect">
            <a:avLst/>
          </a:prstGeom>
          <a:noFill/>
        </p:spPr>
        <p:txBody>
          <a:bodyPr wrap="square" lIns="0" rIns="0" tIns="0" bIns="0" anchor="t">
            <a:spAutoFit/>
          </a:bodyPr>
          <a:lstStyle/>
          <a:p>
            <a:pPr algn="l">
              <a:lnSpc>
                <a:spcPct val="102000"/>
              </a:lnSpc>
            </a:pPr>
            <a:r>
              <a:rPr sz="6000" b="1" i="0">
                <a:solidFill>
                  <a:srgbClr val="FFFFFF"/>
                </a:solidFill>
                <a:latin typeface="Space Grotesk"/>
              </a:rPr>
              <a:t>Développement et implémentation</a:t>
            </a:r>
          </a:p>
        </p:txBody>
      </p:sp>
      <p:sp>
        <p:nvSpPr>
          <p:cNvPr id="8" name="TextBox 7"/>
          <p:cNvSpPr txBox="1"/>
          <p:nvPr/>
        </p:nvSpPr>
        <p:spPr>
          <a:xfrm>
            <a:off x="640080" y="4206240"/>
            <a:ext cx="8686800" cy="457200"/>
          </a:xfrm>
          <a:prstGeom prst="rect">
            <a:avLst/>
          </a:prstGeom>
          <a:noFill/>
        </p:spPr>
        <p:txBody>
          <a:bodyPr wrap="square" lIns="0" rIns="0" tIns="0" bIns="0" anchor="t">
            <a:spAutoFit/>
          </a:bodyPr>
          <a:lstStyle/>
          <a:p>
            <a:pPr algn="l">
              <a:lnSpc>
                <a:spcPct val="110000"/>
              </a:lnSpc>
            </a:pPr>
            <a:r>
              <a:rPr sz="1800" b="0" i="0">
                <a:solidFill>
                  <a:srgbClr val="C9D0DC"/>
                </a:solidFill>
                <a:latin typeface="Inter"/>
              </a:rPr>
              <a:t>Backend · IA · Applications web et mobile · Déploiement</a:t>
            </a:r>
          </a:p>
        </p:txBody>
      </p:sp>
      <p:sp>
        <p:nvSpPr>
          <p:cNvPr id="9" name="Rectangle 8"/>
          <p:cNvSpPr/>
          <p:nvPr/>
        </p:nvSpPr>
        <p:spPr>
          <a:xfrm>
            <a:off x="640080" y="3977639"/>
            <a:ext cx="2286000" cy="6350"/>
          </a:xfrm>
          <a:prstGeom prst="rect">
            <a:avLst/>
          </a:prstGeom>
          <a:solidFill>
            <a:srgbClr val="FF7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04 · DÉVELOPPEMENT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BACKEND API</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Node.js + MongoDB.</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API REST · 8 collections · trois rôles utilisateur.</a:t>
            </a:r>
          </a:p>
        </p:txBody>
      </p:sp>
      <p:sp>
        <p:nvSpPr>
          <p:cNvPr id="9" name="Rounded Rectangle 8"/>
          <p:cNvSpPr/>
          <p:nvPr/>
        </p:nvSpPr>
        <p:spPr>
          <a:xfrm>
            <a:off x="640080" y="2651760"/>
            <a:ext cx="5318607"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926080"/>
            <a:ext cx="4769967" cy="365760"/>
          </a:xfrm>
          <a:prstGeom prst="rect">
            <a:avLst/>
          </a:prstGeom>
          <a:noFill/>
        </p:spPr>
        <p:txBody>
          <a:bodyPr wrap="square" lIns="0" rIns="0" tIns="0" bIns="0" anchor="t">
            <a:spAutoFit/>
          </a:bodyPr>
          <a:lstStyle/>
          <a:p>
            <a:pPr algn="l">
              <a:lnSpc>
                <a:spcPct val="110000"/>
              </a:lnSpc>
            </a:pPr>
            <a:r>
              <a:rPr sz="1000" b="1" i="0" spc="200">
                <a:solidFill>
                  <a:srgbClr val="FF9548"/>
                </a:solidFill>
                <a:latin typeface="JetBrains Mono"/>
              </a:rPr>
              <a:t>ENDPOINTS PRINCIPAUX</a:t>
            </a:r>
          </a:p>
        </p:txBody>
      </p:sp>
      <p:sp>
        <p:nvSpPr>
          <p:cNvPr id="11" name="TextBox 10"/>
          <p:cNvSpPr txBox="1"/>
          <p:nvPr/>
        </p:nvSpPr>
        <p:spPr>
          <a:xfrm>
            <a:off x="914400" y="3429000"/>
            <a:ext cx="548640" cy="320040"/>
          </a:xfrm>
          <a:prstGeom prst="rect">
            <a:avLst/>
          </a:prstGeom>
          <a:noFill/>
        </p:spPr>
        <p:txBody>
          <a:bodyPr wrap="square" lIns="0" rIns="0" tIns="0" bIns="0" anchor="t">
            <a:spAutoFit/>
          </a:bodyPr>
          <a:lstStyle/>
          <a:p>
            <a:pPr algn="l">
              <a:lnSpc>
                <a:spcPct val="110000"/>
              </a:lnSpc>
            </a:pPr>
            <a:r>
              <a:rPr sz="1000" b="1" i="0">
                <a:solidFill>
                  <a:srgbClr val="FF9548"/>
                </a:solidFill>
                <a:latin typeface="JetBrains Mono"/>
              </a:rPr>
              <a:t>POST</a:t>
            </a:r>
          </a:p>
        </p:txBody>
      </p:sp>
      <p:sp>
        <p:nvSpPr>
          <p:cNvPr id="12" name="TextBox 11"/>
          <p:cNvSpPr txBox="1"/>
          <p:nvPr/>
        </p:nvSpPr>
        <p:spPr>
          <a:xfrm>
            <a:off x="1508760" y="3429000"/>
            <a:ext cx="3108960" cy="320040"/>
          </a:xfrm>
          <a:prstGeom prst="rect">
            <a:avLst/>
          </a:prstGeom>
          <a:noFill/>
        </p:spPr>
        <p:txBody>
          <a:bodyPr wrap="square" lIns="0" rIns="0" tIns="0" bIns="0" anchor="t">
            <a:spAutoFit/>
          </a:bodyPr>
          <a:lstStyle/>
          <a:p>
            <a:pPr algn="l">
              <a:lnSpc>
                <a:spcPct val="110000"/>
              </a:lnSpc>
            </a:pPr>
            <a:r>
              <a:rPr sz="1100" b="0" i="0">
                <a:solidFill>
                  <a:srgbClr val="FFFFFF"/>
                </a:solidFill>
                <a:latin typeface="JetBrains Mono"/>
              </a:rPr>
              <a:t>/api/capteurs/ingest</a:t>
            </a:r>
          </a:p>
        </p:txBody>
      </p:sp>
      <p:sp>
        <p:nvSpPr>
          <p:cNvPr id="13" name="TextBox 12"/>
          <p:cNvSpPr txBox="1"/>
          <p:nvPr/>
        </p:nvSpPr>
        <p:spPr>
          <a:xfrm>
            <a:off x="914400" y="3721608"/>
            <a:ext cx="4769967" cy="274320"/>
          </a:xfrm>
          <a:prstGeom prst="rect">
            <a:avLst/>
          </a:prstGeom>
          <a:noFill/>
        </p:spPr>
        <p:txBody>
          <a:bodyPr wrap="square" lIns="0" rIns="0" tIns="0" bIns="0" anchor="t">
            <a:spAutoFit/>
          </a:bodyPr>
          <a:lstStyle/>
          <a:p>
            <a:pPr algn="l">
              <a:lnSpc>
                <a:spcPct val="110000"/>
              </a:lnSpc>
            </a:pPr>
            <a:r>
              <a:rPr sz="1000" b="0" i="0">
                <a:solidFill>
                  <a:srgbClr val="7D8496"/>
                </a:solidFill>
                <a:latin typeface="Inter"/>
              </a:rPr>
              <a:t>Ingestion IoT</a:t>
            </a:r>
          </a:p>
        </p:txBody>
      </p:sp>
      <p:sp>
        <p:nvSpPr>
          <p:cNvPr id="14" name="TextBox 13"/>
          <p:cNvSpPr txBox="1"/>
          <p:nvPr/>
        </p:nvSpPr>
        <p:spPr>
          <a:xfrm>
            <a:off x="914400" y="4087368"/>
            <a:ext cx="548640" cy="320040"/>
          </a:xfrm>
          <a:prstGeom prst="rect">
            <a:avLst/>
          </a:prstGeom>
          <a:noFill/>
        </p:spPr>
        <p:txBody>
          <a:bodyPr wrap="square" lIns="0" rIns="0" tIns="0" bIns="0" anchor="t">
            <a:spAutoFit/>
          </a:bodyPr>
          <a:lstStyle/>
          <a:p>
            <a:pPr algn="l">
              <a:lnSpc>
                <a:spcPct val="110000"/>
              </a:lnSpc>
            </a:pPr>
            <a:r>
              <a:rPr sz="1000" b="1" i="0">
                <a:solidFill>
                  <a:srgbClr val="4ADE80"/>
                </a:solidFill>
                <a:latin typeface="JetBrains Mono"/>
              </a:rPr>
              <a:t>GET</a:t>
            </a:r>
          </a:p>
        </p:txBody>
      </p:sp>
      <p:sp>
        <p:nvSpPr>
          <p:cNvPr id="15" name="TextBox 14"/>
          <p:cNvSpPr txBox="1"/>
          <p:nvPr/>
        </p:nvSpPr>
        <p:spPr>
          <a:xfrm>
            <a:off x="1508760" y="4087368"/>
            <a:ext cx="3108960" cy="320040"/>
          </a:xfrm>
          <a:prstGeom prst="rect">
            <a:avLst/>
          </a:prstGeom>
          <a:noFill/>
        </p:spPr>
        <p:txBody>
          <a:bodyPr wrap="square" lIns="0" rIns="0" tIns="0" bIns="0" anchor="t">
            <a:spAutoFit/>
          </a:bodyPr>
          <a:lstStyle/>
          <a:p>
            <a:pPr algn="l">
              <a:lnSpc>
                <a:spcPct val="110000"/>
              </a:lnSpc>
            </a:pPr>
            <a:r>
              <a:rPr sz="1100" b="0" i="0">
                <a:solidFill>
                  <a:srgbClr val="FFFFFF"/>
                </a:solidFill>
                <a:latin typeface="JetBrains Mono"/>
              </a:rPr>
              <a:t>/api/machines</a:t>
            </a:r>
          </a:p>
        </p:txBody>
      </p:sp>
      <p:sp>
        <p:nvSpPr>
          <p:cNvPr id="16" name="TextBox 15"/>
          <p:cNvSpPr txBox="1"/>
          <p:nvPr/>
        </p:nvSpPr>
        <p:spPr>
          <a:xfrm>
            <a:off x="914400" y="4379976"/>
            <a:ext cx="4769967" cy="274320"/>
          </a:xfrm>
          <a:prstGeom prst="rect">
            <a:avLst/>
          </a:prstGeom>
          <a:noFill/>
        </p:spPr>
        <p:txBody>
          <a:bodyPr wrap="square" lIns="0" rIns="0" tIns="0" bIns="0" anchor="t">
            <a:spAutoFit/>
          </a:bodyPr>
          <a:lstStyle/>
          <a:p>
            <a:pPr algn="l">
              <a:lnSpc>
                <a:spcPct val="110000"/>
              </a:lnSpc>
            </a:pPr>
            <a:r>
              <a:rPr sz="1000" b="0" i="0">
                <a:solidFill>
                  <a:srgbClr val="7D8496"/>
                </a:solidFill>
                <a:latin typeface="Inter"/>
              </a:rPr>
              <a:t>Liste machines</a:t>
            </a:r>
          </a:p>
        </p:txBody>
      </p:sp>
      <p:sp>
        <p:nvSpPr>
          <p:cNvPr id="17" name="TextBox 16"/>
          <p:cNvSpPr txBox="1"/>
          <p:nvPr/>
        </p:nvSpPr>
        <p:spPr>
          <a:xfrm>
            <a:off x="914400" y="4745736"/>
            <a:ext cx="548640" cy="320040"/>
          </a:xfrm>
          <a:prstGeom prst="rect">
            <a:avLst/>
          </a:prstGeom>
          <a:noFill/>
        </p:spPr>
        <p:txBody>
          <a:bodyPr wrap="square" lIns="0" rIns="0" tIns="0" bIns="0" anchor="t">
            <a:spAutoFit/>
          </a:bodyPr>
          <a:lstStyle/>
          <a:p>
            <a:pPr algn="l">
              <a:lnSpc>
                <a:spcPct val="110000"/>
              </a:lnSpc>
            </a:pPr>
            <a:r>
              <a:rPr sz="1000" b="1" i="0">
                <a:solidFill>
                  <a:srgbClr val="FF9548"/>
                </a:solidFill>
                <a:latin typeface="JetBrains Mono"/>
              </a:rPr>
              <a:t>POST</a:t>
            </a:r>
          </a:p>
        </p:txBody>
      </p:sp>
      <p:sp>
        <p:nvSpPr>
          <p:cNvPr id="18" name="TextBox 17"/>
          <p:cNvSpPr txBox="1"/>
          <p:nvPr/>
        </p:nvSpPr>
        <p:spPr>
          <a:xfrm>
            <a:off x="1508760" y="4745736"/>
            <a:ext cx="3108960" cy="320040"/>
          </a:xfrm>
          <a:prstGeom prst="rect">
            <a:avLst/>
          </a:prstGeom>
          <a:noFill/>
        </p:spPr>
        <p:txBody>
          <a:bodyPr wrap="square" lIns="0" rIns="0" tIns="0" bIns="0" anchor="t">
            <a:spAutoFit/>
          </a:bodyPr>
          <a:lstStyle/>
          <a:p>
            <a:pPr algn="l">
              <a:lnSpc>
                <a:spcPct val="110000"/>
              </a:lnSpc>
            </a:pPr>
            <a:r>
              <a:rPr sz="1100" b="0" i="0">
                <a:solidFill>
                  <a:srgbClr val="FFFFFF"/>
                </a:solidFill>
                <a:latin typeface="JetBrains Mono"/>
              </a:rPr>
              <a:t>/api/interventions</a:t>
            </a:r>
          </a:p>
        </p:txBody>
      </p:sp>
      <p:sp>
        <p:nvSpPr>
          <p:cNvPr id="19" name="TextBox 18"/>
          <p:cNvSpPr txBox="1"/>
          <p:nvPr/>
        </p:nvSpPr>
        <p:spPr>
          <a:xfrm>
            <a:off x="914400" y="5038344"/>
            <a:ext cx="4769967" cy="274320"/>
          </a:xfrm>
          <a:prstGeom prst="rect">
            <a:avLst/>
          </a:prstGeom>
          <a:noFill/>
        </p:spPr>
        <p:txBody>
          <a:bodyPr wrap="square" lIns="0" rIns="0" tIns="0" bIns="0" anchor="t">
            <a:spAutoFit/>
          </a:bodyPr>
          <a:lstStyle/>
          <a:p>
            <a:pPr algn="l">
              <a:lnSpc>
                <a:spcPct val="110000"/>
              </a:lnSpc>
            </a:pPr>
            <a:r>
              <a:rPr sz="1000" b="0" i="0">
                <a:solidFill>
                  <a:srgbClr val="7D8496"/>
                </a:solidFill>
                <a:latin typeface="Inter"/>
              </a:rPr>
              <a:t>Créer intervention</a:t>
            </a:r>
          </a:p>
        </p:txBody>
      </p:sp>
      <p:sp>
        <p:nvSpPr>
          <p:cNvPr id="20" name="TextBox 19"/>
          <p:cNvSpPr txBox="1"/>
          <p:nvPr/>
        </p:nvSpPr>
        <p:spPr>
          <a:xfrm>
            <a:off x="914400" y="5404104"/>
            <a:ext cx="548640" cy="320040"/>
          </a:xfrm>
          <a:prstGeom prst="rect">
            <a:avLst/>
          </a:prstGeom>
          <a:noFill/>
        </p:spPr>
        <p:txBody>
          <a:bodyPr wrap="square" lIns="0" rIns="0" tIns="0" bIns="0" anchor="t">
            <a:spAutoFit/>
          </a:bodyPr>
          <a:lstStyle/>
          <a:p>
            <a:pPr algn="l">
              <a:lnSpc>
                <a:spcPct val="110000"/>
              </a:lnSpc>
            </a:pPr>
            <a:r>
              <a:rPr sz="1000" b="1" i="0">
                <a:solidFill>
                  <a:srgbClr val="4ADE80"/>
                </a:solidFill>
                <a:latin typeface="JetBrains Mono"/>
              </a:rPr>
              <a:t>GET</a:t>
            </a:r>
          </a:p>
        </p:txBody>
      </p:sp>
      <p:sp>
        <p:nvSpPr>
          <p:cNvPr id="21" name="TextBox 20"/>
          <p:cNvSpPr txBox="1"/>
          <p:nvPr/>
        </p:nvSpPr>
        <p:spPr>
          <a:xfrm>
            <a:off x="1508760" y="5404104"/>
            <a:ext cx="3108960" cy="320040"/>
          </a:xfrm>
          <a:prstGeom prst="rect">
            <a:avLst/>
          </a:prstGeom>
          <a:noFill/>
        </p:spPr>
        <p:txBody>
          <a:bodyPr wrap="square" lIns="0" rIns="0" tIns="0" bIns="0" anchor="t">
            <a:spAutoFit/>
          </a:bodyPr>
          <a:lstStyle/>
          <a:p>
            <a:pPr algn="l">
              <a:lnSpc>
                <a:spcPct val="110000"/>
              </a:lnSpc>
            </a:pPr>
            <a:r>
              <a:rPr sz="1100" b="0" i="0">
                <a:solidFill>
                  <a:srgbClr val="FFFFFF"/>
                </a:solidFill>
                <a:latin typeface="JetBrains Mono"/>
              </a:rPr>
              <a:t>/api/alertes</a:t>
            </a:r>
          </a:p>
        </p:txBody>
      </p:sp>
      <p:sp>
        <p:nvSpPr>
          <p:cNvPr id="22" name="TextBox 21"/>
          <p:cNvSpPr txBox="1"/>
          <p:nvPr/>
        </p:nvSpPr>
        <p:spPr>
          <a:xfrm>
            <a:off x="914400" y="5696712"/>
            <a:ext cx="4769967" cy="274320"/>
          </a:xfrm>
          <a:prstGeom prst="rect">
            <a:avLst/>
          </a:prstGeom>
          <a:noFill/>
        </p:spPr>
        <p:txBody>
          <a:bodyPr wrap="square" lIns="0" rIns="0" tIns="0" bIns="0" anchor="t">
            <a:spAutoFit/>
          </a:bodyPr>
          <a:lstStyle/>
          <a:p>
            <a:pPr algn="l">
              <a:lnSpc>
                <a:spcPct val="110000"/>
              </a:lnSpc>
            </a:pPr>
            <a:r>
              <a:rPr sz="1000" b="0" i="0">
                <a:solidFill>
                  <a:srgbClr val="7D8496"/>
                </a:solidFill>
                <a:latin typeface="Inter"/>
              </a:rPr>
              <a:t>Alertes actives</a:t>
            </a:r>
          </a:p>
        </p:txBody>
      </p:sp>
      <p:sp>
        <p:nvSpPr>
          <p:cNvPr id="23" name="TextBox 22"/>
          <p:cNvSpPr txBox="1"/>
          <p:nvPr/>
        </p:nvSpPr>
        <p:spPr>
          <a:xfrm>
            <a:off x="914400" y="6062472"/>
            <a:ext cx="548640" cy="320040"/>
          </a:xfrm>
          <a:prstGeom prst="rect">
            <a:avLst/>
          </a:prstGeom>
          <a:noFill/>
        </p:spPr>
        <p:txBody>
          <a:bodyPr wrap="square" lIns="0" rIns="0" tIns="0" bIns="0" anchor="t">
            <a:spAutoFit/>
          </a:bodyPr>
          <a:lstStyle/>
          <a:p>
            <a:pPr algn="l">
              <a:lnSpc>
                <a:spcPct val="110000"/>
              </a:lnSpc>
            </a:pPr>
            <a:r>
              <a:rPr sz="1000" b="1" i="0">
                <a:solidFill>
                  <a:srgbClr val="FF9548"/>
                </a:solidFill>
                <a:latin typeface="JetBrains Mono"/>
              </a:rPr>
              <a:t>POST</a:t>
            </a:r>
          </a:p>
        </p:txBody>
      </p:sp>
      <p:sp>
        <p:nvSpPr>
          <p:cNvPr id="24" name="TextBox 23"/>
          <p:cNvSpPr txBox="1"/>
          <p:nvPr/>
        </p:nvSpPr>
        <p:spPr>
          <a:xfrm>
            <a:off x="1508760" y="6062472"/>
            <a:ext cx="3108960" cy="320040"/>
          </a:xfrm>
          <a:prstGeom prst="rect">
            <a:avLst/>
          </a:prstGeom>
          <a:noFill/>
        </p:spPr>
        <p:txBody>
          <a:bodyPr wrap="square" lIns="0" rIns="0" tIns="0" bIns="0" anchor="t">
            <a:spAutoFit/>
          </a:bodyPr>
          <a:lstStyle/>
          <a:p>
            <a:pPr algn="l">
              <a:lnSpc>
                <a:spcPct val="110000"/>
              </a:lnSpc>
            </a:pPr>
            <a:r>
              <a:rPr sz="1100" b="0" i="0">
                <a:solidFill>
                  <a:srgbClr val="FFFFFF"/>
                </a:solidFill>
                <a:latin typeface="JetBrains Mono"/>
              </a:rPr>
              <a:t>/api/auth/login</a:t>
            </a:r>
          </a:p>
        </p:txBody>
      </p:sp>
      <p:sp>
        <p:nvSpPr>
          <p:cNvPr id="25" name="TextBox 24"/>
          <p:cNvSpPr txBox="1"/>
          <p:nvPr/>
        </p:nvSpPr>
        <p:spPr>
          <a:xfrm>
            <a:off x="914400" y="6355080"/>
            <a:ext cx="4769967" cy="274320"/>
          </a:xfrm>
          <a:prstGeom prst="rect">
            <a:avLst/>
          </a:prstGeom>
          <a:noFill/>
        </p:spPr>
        <p:txBody>
          <a:bodyPr wrap="square" lIns="0" rIns="0" tIns="0" bIns="0" anchor="t">
            <a:spAutoFit/>
          </a:bodyPr>
          <a:lstStyle/>
          <a:p>
            <a:pPr algn="l">
              <a:lnSpc>
                <a:spcPct val="110000"/>
              </a:lnSpc>
            </a:pPr>
            <a:r>
              <a:rPr sz="1000" b="0" i="0">
                <a:solidFill>
                  <a:srgbClr val="7D8496"/>
                </a:solidFill>
                <a:latin typeface="Inter"/>
              </a:rPr>
              <a:t>Auth JWT</a:t>
            </a:r>
          </a:p>
        </p:txBody>
      </p:sp>
      <p:sp>
        <p:nvSpPr>
          <p:cNvPr id="26" name="Rounded Rectangle 25"/>
          <p:cNvSpPr/>
          <p:nvPr/>
        </p:nvSpPr>
        <p:spPr>
          <a:xfrm>
            <a:off x="6233007" y="2651760"/>
            <a:ext cx="5318607" cy="3566160"/>
          </a:xfrm>
          <a:prstGeom prst="roundRect">
            <a:avLst>
              <a:gd name="adj" fmla="val 6000"/>
            </a:avLst>
          </a:prstGeom>
          <a:solidFill>
            <a:srgbClr val="101A45">
              <a:alpha val="18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07327" y="2926080"/>
            <a:ext cx="4769967" cy="365760"/>
          </a:xfrm>
          <a:prstGeom prst="rect">
            <a:avLst/>
          </a:prstGeom>
          <a:noFill/>
        </p:spPr>
        <p:txBody>
          <a:bodyPr wrap="square" lIns="0" rIns="0" tIns="0" bIns="0" anchor="t">
            <a:spAutoFit/>
          </a:bodyPr>
          <a:lstStyle/>
          <a:p>
            <a:pPr algn="l">
              <a:lnSpc>
                <a:spcPct val="110000"/>
              </a:lnSpc>
            </a:pPr>
            <a:r>
              <a:rPr sz="1000" b="1" i="0" spc="200">
                <a:solidFill>
                  <a:srgbClr val="4ECDC4"/>
                </a:solidFill>
                <a:latin typeface="JetBrains Mono"/>
              </a:rPr>
              <a:t>COLLECTIONS MONGODB</a:t>
            </a:r>
          </a:p>
        </p:txBody>
      </p:sp>
      <p:sp>
        <p:nvSpPr>
          <p:cNvPr id="28" name="Rounded Rectangle 27"/>
          <p:cNvSpPr/>
          <p:nvPr/>
        </p:nvSpPr>
        <p:spPr>
          <a:xfrm>
            <a:off x="6507327" y="3429000"/>
            <a:ext cx="2247823" cy="365760"/>
          </a:xfrm>
          <a:prstGeom prst="roundRect">
            <a:avLst>
              <a:gd name="adj" fmla="val 50000"/>
            </a:avLst>
          </a:prstGeom>
          <a:solidFill>
            <a:srgbClr val="101A45">
              <a:alpha val="22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1100" b="1" spc="80">
                <a:solidFill>
                  <a:srgbClr val="DFE4F7"/>
                </a:solidFill>
                <a:latin typeface="JetBrains Mono"/>
              </a:rPr>
              <a:t>User</a:t>
            </a:r>
          </a:p>
        </p:txBody>
      </p:sp>
      <p:sp>
        <p:nvSpPr>
          <p:cNvPr id="29" name="Rounded Rectangle 28"/>
          <p:cNvSpPr/>
          <p:nvPr/>
        </p:nvSpPr>
        <p:spPr>
          <a:xfrm>
            <a:off x="9029471" y="3429000"/>
            <a:ext cx="2247823" cy="365760"/>
          </a:xfrm>
          <a:prstGeom prst="roundRect">
            <a:avLst>
              <a:gd name="adj" fmla="val 50000"/>
            </a:avLst>
          </a:prstGeom>
          <a:solidFill>
            <a:srgbClr val="101A45">
              <a:alpha val="22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1100" b="1" spc="80">
                <a:solidFill>
                  <a:srgbClr val="DFE4F7"/>
                </a:solidFill>
                <a:latin typeface="JetBrains Mono"/>
              </a:rPr>
              <a:t>Machine</a:t>
            </a:r>
          </a:p>
        </p:txBody>
      </p:sp>
      <p:sp>
        <p:nvSpPr>
          <p:cNvPr id="30" name="Rounded Rectangle 29"/>
          <p:cNvSpPr/>
          <p:nvPr/>
        </p:nvSpPr>
        <p:spPr>
          <a:xfrm>
            <a:off x="6507327" y="3931920"/>
            <a:ext cx="2247823" cy="365760"/>
          </a:xfrm>
          <a:prstGeom prst="roundRect">
            <a:avLst>
              <a:gd name="adj" fmla="val 50000"/>
            </a:avLst>
          </a:prstGeom>
          <a:solidFill>
            <a:srgbClr val="101A45">
              <a:alpha val="22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1100" b="1" spc="80">
                <a:solidFill>
                  <a:srgbClr val="DFE4F7"/>
                </a:solidFill>
                <a:latin typeface="JetBrains Mono"/>
              </a:rPr>
              <a:t>Capteur</a:t>
            </a:r>
          </a:p>
        </p:txBody>
      </p:sp>
      <p:sp>
        <p:nvSpPr>
          <p:cNvPr id="31" name="Rounded Rectangle 30"/>
          <p:cNvSpPr/>
          <p:nvPr/>
        </p:nvSpPr>
        <p:spPr>
          <a:xfrm>
            <a:off x="9029471" y="3931920"/>
            <a:ext cx="2247823" cy="365760"/>
          </a:xfrm>
          <a:prstGeom prst="roundRect">
            <a:avLst>
              <a:gd name="adj" fmla="val 50000"/>
            </a:avLst>
          </a:prstGeom>
          <a:solidFill>
            <a:srgbClr val="101A45">
              <a:alpha val="22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1100" b="1" spc="80">
                <a:solidFill>
                  <a:srgbClr val="DFE4F7"/>
                </a:solidFill>
                <a:latin typeface="JetBrains Mono"/>
              </a:rPr>
              <a:t>Intervention</a:t>
            </a:r>
          </a:p>
        </p:txBody>
      </p:sp>
      <p:sp>
        <p:nvSpPr>
          <p:cNvPr id="32" name="Rounded Rectangle 31"/>
          <p:cNvSpPr/>
          <p:nvPr/>
        </p:nvSpPr>
        <p:spPr>
          <a:xfrm>
            <a:off x="6507327" y="4434840"/>
            <a:ext cx="2247823" cy="365760"/>
          </a:xfrm>
          <a:prstGeom prst="roundRect">
            <a:avLst>
              <a:gd name="adj" fmla="val 50000"/>
            </a:avLst>
          </a:prstGeom>
          <a:solidFill>
            <a:srgbClr val="101A45">
              <a:alpha val="22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1100" b="1" spc="80">
                <a:solidFill>
                  <a:srgbClr val="DFE4F7"/>
                </a:solidFill>
                <a:latin typeface="JetBrains Mono"/>
              </a:rPr>
              <a:t>Alerte</a:t>
            </a:r>
          </a:p>
        </p:txBody>
      </p:sp>
      <p:sp>
        <p:nvSpPr>
          <p:cNvPr id="33" name="Rounded Rectangle 32"/>
          <p:cNvSpPr/>
          <p:nvPr/>
        </p:nvSpPr>
        <p:spPr>
          <a:xfrm>
            <a:off x="9029471" y="4434840"/>
            <a:ext cx="2247823" cy="365760"/>
          </a:xfrm>
          <a:prstGeom prst="roundRect">
            <a:avLst>
              <a:gd name="adj" fmla="val 50000"/>
            </a:avLst>
          </a:prstGeom>
          <a:solidFill>
            <a:srgbClr val="101A45">
              <a:alpha val="22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1100" b="1" spc="80">
                <a:solidFill>
                  <a:srgbClr val="DFE4F7"/>
                </a:solidFill>
                <a:latin typeface="JetBrains Mono"/>
              </a:rPr>
              <a:t>Maintenance</a:t>
            </a:r>
          </a:p>
        </p:txBody>
      </p:sp>
      <p:sp>
        <p:nvSpPr>
          <p:cNvPr id="34" name="Rounded Rectangle 33"/>
          <p:cNvSpPr/>
          <p:nvPr/>
        </p:nvSpPr>
        <p:spPr>
          <a:xfrm>
            <a:off x="6507327" y="4937760"/>
            <a:ext cx="2247823" cy="365760"/>
          </a:xfrm>
          <a:prstGeom prst="roundRect">
            <a:avLst>
              <a:gd name="adj" fmla="val 50000"/>
            </a:avLst>
          </a:prstGeom>
          <a:solidFill>
            <a:srgbClr val="101A45">
              <a:alpha val="22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1100" b="1" spc="80">
                <a:solidFill>
                  <a:srgbClr val="DFE4F7"/>
                </a:solidFill>
                <a:latin typeface="JetBrains Mono"/>
              </a:rPr>
              <a:t>AnalyseTCO</a:t>
            </a:r>
          </a:p>
        </p:txBody>
      </p:sp>
      <p:sp>
        <p:nvSpPr>
          <p:cNvPr id="35" name="Rounded Rectangle 34"/>
          <p:cNvSpPr/>
          <p:nvPr/>
        </p:nvSpPr>
        <p:spPr>
          <a:xfrm>
            <a:off x="9029471" y="4937760"/>
            <a:ext cx="2247823" cy="365760"/>
          </a:xfrm>
          <a:prstGeom prst="roundRect">
            <a:avLst>
              <a:gd name="adj" fmla="val 50000"/>
            </a:avLst>
          </a:prstGeom>
          <a:solidFill>
            <a:srgbClr val="101A45">
              <a:alpha val="22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1100" b="1" spc="80">
                <a:solidFill>
                  <a:srgbClr val="DFE4F7"/>
                </a:solidFill>
                <a:latin typeface="JetBrains Mono"/>
              </a:rPr>
              <a:t>PreventiveChecklist</a:t>
            </a:r>
          </a:p>
        </p:txBody>
      </p:sp>
      <p:sp>
        <p:nvSpPr>
          <p:cNvPr id="36" name="TextBox 35"/>
          <p:cNvSpPr txBox="1"/>
          <p:nvPr/>
        </p:nvSpPr>
        <p:spPr>
          <a:xfrm>
            <a:off x="6507327" y="5715000"/>
            <a:ext cx="4769967" cy="320040"/>
          </a:xfrm>
          <a:prstGeom prst="rect">
            <a:avLst/>
          </a:prstGeom>
          <a:noFill/>
        </p:spPr>
        <p:txBody>
          <a:bodyPr wrap="square" lIns="0" rIns="0" tIns="0" bIns="0" anchor="t">
            <a:spAutoFit/>
          </a:bodyPr>
          <a:lstStyle/>
          <a:p>
            <a:pPr algn="ctr">
              <a:lnSpc>
                <a:spcPct val="110000"/>
              </a:lnSpc>
            </a:pPr>
            <a:r>
              <a:rPr sz="1000" b="0" i="0" spc="100">
                <a:solidFill>
                  <a:srgbClr val="7D8496"/>
                </a:solidFill>
                <a:latin typeface="JetBrains Mono"/>
              </a:rPr>
              <a:t>3 rôles  ·  JWT auth  ·  x-api-key pour l'IoT</a:t>
            </a:r>
          </a:p>
        </p:txBody>
      </p:sp>
      <p:sp>
        <p:nvSpPr>
          <p:cNvPr id="37" name="TextBox 36"/>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04 · DÉVELOPPEMENT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MICROSERVICE INTELLIGENCE ARTIFICIELLE</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Trois modèles ML.</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Un microservice FastAPI · scikit-learn + XGBoost.</a:t>
            </a:r>
          </a:p>
        </p:txBody>
      </p:sp>
      <p:sp>
        <p:nvSpPr>
          <p:cNvPr id="9" name="Rounded Rectangle 8"/>
          <p:cNvSpPr/>
          <p:nvPr/>
        </p:nvSpPr>
        <p:spPr>
          <a:xfrm>
            <a:off x="640080" y="2651760"/>
            <a:ext cx="3484778" cy="274320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852928"/>
            <a:ext cx="3027578"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RF v1</a:t>
            </a:r>
          </a:p>
        </p:txBody>
      </p:sp>
      <p:sp>
        <p:nvSpPr>
          <p:cNvPr id="11" name="Rounded Rectangle 10"/>
          <p:cNvSpPr/>
          <p:nvPr/>
        </p:nvSpPr>
        <p:spPr>
          <a:xfrm>
            <a:off x="2981858" y="2834640"/>
            <a:ext cx="914400" cy="256032"/>
          </a:xfrm>
          <a:prstGeom prst="roundRect">
            <a:avLst>
              <a:gd name="adj" fmla="val 50000"/>
            </a:avLst>
          </a:prstGeom>
          <a:solidFill>
            <a:srgbClr val="FF7A1A">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800" b="1" spc="140">
                <a:solidFill>
                  <a:srgbClr val="050B1E"/>
                </a:solidFill>
                <a:latin typeface="JetBrains Mono"/>
              </a:rPr>
              <a:t>F1 0.15</a:t>
            </a:r>
          </a:p>
        </p:txBody>
      </p:sp>
      <p:sp>
        <p:nvSpPr>
          <p:cNvPr id="12" name="TextBox 11"/>
          <p:cNvSpPr txBox="1"/>
          <p:nvPr/>
        </p:nvSpPr>
        <p:spPr>
          <a:xfrm>
            <a:off x="868680" y="3145536"/>
            <a:ext cx="3027578"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Historique · zones</a:t>
            </a:r>
          </a:p>
        </p:txBody>
      </p:sp>
      <p:sp>
        <p:nvSpPr>
          <p:cNvPr id="13" name="TextBox 12"/>
          <p:cNvSpPr txBox="1"/>
          <p:nvPr/>
        </p:nvSpPr>
        <p:spPr>
          <a:xfrm>
            <a:off x="868680" y="3648456"/>
            <a:ext cx="3027578" cy="182880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Baseline entraînée sur l'historique ICEM.
Sortie : zone probable de la panne.</a:t>
            </a:r>
          </a:p>
        </p:txBody>
      </p:sp>
      <p:sp>
        <p:nvSpPr>
          <p:cNvPr id="14" name="Rounded Rectangle 13"/>
          <p:cNvSpPr/>
          <p:nvPr/>
        </p:nvSpPr>
        <p:spPr>
          <a:xfrm>
            <a:off x="4353458" y="2651760"/>
            <a:ext cx="3484778" cy="274320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2058" y="2852928"/>
            <a:ext cx="3027578"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RF v2</a:t>
            </a:r>
          </a:p>
        </p:txBody>
      </p:sp>
      <p:sp>
        <p:nvSpPr>
          <p:cNvPr id="16" name="Rounded Rectangle 15"/>
          <p:cNvSpPr/>
          <p:nvPr/>
        </p:nvSpPr>
        <p:spPr>
          <a:xfrm>
            <a:off x="6695236" y="2834640"/>
            <a:ext cx="914400" cy="256032"/>
          </a:xfrm>
          <a:prstGeom prst="roundRect">
            <a:avLst>
              <a:gd name="adj" fmla="val 50000"/>
            </a:avLst>
          </a:prstGeom>
          <a:solidFill>
            <a:srgbClr val="FF7A1A">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800" b="1" spc="140">
                <a:solidFill>
                  <a:srgbClr val="050B1E"/>
                </a:solidFill>
                <a:latin typeface="JetBrains Mono"/>
              </a:rPr>
              <a:t>F1 0.45</a:t>
            </a:r>
          </a:p>
        </p:txBody>
      </p:sp>
      <p:sp>
        <p:nvSpPr>
          <p:cNvPr id="17" name="TextBox 16"/>
          <p:cNvSpPr txBox="1"/>
          <p:nvPr/>
        </p:nvSpPr>
        <p:spPr>
          <a:xfrm>
            <a:off x="4582058" y="3145536"/>
            <a:ext cx="3027578"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IoT synthétique · causes</a:t>
            </a:r>
          </a:p>
        </p:txBody>
      </p:sp>
      <p:sp>
        <p:nvSpPr>
          <p:cNvPr id="18" name="TextBox 17"/>
          <p:cNvSpPr txBox="1"/>
          <p:nvPr/>
        </p:nvSpPr>
        <p:spPr>
          <a:xfrm>
            <a:off x="4582058" y="3648456"/>
            <a:ext cx="3027578" cy="182880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Réentraîné sur signaux IoT étiquetés par cause physique (13 classes).</a:t>
            </a:r>
          </a:p>
        </p:txBody>
      </p:sp>
      <p:sp>
        <p:nvSpPr>
          <p:cNvPr id="19" name="Rounded Rectangle 18"/>
          <p:cNvSpPr/>
          <p:nvPr/>
        </p:nvSpPr>
        <p:spPr>
          <a:xfrm>
            <a:off x="8066836" y="2651760"/>
            <a:ext cx="3484778" cy="274320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5436" y="2852928"/>
            <a:ext cx="3027578"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XGB v3</a:t>
            </a:r>
          </a:p>
        </p:txBody>
      </p:sp>
      <p:sp>
        <p:nvSpPr>
          <p:cNvPr id="21" name="Rounded Rectangle 20"/>
          <p:cNvSpPr/>
          <p:nvPr/>
        </p:nvSpPr>
        <p:spPr>
          <a:xfrm>
            <a:off x="10408615" y="2834640"/>
            <a:ext cx="914400" cy="256032"/>
          </a:xfrm>
          <a:prstGeom prst="roundRect">
            <a:avLst>
              <a:gd name="adj" fmla="val 50000"/>
            </a:avLst>
          </a:prstGeom>
          <a:solidFill>
            <a:srgbClr val="FF7A1A">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800" b="1" spc="140">
                <a:solidFill>
                  <a:srgbClr val="050B1E"/>
                </a:solidFill>
                <a:latin typeface="JetBrains Mono"/>
              </a:rPr>
              <a:t>F1 0.83</a:t>
            </a:r>
          </a:p>
        </p:txBody>
      </p:sp>
      <p:sp>
        <p:nvSpPr>
          <p:cNvPr id="22" name="TextBox 21"/>
          <p:cNvSpPr txBox="1"/>
          <p:nvPr/>
        </p:nvSpPr>
        <p:spPr>
          <a:xfrm>
            <a:off x="8295436" y="3145536"/>
            <a:ext cx="3027578"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Probabilité · horizon 2 h</a:t>
            </a:r>
          </a:p>
        </p:txBody>
      </p:sp>
      <p:sp>
        <p:nvSpPr>
          <p:cNvPr id="23" name="TextBox 22"/>
          <p:cNvSpPr txBox="1"/>
          <p:nvPr/>
        </p:nvSpPr>
        <p:spPr>
          <a:xfrm>
            <a:off x="8295436" y="3648456"/>
            <a:ext cx="3027578" cy="182880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Gradient boosting · sortie probabilité + cause + fenêtre 2 h.</a:t>
            </a:r>
          </a:p>
        </p:txBody>
      </p:sp>
      <p:sp>
        <p:nvSpPr>
          <p:cNvPr id="24" name="Rounded Rectangle 23"/>
          <p:cNvSpPr/>
          <p:nvPr/>
        </p:nvSpPr>
        <p:spPr>
          <a:xfrm>
            <a:off x="640080" y="5577840"/>
            <a:ext cx="10911535" cy="777240"/>
          </a:xfrm>
          <a:prstGeom prst="roundRect">
            <a:avLst>
              <a:gd name="adj" fmla="val 6000"/>
            </a:avLst>
          </a:prstGeom>
          <a:solidFill>
            <a:srgbClr val="101A45">
              <a:alpha val="30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577840"/>
            <a:ext cx="10911535" cy="777240"/>
          </a:xfrm>
          <a:prstGeom prst="rect">
            <a:avLst/>
          </a:prstGeom>
          <a:noFill/>
        </p:spPr>
        <p:txBody>
          <a:bodyPr wrap="square" lIns="0" rIns="0" tIns="0" bIns="0" anchor="ctr">
            <a:spAutoFit/>
          </a:bodyPr>
          <a:lstStyle/>
          <a:p>
            <a:pPr algn="ctr">
              <a:lnSpc>
                <a:spcPct val="110000"/>
              </a:lnSpc>
            </a:pPr>
            <a:r>
              <a:rPr sz="1700" b="1" i="0">
                <a:solidFill>
                  <a:srgbClr val="FFB37A"/>
                </a:solidFill>
                <a:latin typeface="Space Grotesk"/>
              </a:rPr>
              <a:t>Seuil 80 %   ⇒   création automatique d'une maintenance prédictive.</a:t>
            </a:r>
          </a:p>
        </p:txBody>
      </p:sp>
      <p:sp>
        <p:nvSpPr>
          <p:cNvPr id="26" name="TextBox 25"/>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04 · DÉVELOPPEMENT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DONNÉES D'ENTRAÎNEMENT</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Deux sources de données.</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Historique réel · signaux synthétiques ancrés physiquement.</a:t>
            </a:r>
          </a:p>
        </p:txBody>
      </p:sp>
      <p:sp>
        <p:nvSpPr>
          <p:cNvPr id="9" name="Rounded Rectangle 8"/>
          <p:cNvSpPr/>
          <p:nvPr/>
        </p:nvSpPr>
        <p:spPr>
          <a:xfrm>
            <a:off x="640080" y="2651760"/>
            <a:ext cx="5295747" cy="246888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926080"/>
            <a:ext cx="4747107" cy="36576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SOURCE 01 · HISTORIQUE ICEM</a:t>
            </a:r>
          </a:p>
        </p:txBody>
      </p:sp>
      <p:sp>
        <p:nvSpPr>
          <p:cNvPr id="11" name="TextBox 10"/>
          <p:cNvSpPr txBox="1"/>
          <p:nvPr/>
        </p:nvSpPr>
        <p:spPr>
          <a:xfrm>
            <a:off x="914400" y="3429000"/>
            <a:ext cx="4747107" cy="640080"/>
          </a:xfrm>
          <a:prstGeom prst="rect">
            <a:avLst/>
          </a:prstGeom>
          <a:noFill/>
        </p:spPr>
        <p:txBody>
          <a:bodyPr wrap="square" lIns="0" rIns="0" tIns="0" bIns="0" anchor="t">
            <a:spAutoFit/>
          </a:bodyPr>
          <a:lstStyle/>
          <a:p>
            <a:pPr algn="l">
              <a:lnSpc>
                <a:spcPct val="110000"/>
              </a:lnSpc>
            </a:pPr>
            <a:r>
              <a:rPr sz="3200" b="1" i="0">
                <a:solidFill>
                  <a:srgbClr val="FFFFFF"/>
                </a:solidFill>
                <a:latin typeface="Space Grotesk"/>
              </a:rPr>
              <a:t>1 467 événements</a:t>
            </a:r>
          </a:p>
        </p:txBody>
      </p:sp>
      <p:sp>
        <p:nvSpPr>
          <p:cNvPr id="12" name="TextBox 11"/>
          <p:cNvSpPr txBox="1"/>
          <p:nvPr/>
        </p:nvSpPr>
        <p:spPr>
          <a:xfrm>
            <a:off x="914400" y="4069080"/>
            <a:ext cx="4747107" cy="365760"/>
          </a:xfrm>
          <a:prstGeom prst="rect">
            <a:avLst/>
          </a:prstGeom>
          <a:noFill/>
        </p:spPr>
        <p:txBody>
          <a:bodyPr wrap="square" lIns="0" rIns="0" tIns="0" bIns="0" anchor="t">
            <a:spAutoFit/>
          </a:bodyPr>
          <a:lstStyle/>
          <a:p>
            <a:pPr algn="l">
              <a:lnSpc>
                <a:spcPct val="110000"/>
              </a:lnSpc>
            </a:pPr>
            <a:r>
              <a:rPr sz="1300" b="0" i="0">
                <a:solidFill>
                  <a:srgbClr val="C9D0DC"/>
                </a:solidFill>
                <a:latin typeface="Inter"/>
              </a:rPr>
              <a:t>ICEM · période 2019 – 2024 · 5 ans</a:t>
            </a:r>
          </a:p>
        </p:txBody>
      </p:sp>
      <p:sp>
        <p:nvSpPr>
          <p:cNvPr id="13" name="TextBox 12"/>
          <p:cNvSpPr txBox="1"/>
          <p:nvPr/>
        </p:nvSpPr>
        <p:spPr>
          <a:xfrm>
            <a:off x="914400" y="4480560"/>
            <a:ext cx="4747107" cy="548640"/>
          </a:xfrm>
          <a:prstGeom prst="rect">
            <a:avLst/>
          </a:prstGeom>
          <a:noFill/>
        </p:spPr>
        <p:txBody>
          <a:bodyPr wrap="square" lIns="0" rIns="0" tIns="0" bIns="0" anchor="t">
            <a:spAutoFit/>
          </a:bodyPr>
          <a:lstStyle/>
          <a:p>
            <a:pPr algn="l">
              <a:lnSpc>
                <a:spcPct val="110000"/>
              </a:lnSpc>
            </a:pPr>
            <a:r>
              <a:rPr sz="1100" b="0" i="0">
                <a:solidFill>
                  <a:srgbClr val="7D8496"/>
                </a:solidFill>
                <a:latin typeface="Inter"/>
              </a:rPr>
              <a:t>Champs : machine · zone · cause · durée · date · technicien</a:t>
            </a:r>
          </a:p>
        </p:txBody>
      </p:sp>
      <p:sp>
        <p:nvSpPr>
          <p:cNvPr id="14" name="Rounded Rectangle 13"/>
          <p:cNvSpPr/>
          <p:nvPr/>
        </p:nvSpPr>
        <p:spPr>
          <a:xfrm>
            <a:off x="6255867" y="2651760"/>
            <a:ext cx="5295747" cy="2468880"/>
          </a:xfrm>
          <a:prstGeom prst="roundRect">
            <a:avLst>
              <a:gd name="adj" fmla="val 6000"/>
            </a:avLst>
          </a:prstGeom>
          <a:solidFill>
            <a:srgbClr val="101A45">
              <a:alpha val="18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0187" y="2926080"/>
            <a:ext cx="4747107" cy="365760"/>
          </a:xfrm>
          <a:prstGeom prst="rect">
            <a:avLst/>
          </a:prstGeom>
          <a:noFill/>
        </p:spPr>
        <p:txBody>
          <a:bodyPr wrap="square" lIns="0" rIns="0" tIns="0" bIns="0" anchor="t">
            <a:spAutoFit/>
          </a:bodyPr>
          <a:lstStyle/>
          <a:p>
            <a:pPr algn="l">
              <a:lnSpc>
                <a:spcPct val="110000"/>
              </a:lnSpc>
            </a:pPr>
            <a:r>
              <a:rPr sz="1000" b="1" i="0" spc="180">
                <a:solidFill>
                  <a:srgbClr val="4ECDC4"/>
                </a:solidFill>
                <a:latin typeface="JetBrains Mono"/>
              </a:rPr>
              <a:t>SOURCE 02 · SYNTHÉTIQUE IoT</a:t>
            </a:r>
          </a:p>
        </p:txBody>
      </p:sp>
      <p:sp>
        <p:nvSpPr>
          <p:cNvPr id="16" name="TextBox 15"/>
          <p:cNvSpPr txBox="1"/>
          <p:nvPr/>
        </p:nvSpPr>
        <p:spPr>
          <a:xfrm>
            <a:off x="6530187" y="3429000"/>
            <a:ext cx="4747107" cy="640080"/>
          </a:xfrm>
          <a:prstGeom prst="rect">
            <a:avLst/>
          </a:prstGeom>
          <a:noFill/>
        </p:spPr>
        <p:txBody>
          <a:bodyPr wrap="square" lIns="0" rIns="0" tIns="0" bIns="0" anchor="t">
            <a:spAutoFit/>
          </a:bodyPr>
          <a:lstStyle/>
          <a:p>
            <a:pPr algn="l">
              <a:lnSpc>
                <a:spcPct val="110000"/>
              </a:lnSpc>
            </a:pPr>
            <a:r>
              <a:rPr sz="3200" b="1" i="0">
                <a:solidFill>
                  <a:srgbClr val="FFFFFF"/>
                </a:solidFill>
                <a:latin typeface="Space Grotesk"/>
              </a:rPr>
              <a:t>64 800 lignes  ·  1 min</a:t>
            </a:r>
          </a:p>
        </p:txBody>
      </p:sp>
      <p:sp>
        <p:nvSpPr>
          <p:cNvPr id="17" name="TextBox 16"/>
          <p:cNvSpPr txBox="1"/>
          <p:nvPr/>
        </p:nvSpPr>
        <p:spPr>
          <a:xfrm>
            <a:off x="6530187" y="4069080"/>
            <a:ext cx="4747107" cy="365760"/>
          </a:xfrm>
          <a:prstGeom prst="rect">
            <a:avLst/>
          </a:prstGeom>
          <a:noFill/>
        </p:spPr>
        <p:txBody>
          <a:bodyPr wrap="square" lIns="0" rIns="0" tIns="0" bIns="0" anchor="t">
            <a:spAutoFit/>
          </a:bodyPr>
          <a:lstStyle/>
          <a:p>
            <a:pPr algn="l">
              <a:lnSpc>
                <a:spcPct val="110000"/>
              </a:lnSpc>
            </a:pPr>
            <a:r>
              <a:rPr sz="1300" b="0" i="0">
                <a:solidFill>
                  <a:srgbClr val="C9D0DC"/>
                </a:solidFill>
                <a:latin typeface="Inter"/>
              </a:rPr>
              <a:t>Physique + FMEA · 13 causes ancrées</a:t>
            </a:r>
          </a:p>
        </p:txBody>
      </p:sp>
      <p:sp>
        <p:nvSpPr>
          <p:cNvPr id="18" name="TextBox 17"/>
          <p:cNvSpPr txBox="1"/>
          <p:nvPr/>
        </p:nvSpPr>
        <p:spPr>
          <a:xfrm>
            <a:off x="6530187" y="4480560"/>
            <a:ext cx="4747107" cy="548640"/>
          </a:xfrm>
          <a:prstGeom prst="rect">
            <a:avLst/>
          </a:prstGeom>
          <a:noFill/>
        </p:spPr>
        <p:txBody>
          <a:bodyPr wrap="square" lIns="0" rIns="0" tIns="0" bIns="0" anchor="t">
            <a:spAutoFit/>
          </a:bodyPr>
          <a:lstStyle/>
          <a:p>
            <a:pPr algn="l">
              <a:lnSpc>
                <a:spcPct val="110000"/>
              </a:lnSpc>
            </a:pPr>
            <a:r>
              <a:rPr sz="1100" b="0" i="0">
                <a:solidFill>
                  <a:srgbClr val="7D8496"/>
                </a:solidFill>
                <a:latin typeface="Inter"/>
              </a:rPr>
              <a:t>Signaux : DHT22 · MPU-6050 · AMG8833 · SCT-013</a:t>
            </a:r>
          </a:p>
        </p:txBody>
      </p:sp>
      <p:sp>
        <p:nvSpPr>
          <p:cNvPr id="19" name="Rounded Rectangle 18"/>
          <p:cNvSpPr/>
          <p:nvPr/>
        </p:nvSpPr>
        <p:spPr>
          <a:xfrm>
            <a:off x="640080" y="5394960"/>
            <a:ext cx="10911535" cy="685800"/>
          </a:xfrm>
          <a:prstGeom prst="roundRect">
            <a:avLst>
              <a:gd name="adj" fmla="val 6000"/>
            </a:avLst>
          </a:prstGeom>
          <a:solidFill>
            <a:srgbClr val="101A45">
              <a:alpha val="25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394960"/>
            <a:ext cx="10911535" cy="685800"/>
          </a:xfrm>
          <a:prstGeom prst="rect">
            <a:avLst/>
          </a:prstGeom>
          <a:noFill/>
        </p:spPr>
        <p:txBody>
          <a:bodyPr wrap="square" lIns="0" rIns="0" tIns="0" bIns="0" anchor="ctr">
            <a:spAutoFit/>
          </a:bodyPr>
          <a:lstStyle/>
          <a:p>
            <a:pPr algn="ctr">
              <a:lnSpc>
                <a:spcPct val="110000"/>
              </a:lnSpc>
            </a:pPr>
            <a:r>
              <a:rPr sz="1200" b="0" i="0" spc="100">
                <a:solidFill>
                  <a:srgbClr val="FFB37A"/>
                </a:solidFill>
                <a:latin typeface="JetBrains Mono"/>
              </a:rPr>
              <a:t>Découpage stratifié   ·   80 % entraînement   ·   20 % test   ·   shuffle par cause (12 960 test)</a:t>
            </a:r>
          </a:p>
        </p:txBody>
      </p:sp>
      <p:sp>
        <p:nvSpPr>
          <p:cNvPr id="21" name="TextBox 20"/>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04 · DÉVELOPPEMENT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TAXONOMIE DES CAUSES</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Treize causes.</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Grille FMEA validée par le technicien d'atelier.</a:t>
            </a:r>
          </a:p>
        </p:txBody>
      </p:sp>
      <p:sp>
        <p:nvSpPr>
          <p:cNvPr id="9" name="Rounded Rectangle 8"/>
          <p:cNvSpPr/>
          <p:nvPr/>
        </p:nvSpPr>
        <p:spPr>
          <a:xfrm>
            <a:off x="640080" y="2651760"/>
            <a:ext cx="2604439" cy="69951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88920"/>
            <a:ext cx="2238679" cy="32004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C01</a:t>
            </a:r>
          </a:p>
        </p:txBody>
      </p:sp>
      <p:sp>
        <p:nvSpPr>
          <p:cNvPr id="11" name="TextBox 10"/>
          <p:cNvSpPr txBox="1"/>
          <p:nvPr/>
        </p:nvSpPr>
        <p:spPr>
          <a:xfrm>
            <a:off x="822960" y="3108960"/>
            <a:ext cx="2238679" cy="150876"/>
          </a:xfrm>
          <a:prstGeom prst="rect">
            <a:avLst/>
          </a:prstGeom>
          <a:noFill/>
        </p:spPr>
        <p:txBody>
          <a:bodyPr wrap="square" lIns="0" rIns="0" tIns="0" bIns="0" anchor="t">
            <a:spAutoFit/>
          </a:bodyPr>
          <a:lstStyle/>
          <a:p>
            <a:pPr algn="l">
              <a:lnSpc>
                <a:spcPct val="125000"/>
              </a:lnSpc>
            </a:pPr>
            <a:r>
              <a:rPr sz="1200" b="0" i="0">
                <a:solidFill>
                  <a:srgbClr val="FFFFFF"/>
                </a:solidFill>
                <a:latin typeface="Inter"/>
              </a:rPr>
              <a:t>Cellule K obstruée</a:t>
            </a:r>
          </a:p>
        </p:txBody>
      </p:sp>
      <p:sp>
        <p:nvSpPr>
          <p:cNvPr id="12" name="Rounded Rectangle 11"/>
          <p:cNvSpPr/>
          <p:nvPr/>
        </p:nvSpPr>
        <p:spPr>
          <a:xfrm>
            <a:off x="3409111" y="2651760"/>
            <a:ext cx="2604439" cy="69951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1991" y="2788920"/>
            <a:ext cx="2238679" cy="32004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C02</a:t>
            </a:r>
          </a:p>
        </p:txBody>
      </p:sp>
      <p:sp>
        <p:nvSpPr>
          <p:cNvPr id="14" name="TextBox 13"/>
          <p:cNvSpPr txBox="1"/>
          <p:nvPr/>
        </p:nvSpPr>
        <p:spPr>
          <a:xfrm>
            <a:off x="3591991" y="3108960"/>
            <a:ext cx="2238679" cy="150876"/>
          </a:xfrm>
          <a:prstGeom prst="rect">
            <a:avLst/>
          </a:prstGeom>
          <a:noFill/>
        </p:spPr>
        <p:txBody>
          <a:bodyPr wrap="square" lIns="0" rIns="0" tIns="0" bIns="0" anchor="t">
            <a:spAutoFit/>
          </a:bodyPr>
          <a:lstStyle/>
          <a:p>
            <a:pPr algn="l">
              <a:lnSpc>
                <a:spcPct val="125000"/>
              </a:lnSpc>
            </a:pPr>
            <a:r>
              <a:rPr sz="1200" b="0" i="0">
                <a:solidFill>
                  <a:srgbClr val="FFFFFF"/>
                </a:solidFill>
                <a:latin typeface="Inter"/>
              </a:rPr>
              <a:t>Lame émoussée</a:t>
            </a:r>
          </a:p>
        </p:txBody>
      </p:sp>
      <p:sp>
        <p:nvSpPr>
          <p:cNvPr id="15" name="Rounded Rectangle 14"/>
          <p:cNvSpPr/>
          <p:nvPr/>
        </p:nvSpPr>
        <p:spPr>
          <a:xfrm>
            <a:off x="6178143" y="2651760"/>
            <a:ext cx="2604439" cy="69951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1023" y="2788920"/>
            <a:ext cx="2238679" cy="32004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C03</a:t>
            </a:r>
          </a:p>
        </p:txBody>
      </p:sp>
      <p:sp>
        <p:nvSpPr>
          <p:cNvPr id="17" name="TextBox 16"/>
          <p:cNvSpPr txBox="1"/>
          <p:nvPr/>
        </p:nvSpPr>
        <p:spPr>
          <a:xfrm>
            <a:off x="6361023" y="3108960"/>
            <a:ext cx="2238679" cy="150876"/>
          </a:xfrm>
          <a:prstGeom prst="rect">
            <a:avLst/>
          </a:prstGeom>
          <a:noFill/>
        </p:spPr>
        <p:txBody>
          <a:bodyPr wrap="square" lIns="0" rIns="0" tIns="0" bIns="0" anchor="t">
            <a:spAutoFit/>
          </a:bodyPr>
          <a:lstStyle/>
          <a:p>
            <a:pPr algn="l">
              <a:lnSpc>
                <a:spcPct val="125000"/>
              </a:lnSpc>
            </a:pPr>
            <a:r>
              <a:rPr sz="1200" b="0" i="0">
                <a:solidFill>
                  <a:srgbClr val="FFFFFF"/>
                </a:solidFill>
                <a:latin typeface="Inter"/>
              </a:rPr>
              <a:t>MINI / Terminale mal ajustée</a:t>
            </a:r>
          </a:p>
        </p:txBody>
      </p:sp>
      <p:sp>
        <p:nvSpPr>
          <p:cNvPr id="18" name="Rounded Rectangle 17"/>
          <p:cNvSpPr/>
          <p:nvPr/>
        </p:nvSpPr>
        <p:spPr>
          <a:xfrm>
            <a:off x="8947175" y="2651760"/>
            <a:ext cx="2604439" cy="69951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0055" y="2788920"/>
            <a:ext cx="2238679" cy="32004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C04</a:t>
            </a:r>
          </a:p>
        </p:txBody>
      </p:sp>
      <p:sp>
        <p:nvSpPr>
          <p:cNvPr id="20" name="TextBox 19"/>
          <p:cNvSpPr txBox="1"/>
          <p:nvPr/>
        </p:nvSpPr>
        <p:spPr>
          <a:xfrm>
            <a:off x="9130055" y="3108960"/>
            <a:ext cx="2238679" cy="150876"/>
          </a:xfrm>
          <a:prstGeom prst="rect">
            <a:avLst/>
          </a:prstGeom>
          <a:noFill/>
        </p:spPr>
        <p:txBody>
          <a:bodyPr wrap="square" lIns="0" rIns="0" tIns="0" bIns="0" anchor="t">
            <a:spAutoFit/>
          </a:bodyPr>
          <a:lstStyle/>
          <a:p>
            <a:pPr algn="l">
              <a:lnSpc>
                <a:spcPct val="125000"/>
              </a:lnSpc>
            </a:pPr>
            <a:r>
              <a:rPr sz="1200" b="0" i="0">
                <a:solidFill>
                  <a:srgbClr val="FFFFFF"/>
                </a:solidFill>
                <a:latin typeface="Inter"/>
              </a:rPr>
              <a:t>Vérin pneumatique HS</a:t>
            </a:r>
          </a:p>
        </p:txBody>
      </p:sp>
      <p:sp>
        <p:nvSpPr>
          <p:cNvPr id="21" name="Rounded Rectangle 20"/>
          <p:cNvSpPr/>
          <p:nvPr/>
        </p:nvSpPr>
        <p:spPr>
          <a:xfrm>
            <a:off x="640080" y="3515868"/>
            <a:ext cx="2604439" cy="69951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653028"/>
            <a:ext cx="2238679" cy="32004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C05</a:t>
            </a:r>
          </a:p>
        </p:txBody>
      </p:sp>
      <p:sp>
        <p:nvSpPr>
          <p:cNvPr id="23" name="TextBox 22"/>
          <p:cNvSpPr txBox="1"/>
          <p:nvPr/>
        </p:nvSpPr>
        <p:spPr>
          <a:xfrm>
            <a:off x="822960" y="3973068"/>
            <a:ext cx="2238679" cy="150876"/>
          </a:xfrm>
          <a:prstGeom prst="rect">
            <a:avLst/>
          </a:prstGeom>
          <a:noFill/>
        </p:spPr>
        <p:txBody>
          <a:bodyPr wrap="square" lIns="0" rIns="0" tIns="0" bIns="0" anchor="t">
            <a:spAutoFit/>
          </a:bodyPr>
          <a:lstStyle/>
          <a:p>
            <a:pPr algn="l">
              <a:lnSpc>
                <a:spcPct val="125000"/>
              </a:lnSpc>
            </a:pPr>
            <a:r>
              <a:rPr sz="1200" b="0" i="0">
                <a:solidFill>
                  <a:srgbClr val="FFFFFF"/>
                </a:solidFill>
                <a:latin typeface="Inter"/>
              </a:rPr>
              <a:t>Fuite pneumatique</a:t>
            </a:r>
          </a:p>
        </p:txBody>
      </p:sp>
      <p:sp>
        <p:nvSpPr>
          <p:cNvPr id="24" name="Rounded Rectangle 23"/>
          <p:cNvSpPr/>
          <p:nvPr/>
        </p:nvSpPr>
        <p:spPr>
          <a:xfrm>
            <a:off x="3409111" y="3515868"/>
            <a:ext cx="2604439" cy="69951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91991" y="3653028"/>
            <a:ext cx="2238679" cy="32004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C06</a:t>
            </a:r>
          </a:p>
        </p:txBody>
      </p:sp>
      <p:sp>
        <p:nvSpPr>
          <p:cNvPr id="26" name="TextBox 25"/>
          <p:cNvSpPr txBox="1"/>
          <p:nvPr/>
        </p:nvSpPr>
        <p:spPr>
          <a:xfrm>
            <a:off x="3591991" y="3973068"/>
            <a:ext cx="2238679" cy="150876"/>
          </a:xfrm>
          <a:prstGeom prst="rect">
            <a:avLst/>
          </a:prstGeom>
          <a:noFill/>
        </p:spPr>
        <p:txBody>
          <a:bodyPr wrap="square" lIns="0" rIns="0" tIns="0" bIns="0" anchor="t">
            <a:spAutoFit/>
          </a:bodyPr>
          <a:lstStyle/>
          <a:p>
            <a:pPr algn="l">
              <a:lnSpc>
                <a:spcPct val="125000"/>
              </a:lnSpc>
            </a:pPr>
            <a:r>
              <a:rPr sz="1200" b="0" i="0">
                <a:solidFill>
                  <a:srgbClr val="FFFFFF"/>
                </a:solidFill>
                <a:latin typeface="Inter"/>
              </a:rPr>
              <a:t>Frein bobine déréglé</a:t>
            </a:r>
          </a:p>
        </p:txBody>
      </p:sp>
      <p:sp>
        <p:nvSpPr>
          <p:cNvPr id="27" name="Rounded Rectangle 26"/>
          <p:cNvSpPr/>
          <p:nvPr/>
        </p:nvSpPr>
        <p:spPr>
          <a:xfrm>
            <a:off x="6178143" y="3515868"/>
            <a:ext cx="2604439" cy="69951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1023" y="3653028"/>
            <a:ext cx="2238679" cy="32004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C07</a:t>
            </a:r>
          </a:p>
        </p:txBody>
      </p:sp>
      <p:sp>
        <p:nvSpPr>
          <p:cNvPr id="29" name="TextBox 28"/>
          <p:cNvSpPr txBox="1"/>
          <p:nvPr/>
        </p:nvSpPr>
        <p:spPr>
          <a:xfrm>
            <a:off x="6361023" y="3973068"/>
            <a:ext cx="2238679" cy="150876"/>
          </a:xfrm>
          <a:prstGeom prst="rect">
            <a:avLst/>
          </a:prstGeom>
          <a:noFill/>
        </p:spPr>
        <p:txBody>
          <a:bodyPr wrap="square" lIns="0" rIns="0" tIns="0" bIns="0" anchor="t">
            <a:spAutoFit/>
          </a:bodyPr>
          <a:lstStyle/>
          <a:p>
            <a:pPr algn="l">
              <a:lnSpc>
                <a:spcPct val="125000"/>
              </a:lnSpc>
            </a:pPr>
            <a:r>
              <a:rPr sz="1200" b="0" i="0">
                <a:solidFill>
                  <a:srgbClr val="FFFFFF"/>
                </a:solidFill>
                <a:latin typeface="Inter"/>
              </a:rPr>
              <a:t>Détecteur fil HS</a:t>
            </a:r>
          </a:p>
        </p:txBody>
      </p:sp>
      <p:sp>
        <p:nvSpPr>
          <p:cNvPr id="30" name="Rounded Rectangle 29"/>
          <p:cNvSpPr/>
          <p:nvPr/>
        </p:nvSpPr>
        <p:spPr>
          <a:xfrm>
            <a:off x="8947175" y="3515868"/>
            <a:ext cx="2604439" cy="69951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30055" y="3653028"/>
            <a:ext cx="2238679" cy="32004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C08</a:t>
            </a:r>
          </a:p>
        </p:txBody>
      </p:sp>
      <p:sp>
        <p:nvSpPr>
          <p:cNvPr id="32" name="TextBox 31"/>
          <p:cNvSpPr txBox="1"/>
          <p:nvPr/>
        </p:nvSpPr>
        <p:spPr>
          <a:xfrm>
            <a:off x="9130055" y="3973068"/>
            <a:ext cx="2238679" cy="150876"/>
          </a:xfrm>
          <a:prstGeom prst="rect">
            <a:avLst/>
          </a:prstGeom>
          <a:noFill/>
        </p:spPr>
        <p:txBody>
          <a:bodyPr wrap="square" lIns="0" rIns="0" tIns="0" bIns="0" anchor="t">
            <a:spAutoFit/>
          </a:bodyPr>
          <a:lstStyle/>
          <a:p>
            <a:pPr algn="l">
              <a:lnSpc>
                <a:spcPct val="125000"/>
              </a:lnSpc>
            </a:pPr>
            <a:r>
              <a:rPr sz="1200" b="0" i="0">
                <a:solidFill>
                  <a:srgbClr val="FFFFFF"/>
                </a:solidFill>
                <a:latin typeface="Inter"/>
              </a:rPr>
              <a:t>Encodeur dérive</a:t>
            </a:r>
          </a:p>
        </p:txBody>
      </p:sp>
      <p:sp>
        <p:nvSpPr>
          <p:cNvPr id="33" name="Rounded Rectangle 32"/>
          <p:cNvSpPr/>
          <p:nvPr/>
        </p:nvSpPr>
        <p:spPr>
          <a:xfrm>
            <a:off x="640080" y="4379976"/>
            <a:ext cx="2604439" cy="69951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517136"/>
            <a:ext cx="2238679" cy="32004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C09</a:t>
            </a:r>
          </a:p>
        </p:txBody>
      </p:sp>
      <p:sp>
        <p:nvSpPr>
          <p:cNvPr id="35" name="TextBox 34"/>
          <p:cNvSpPr txBox="1"/>
          <p:nvPr/>
        </p:nvSpPr>
        <p:spPr>
          <a:xfrm>
            <a:off x="822960" y="4837176"/>
            <a:ext cx="2238679" cy="150876"/>
          </a:xfrm>
          <a:prstGeom prst="rect">
            <a:avLst/>
          </a:prstGeom>
          <a:noFill/>
        </p:spPr>
        <p:txBody>
          <a:bodyPr wrap="square" lIns="0" rIns="0" tIns="0" bIns="0" anchor="t">
            <a:spAutoFit/>
          </a:bodyPr>
          <a:lstStyle/>
          <a:p>
            <a:pPr algn="l">
              <a:lnSpc>
                <a:spcPct val="125000"/>
              </a:lnSpc>
            </a:pPr>
            <a:r>
              <a:rPr sz="1200" b="0" i="0">
                <a:solidFill>
                  <a:srgbClr val="FFFFFF"/>
                </a:solidFill>
                <a:latin typeface="Inter"/>
              </a:rPr>
              <a:t>Guide-fil usé</a:t>
            </a:r>
          </a:p>
        </p:txBody>
      </p:sp>
      <p:sp>
        <p:nvSpPr>
          <p:cNvPr id="36" name="Rounded Rectangle 35"/>
          <p:cNvSpPr/>
          <p:nvPr/>
        </p:nvSpPr>
        <p:spPr>
          <a:xfrm>
            <a:off x="3409111" y="4379976"/>
            <a:ext cx="2604439" cy="69951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91991" y="4517136"/>
            <a:ext cx="2238679" cy="32004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C10</a:t>
            </a:r>
          </a:p>
        </p:txBody>
      </p:sp>
      <p:sp>
        <p:nvSpPr>
          <p:cNvPr id="38" name="TextBox 37"/>
          <p:cNvSpPr txBox="1"/>
          <p:nvPr/>
        </p:nvSpPr>
        <p:spPr>
          <a:xfrm>
            <a:off x="3591991" y="4837176"/>
            <a:ext cx="2238679" cy="150876"/>
          </a:xfrm>
          <a:prstGeom prst="rect">
            <a:avLst/>
          </a:prstGeom>
          <a:noFill/>
        </p:spPr>
        <p:txBody>
          <a:bodyPr wrap="square" lIns="0" rIns="0" tIns="0" bIns="0" anchor="t">
            <a:spAutoFit/>
          </a:bodyPr>
          <a:lstStyle/>
          <a:p>
            <a:pPr algn="l">
              <a:lnSpc>
                <a:spcPct val="125000"/>
              </a:lnSpc>
            </a:pPr>
            <a:r>
              <a:rPr sz="1200" b="0" i="0">
                <a:solidFill>
                  <a:srgbClr val="FFFFFF"/>
                </a:solidFill>
                <a:latin typeface="Inter"/>
              </a:rPr>
              <a:t>Câble / phase HS</a:t>
            </a:r>
          </a:p>
        </p:txBody>
      </p:sp>
      <p:sp>
        <p:nvSpPr>
          <p:cNvPr id="39" name="Rounded Rectangle 38"/>
          <p:cNvSpPr/>
          <p:nvPr/>
        </p:nvSpPr>
        <p:spPr>
          <a:xfrm>
            <a:off x="6178143" y="4379976"/>
            <a:ext cx="2604439" cy="69951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61023" y="4517136"/>
            <a:ext cx="2238679" cy="32004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C11</a:t>
            </a:r>
          </a:p>
        </p:txBody>
      </p:sp>
      <p:sp>
        <p:nvSpPr>
          <p:cNvPr id="41" name="TextBox 40"/>
          <p:cNvSpPr txBox="1"/>
          <p:nvPr/>
        </p:nvSpPr>
        <p:spPr>
          <a:xfrm>
            <a:off x="6361023" y="4837176"/>
            <a:ext cx="2238679" cy="150876"/>
          </a:xfrm>
          <a:prstGeom prst="rect">
            <a:avLst/>
          </a:prstGeom>
          <a:noFill/>
        </p:spPr>
        <p:txBody>
          <a:bodyPr wrap="square" lIns="0" rIns="0" tIns="0" bIns="0" anchor="t">
            <a:spAutoFit/>
          </a:bodyPr>
          <a:lstStyle/>
          <a:p>
            <a:pPr algn="l">
              <a:lnSpc>
                <a:spcPct val="125000"/>
              </a:lnSpc>
            </a:pPr>
            <a:r>
              <a:rPr sz="1200" b="0" i="0">
                <a:solidFill>
                  <a:srgbClr val="FFFFFF"/>
                </a:solidFill>
                <a:latin typeface="Inter"/>
              </a:rPr>
              <a:t>Servomoteur surcharge</a:t>
            </a:r>
          </a:p>
        </p:txBody>
      </p:sp>
      <p:sp>
        <p:nvSpPr>
          <p:cNvPr id="42" name="Rounded Rectangle 41"/>
          <p:cNvSpPr/>
          <p:nvPr/>
        </p:nvSpPr>
        <p:spPr>
          <a:xfrm>
            <a:off x="8947175" y="4379976"/>
            <a:ext cx="2604439" cy="69951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30055" y="4517136"/>
            <a:ext cx="2238679" cy="32004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C12</a:t>
            </a:r>
          </a:p>
        </p:txBody>
      </p:sp>
      <p:sp>
        <p:nvSpPr>
          <p:cNvPr id="44" name="TextBox 43"/>
          <p:cNvSpPr txBox="1"/>
          <p:nvPr/>
        </p:nvSpPr>
        <p:spPr>
          <a:xfrm>
            <a:off x="9130055" y="4837176"/>
            <a:ext cx="2238679" cy="150876"/>
          </a:xfrm>
          <a:prstGeom prst="rect">
            <a:avLst/>
          </a:prstGeom>
          <a:noFill/>
        </p:spPr>
        <p:txBody>
          <a:bodyPr wrap="square" lIns="0" rIns="0" tIns="0" bIns="0" anchor="t">
            <a:spAutoFit/>
          </a:bodyPr>
          <a:lstStyle/>
          <a:p>
            <a:pPr algn="l">
              <a:lnSpc>
                <a:spcPct val="125000"/>
              </a:lnSpc>
            </a:pPr>
            <a:r>
              <a:rPr sz="1200" b="0" i="0">
                <a:solidFill>
                  <a:srgbClr val="FFFFFF"/>
                </a:solidFill>
                <a:latin typeface="Inter"/>
              </a:rPr>
              <a:t>Roue Gommino usée</a:t>
            </a:r>
          </a:p>
        </p:txBody>
      </p:sp>
      <p:sp>
        <p:nvSpPr>
          <p:cNvPr id="45" name="Rounded Rectangle 44"/>
          <p:cNvSpPr/>
          <p:nvPr/>
        </p:nvSpPr>
        <p:spPr>
          <a:xfrm>
            <a:off x="640080" y="5244084"/>
            <a:ext cx="2604439" cy="699516"/>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22960" y="5381244"/>
            <a:ext cx="2238679" cy="32004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C13</a:t>
            </a:r>
          </a:p>
        </p:txBody>
      </p:sp>
      <p:sp>
        <p:nvSpPr>
          <p:cNvPr id="47" name="TextBox 46"/>
          <p:cNvSpPr txBox="1"/>
          <p:nvPr/>
        </p:nvSpPr>
        <p:spPr>
          <a:xfrm>
            <a:off x="822960" y="5701284"/>
            <a:ext cx="2238679" cy="150876"/>
          </a:xfrm>
          <a:prstGeom prst="rect">
            <a:avLst/>
          </a:prstGeom>
          <a:noFill/>
        </p:spPr>
        <p:txBody>
          <a:bodyPr wrap="square" lIns="0" rIns="0" tIns="0" bIns="0" anchor="t">
            <a:spAutoFit/>
          </a:bodyPr>
          <a:lstStyle/>
          <a:p>
            <a:pPr algn="l">
              <a:lnSpc>
                <a:spcPct val="125000"/>
              </a:lnSpc>
            </a:pPr>
            <a:r>
              <a:rPr sz="1200" b="0" i="0">
                <a:solidFill>
                  <a:srgbClr val="FFFFFF"/>
                </a:solidFill>
                <a:latin typeface="Inter"/>
              </a:rPr>
              <a:t>Autre / hors catalogue</a:t>
            </a:r>
          </a:p>
        </p:txBody>
      </p:sp>
      <p:sp>
        <p:nvSpPr>
          <p:cNvPr id="48" name="TextBox 47"/>
          <p:cNvSpPr txBox="1"/>
          <p:nvPr/>
        </p:nvSpPr>
        <p:spPr>
          <a:xfrm>
            <a:off x="640080" y="6537960"/>
            <a:ext cx="10911535" cy="228600"/>
          </a:xfrm>
          <a:prstGeom prst="rect">
            <a:avLst/>
          </a:prstGeom>
          <a:noFill/>
        </p:spPr>
        <p:txBody>
          <a:bodyPr wrap="square" lIns="0" rIns="0" tIns="0" bIns="0" anchor="t">
            <a:spAutoFit/>
          </a:bodyPr>
          <a:lstStyle/>
          <a:p>
            <a:pPr algn="l">
              <a:lnSpc>
                <a:spcPct val="110000"/>
              </a:lnSpc>
            </a:pPr>
            <a:r>
              <a:rPr sz="900" b="0" i="0" spc="120">
                <a:solidFill>
                  <a:srgbClr val="7D8496"/>
                </a:solidFill>
                <a:latin typeface="JetBrains Mono"/>
              </a:rPr>
              <a:t>10 causes → signature capteur claire    ·    3 causes → signal manuel uniquement</a:t>
            </a:r>
          </a:p>
        </p:txBody>
      </p:sp>
      <p:sp>
        <p:nvSpPr>
          <p:cNvPr id="49" name="TextBox 48"/>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04 · DÉVELOPPEMENT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RÉSULTATS DES MODÈLES</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F1 par modèle.</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XGBoost gagne · l'écart n'est pas anodin.</a:t>
            </a:r>
          </a:p>
        </p:txBody>
      </p:sp>
      <p:sp>
        <p:nvSpPr>
          <p:cNvPr id="9" name="Rounded Rectangle 8"/>
          <p:cNvSpPr/>
          <p:nvPr/>
        </p:nvSpPr>
        <p:spPr>
          <a:xfrm>
            <a:off x="640080" y="2651760"/>
            <a:ext cx="5295747"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926080"/>
            <a:ext cx="4747107" cy="365760"/>
          </a:xfrm>
          <a:prstGeom prst="rect">
            <a:avLst/>
          </a:prstGeom>
          <a:noFill/>
        </p:spPr>
        <p:txBody>
          <a:bodyPr wrap="square" lIns="0" rIns="0" tIns="0" bIns="0" anchor="t">
            <a:spAutoFit/>
          </a:bodyPr>
          <a:lstStyle/>
          <a:p>
            <a:pPr algn="l">
              <a:lnSpc>
                <a:spcPct val="110000"/>
              </a:lnSpc>
            </a:pPr>
            <a:r>
              <a:rPr sz="1000" b="1" i="0" spc="200">
                <a:solidFill>
                  <a:srgbClr val="FF9548"/>
                </a:solidFill>
                <a:latin typeface="JetBrains Mono"/>
              </a:rPr>
              <a:t>F1 SCORE (MACRO)</a:t>
            </a:r>
          </a:p>
        </p:txBody>
      </p:sp>
      <p:sp>
        <p:nvSpPr>
          <p:cNvPr id="11" name="TextBox 10"/>
          <p:cNvSpPr txBox="1"/>
          <p:nvPr/>
        </p:nvSpPr>
        <p:spPr>
          <a:xfrm>
            <a:off x="914400" y="3566160"/>
            <a:ext cx="1463040" cy="502920"/>
          </a:xfrm>
          <a:prstGeom prst="rect">
            <a:avLst/>
          </a:prstGeom>
          <a:noFill/>
        </p:spPr>
        <p:txBody>
          <a:bodyPr wrap="square" lIns="0" rIns="0" tIns="0" bIns="0" anchor="ctr">
            <a:spAutoFit/>
          </a:bodyPr>
          <a:lstStyle/>
          <a:p>
            <a:pPr algn="l">
              <a:lnSpc>
                <a:spcPct val="110000"/>
              </a:lnSpc>
            </a:pPr>
            <a:r>
              <a:rPr sz="1300" b="0" i="0">
                <a:solidFill>
                  <a:srgbClr val="FFFFFF"/>
                </a:solidFill>
                <a:latin typeface="Inter"/>
              </a:rPr>
              <a:t>RF v1</a:t>
            </a:r>
          </a:p>
        </p:txBody>
      </p:sp>
      <p:sp>
        <p:nvSpPr>
          <p:cNvPr id="12" name="Rounded Rectangle 11"/>
          <p:cNvSpPr/>
          <p:nvPr/>
        </p:nvSpPr>
        <p:spPr>
          <a:xfrm>
            <a:off x="1371600" y="3566160"/>
            <a:ext cx="4289907" cy="502920"/>
          </a:xfrm>
          <a:prstGeom prst="roundRect">
            <a:avLst>
              <a:gd name="adj" fmla="val 40000"/>
            </a:avLst>
          </a:prstGeom>
          <a:solidFill>
            <a:srgbClr val="101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371600" y="3566160"/>
            <a:ext cx="643486" cy="502920"/>
          </a:xfrm>
          <a:prstGeom prst="roundRect">
            <a:avLst>
              <a:gd name="adj" fmla="val 40000"/>
            </a:avLst>
          </a:prstGeom>
          <a:solidFill>
            <a:srgbClr val="7D8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6526" y="3566160"/>
            <a:ext cx="1097280" cy="502920"/>
          </a:xfrm>
          <a:prstGeom prst="rect">
            <a:avLst/>
          </a:prstGeom>
          <a:noFill/>
        </p:spPr>
        <p:txBody>
          <a:bodyPr wrap="square" lIns="0" rIns="0" tIns="0" bIns="0" anchor="ctr">
            <a:spAutoFit/>
          </a:bodyPr>
          <a:lstStyle/>
          <a:p>
            <a:pPr algn="l">
              <a:lnSpc>
                <a:spcPct val="110000"/>
              </a:lnSpc>
            </a:pPr>
            <a:r>
              <a:rPr sz="1300" b="1" i="0">
                <a:solidFill>
                  <a:srgbClr val="7D8496"/>
                </a:solidFill>
                <a:latin typeface="JetBrains Mono"/>
              </a:rPr>
              <a:t>0.150</a:t>
            </a:r>
          </a:p>
        </p:txBody>
      </p:sp>
      <p:sp>
        <p:nvSpPr>
          <p:cNvPr id="15" name="TextBox 14"/>
          <p:cNvSpPr txBox="1"/>
          <p:nvPr/>
        </p:nvSpPr>
        <p:spPr>
          <a:xfrm>
            <a:off x="914400" y="4434840"/>
            <a:ext cx="1463040" cy="502920"/>
          </a:xfrm>
          <a:prstGeom prst="rect">
            <a:avLst/>
          </a:prstGeom>
          <a:noFill/>
        </p:spPr>
        <p:txBody>
          <a:bodyPr wrap="square" lIns="0" rIns="0" tIns="0" bIns="0" anchor="ctr">
            <a:spAutoFit/>
          </a:bodyPr>
          <a:lstStyle/>
          <a:p>
            <a:pPr algn="l">
              <a:lnSpc>
                <a:spcPct val="110000"/>
              </a:lnSpc>
            </a:pPr>
            <a:r>
              <a:rPr sz="1300" b="0" i="0">
                <a:solidFill>
                  <a:srgbClr val="FFFFFF"/>
                </a:solidFill>
                <a:latin typeface="Inter"/>
              </a:rPr>
              <a:t>RF v2</a:t>
            </a:r>
          </a:p>
        </p:txBody>
      </p:sp>
      <p:sp>
        <p:nvSpPr>
          <p:cNvPr id="16" name="Rounded Rectangle 15"/>
          <p:cNvSpPr/>
          <p:nvPr/>
        </p:nvSpPr>
        <p:spPr>
          <a:xfrm>
            <a:off x="1371600" y="4434840"/>
            <a:ext cx="4289907" cy="502920"/>
          </a:xfrm>
          <a:prstGeom prst="roundRect">
            <a:avLst>
              <a:gd name="adj" fmla="val 40000"/>
            </a:avLst>
          </a:prstGeom>
          <a:solidFill>
            <a:srgbClr val="101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371600" y="4434840"/>
            <a:ext cx="1930458" cy="502920"/>
          </a:xfrm>
          <a:prstGeom prst="roundRect">
            <a:avLst>
              <a:gd name="adj" fmla="val 40000"/>
            </a:avLst>
          </a:prstGeom>
          <a:solidFill>
            <a:srgbClr val="687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93498" y="4434840"/>
            <a:ext cx="1097280" cy="502920"/>
          </a:xfrm>
          <a:prstGeom prst="rect">
            <a:avLst/>
          </a:prstGeom>
          <a:noFill/>
        </p:spPr>
        <p:txBody>
          <a:bodyPr wrap="square" lIns="0" rIns="0" tIns="0" bIns="0" anchor="ctr">
            <a:spAutoFit/>
          </a:bodyPr>
          <a:lstStyle/>
          <a:p>
            <a:pPr algn="l">
              <a:lnSpc>
                <a:spcPct val="110000"/>
              </a:lnSpc>
            </a:pPr>
            <a:r>
              <a:rPr sz="1300" b="1" i="0">
                <a:solidFill>
                  <a:srgbClr val="6879C9"/>
                </a:solidFill>
                <a:latin typeface="JetBrains Mono"/>
              </a:rPr>
              <a:t>0.450</a:t>
            </a:r>
          </a:p>
        </p:txBody>
      </p:sp>
      <p:sp>
        <p:nvSpPr>
          <p:cNvPr id="19" name="TextBox 18"/>
          <p:cNvSpPr txBox="1"/>
          <p:nvPr/>
        </p:nvSpPr>
        <p:spPr>
          <a:xfrm>
            <a:off x="914400" y="5303520"/>
            <a:ext cx="1463040" cy="502920"/>
          </a:xfrm>
          <a:prstGeom prst="rect">
            <a:avLst/>
          </a:prstGeom>
          <a:noFill/>
        </p:spPr>
        <p:txBody>
          <a:bodyPr wrap="square" lIns="0" rIns="0" tIns="0" bIns="0" anchor="ctr">
            <a:spAutoFit/>
          </a:bodyPr>
          <a:lstStyle/>
          <a:p>
            <a:pPr algn="l">
              <a:lnSpc>
                <a:spcPct val="110000"/>
              </a:lnSpc>
            </a:pPr>
            <a:r>
              <a:rPr sz="1300" b="0" i="0">
                <a:solidFill>
                  <a:srgbClr val="FFFFFF"/>
                </a:solidFill>
                <a:latin typeface="Inter"/>
              </a:rPr>
              <a:t>XGBoost v3</a:t>
            </a:r>
          </a:p>
        </p:txBody>
      </p:sp>
      <p:sp>
        <p:nvSpPr>
          <p:cNvPr id="20" name="Rounded Rectangle 19"/>
          <p:cNvSpPr/>
          <p:nvPr/>
        </p:nvSpPr>
        <p:spPr>
          <a:xfrm>
            <a:off x="1371600" y="5303520"/>
            <a:ext cx="4289907" cy="502920"/>
          </a:xfrm>
          <a:prstGeom prst="roundRect">
            <a:avLst>
              <a:gd name="adj" fmla="val 40000"/>
            </a:avLst>
          </a:prstGeom>
          <a:solidFill>
            <a:srgbClr val="101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371600" y="5303520"/>
            <a:ext cx="3560623" cy="502920"/>
          </a:xfrm>
          <a:prstGeom prst="roundRect">
            <a:avLst>
              <a:gd name="adj" fmla="val 40000"/>
            </a:avLst>
          </a:prstGeom>
          <a:solidFill>
            <a:srgbClr val="FF7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3663" y="5303520"/>
            <a:ext cx="1097280" cy="502920"/>
          </a:xfrm>
          <a:prstGeom prst="rect">
            <a:avLst/>
          </a:prstGeom>
          <a:noFill/>
        </p:spPr>
        <p:txBody>
          <a:bodyPr wrap="square" lIns="0" rIns="0" tIns="0" bIns="0" anchor="ctr">
            <a:spAutoFit/>
          </a:bodyPr>
          <a:lstStyle/>
          <a:p>
            <a:pPr algn="l">
              <a:lnSpc>
                <a:spcPct val="110000"/>
              </a:lnSpc>
            </a:pPr>
            <a:r>
              <a:rPr sz="1300" b="1" i="0">
                <a:solidFill>
                  <a:srgbClr val="FF7A1A"/>
                </a:solidFill>
                <a:latin typeface="JetBrains Mono"/>
              </a:rPr>
              <a:t>0.830</a:t>
            </a:r>
          </a:p>
        </p:txBody>
      </p:sp>
      <p:sp>
        <p:nvSpPr>
          <p:cNvPr id="23" name="Rounded Rectangle 22"/>
          <p:cNvSpPr/>
          <p:nvPr/>
        </p:nvSpPr>
        <p:spPr>
          <a:xfrm>
            <a:off x="6255867" y="2651760"/>
            <a:ext cx="5295747" cy="3566160"/>
          </a:xfrm>
          <a:prstGeom prst="roundRect">
            <a:avLst>
              <a:gd name="adj" fmla="val 6000"/>
            </a:avLst>
          </a:prstGeom>
          <a:solidFill>
            <a:srgbClr val="101A45">
              <a:alpha val="18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0187" y="2926080"/>
            <a:ext cx="4747107" cy="365760"/>
          </a:xfrm>
          <a:prstGeom prst="rect">
            <a:avLst/>
          </a:prstGeom>
          <a:noFill/>
        </p:spPr>
        <p:txBody>
          <a:bodyPr wrap="square" lIns="0" rIns="0" tIns="0" bIns="0" anchor="t">
            <a:spAutoFit/>
          </a:bodyPr>
          <a:lstStyle/>
          <a:p>
            <a:pPr algn="l">
              <a:lnSpc>
                <a:spcPct val="110000"/>
              </a:lnSpc>
            </a:pPr>
            <a:r>
              <a:rPr sz="1000" b="1" i="0" spc="200">
                <a:solidFill>
                  <a:srgbClr val="4ECDC4"/>
                </a:solidFill>
                <a:latin typeface="JetBrains Mono"/>
              </a:rPr>
              <a:t>POURQUOI XGBOOST</a:t>
            </a:r>
          </a:p>
        </p:txBody>
      </p:sp>
      <p:sp>
        <p:nvSpPr>
          <p:cNvPr id="25" name="TextBox 24"/>
          <p:cNvSpPr txBox="1"/>
          <p:nvPr/>
        </p:nvSpPr>
        <p:spPr>
          <a:xfrm>
            <a:off x="6530187" y="3474720"/>
            <a:ext cx="4747107" cy="365760"/>
          </a:xfrm>
          <a:prstGeom prst="rect">
            <a:avLst/>
          </a:prstGeom>
          <a:noFill/>
        </p:spPr>
        <p:txBody>
          <a:bodyPr wrap="square" lIns="0" rIns="0" tIns="0" bIns="0" anchor="t">
            <a:spAutoFit/>
          </a:bodyPr>
          <a:lstStyle/>
          <a:p>
            <a:pPr algn="l">
              <a:lnSpc>
                <a:spcPct val="110000"/>
              </a:lnSpc>
            </a:pPr>
            <a:r>
              <a:rPr sz="1600" b="1" i="0">
                <a:solidFill>
                  <a:srgbClr val="FFFFFF"/>
                </a:solidFill>
                <a:latin typeface="Space Grotesk"/>
              </a:rPr>
              <a:t>▸  Gradient boosting</a:t>
            </a:r>
          </a:p>
        </p:txBody>
      </p:sp>
      <p:sp>
        <p:nvSpPr>
          <p:cNvPr id="26" name="TextBox 25"/>
          <p:cNvSpPr txBox="1"/>
          <p:nvPr/>
        </p:nvSpPr>
        <p:spPr>
          <a:xfrm>
            <a:off x="6804507" y="3840480"/>
            <a:ext cx="4472787" cy="777240"/>
          </a:xfrm>
          <a:prstGeom prst="rect">
            <a:avLst/>
          </a:prstGeom>
          <a:noFill/>
        </p:spPr>
        <p:txBody>
          <a:bodyPr wrap="square" lIns="0" rIns="0" tIns="0" bIns="0" anchor="t">
            <a:spAutoFit/>
          </a:bodyPr>
          <a:lstStyle/>
          <a:p>
            <a:pPr algn="l">
              <a:lnSpc>
                <a:spcPct val="135000"/>
              </a:lnSpc>
            </a:pPr>
            <a:r>
              <a:rPr sz="1200" b="0" i="0">
                <a:solidFill>
                  <a:srgbClr val="C9D0DC"/>
                </a:solidFill>
                <a:latin typeface="Inter"/>
              </a:rPr>
              <a:t>apprend les erreurs séquentiellement, contrairement à un vote de random forest.</a:t>
            </a:r>
          </a:p>
        </p:txBody>
      </p:sp>
      <p:sp>
        <p:nvSpPr>
          <p:cNvPr id="27" name="TextBox 26"/>
          <p:cNvSpPr txBox="1"/>
          <p:nvPr/>
        </p:nvSpPr>
        <p:spPr>
          <a:xfrm>
            <a:off x="6530187" y="4709160"/>
            <a:ext cx="4747107" cy="365760"/>
          </a:xfrm>
          <a:prstGeom prst="rect">
            <a:avLst/>
          </a:prstGeom>
          <a:noFill/>
        </p:spPr>
        <p:txBody>
          <a:bodyPr wrap="square" lIns="0" rIns="0" tIns="0" bIns="0" anchor="t">
            <a:spAutoFit/>
          </a:bodyPr>
          <a:lstStyle/>
          <a:p>
            <a:pPr algn="l">
              <a:lnSpc>
                <a:spcPct val="110000"/>
              </a:lnSpc>
            </a:pPr>
            <a:r>
              <a:rPr sz="1600" b="1" i="0">
                <a:solidFill>
                  <a:srgbClr val="FFFFFF"/>
                </a:solidFill>
                <a:latin typeface="Space Grotesk"/>
              </a:rPr>
              <a:t>▸  Robuste au déséquilibre</a:t>
            </a:r>
          </a:p>
        </p:txBody>
      </p:sp>
      <p:sp>
        <p:nvSpPr>
          <p:cNvPr id="28" name="TextBox 27"/>
          <p:cNvSpPr txBox="1"/>
          <p:nvPr/>
        </p:nvSpPr>
        <p:spPr>
          <a:xfrm>
            <a:off x="6804507" y="5074920"/>
            <a:ext cx="4472787" cy="777240"/>
          </a:xfrm>
          <a:prstGeom prst="rect">
            <a:avLst/>
          </a:prstGeom>
          <a:noFill/>
        </p:spPr>
        <p:txBody>
          <a:bodyPr wrap="square" lIns="0" rIns="0" tIns="0" bIns="0" anchor="t">
            <a:spAutoFit/>
          </a:bodyPr>
          <a:lstStyle/>
          <a:p>
            <a:pPr algn="l">
              <a:lnSpc>
                <a:spcPct val="135000"/>
              </a:lnSpc>
            </a:pPr>
            <a:r>
              <a:rPr sz="1200" b="0" i="0">
                <a:solidFill>
                  <a:srgbClr val="C9D0DC"/>
                </a:solidFill>
                <a:latin typeface="Inter"/>
              </a:rPr>
              <a:t>F1 macro &gt; accuracy quand certaines causes sont rares.</a:t>
            </a:r>
          </a:p>
        </p:txBody>
      </p:sp>
      <p:sp>
        <p:nvSpPr>
          <p:cNvPr id="29" name="TextBox 28"/>
          <p:cNvSpPr txBox="1"/>
          <p:nvPr/>
        </p:nvSpPr>
        <p:spPr>
          <a:xfrm>
            <a:off x="6530187" y="5943600"/>
            <a:ext cx="4747107" cy="365760"/>
          </a:xfrm>
          <a:prstGeom prst="rect">
            <a:avLst/>
          </a:prstGeom>
          <a:noFill/>
        </p:spPr>
        <p:txBody>
          <a:bodyPr wrap="square" lIns="0" rIns="0" tIns="0" bIns="0" anchor="t">
            <a:spAutoFit/>
          </a:bodyPr>
          <a:lstStyle/>
          <a:p>
            <a:pPr algn="l">
              <a:lnSpc>
                <a:spcPct val="110000"/>
              </a:lnSpc>
            </a:pPr>
            <a:r>
              <a:rPr sz="1600" b="1" i="0">
                <a:solidFill>
                  <a:srgbClr val="FFFFFF"/>
                </a:solidFill>
                <a:latin typeface="Space Grotesk"/>
              </a:rPr>
              <a:t>▸  Rapide en inférence</a:t>
            </a:r>
          </a:p>
        </p:txBody>
      </p:sp>
      <p:sp>
        <p:nvSpPr>
          <p:cNvPr id="30" name="TextBox 29"/>
          <p:cNvSpPr txBox="1"/>
          <p:nvPr/>
        </p:nvSpPr>
        <p:spPr>
          <a:xfrm>
            <a:off x="6804507" y="6309360"/>
            <a:ext cx="4472787" cy="777240"/>
          </a:xfrm>
          <a:prstGeom prst="rect">
            <a:avLst/>
          </a:prstGeom>
          <a:noFill/>
        </p:spPr>
        <p:txBody>
          <a:bodyPr wrap="square" lIns="0" rIns="0" tIns="0" bIns="0" anchor="t">
            <a:spAutoFit/>
          </a:bodyPr>
          <a:lstStyle/>
          <a:p>
            <a:pPr algn="l">
              <a:lnSpc>
                <a:spcPct val="135000"/>
              </a:lnSpc>
            </a:pPr>
            <a:r>
              <a:rPr sz="1200" b="0" i="0">
                <a:solidFill>
                  <a:srgbClr val="C9D0DC"/>
                </a:solidFill>
                <a:latin typeface="Inter"/>
              </a:rPr>
              <a:t>~15 ms par prédiction — compatible temps réel.</a:t>
            </a:r>
          </a:p>
        </p:txBody>
      </p:sp>
      <p:sp>
        <p:nvSpPr>
          <p:cNvPr id="31" name="TextBox 30"/>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04 · DÉVELOPPEMENT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ÉVALUATION</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Confusion &amp; courbe ROC.</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Un modèle qui sépare bien les classes majoritaires.</a:t>
            </a:r>
          </a:p>
        </p:txBody>
      </p:sp>
      <p:sp>
        <p:nvSpPr>
          <p:cNvPr id="9" name="Rounded Rectangle 8"/>
          <p:cNvSpPr/>
          <p:nvPr/>
        </p:nvSpPr>
        <p:spPr>
          <a:xfrm>
            <a:off x="640080" y="2651760"/>
            <a:ext cx="5318607"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926080"/>
            <a:ext cx="4769967" cy="36576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MATRICE DE CONFUSION · RF v2</a:t>
            </a:r>
          </a:p>
        </p:txBody>
      </p:sp>
      <p:sp>
        <p:nvSpPr>
          <p:cNvPr id="11" name="Rectangle 10"/>
          <p:cNvSpPr/>
          <p:nvPr/>
        </p:nvSpPr>
        <p:spPr>
          <a:xfrm>
            <a:off x="1371600" y="3566160"/>
            <a:ext cx="457200" cy="457200"/>
          </a:xfrm>
          <a:prstGeom prst="rect">
            <a:avLst/>
          </a:prstGeom>
          <a:solidFill>
            <a:srgbClr val="FF7A1A">
              <a:alpha val="8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3566160"/>
            <a:ext cx="457200" cy="457200"/>
          </a:xfrm>
          <a:prstGeom prst="rect">
            <a:avLst/>
          </a:prstGeom>
          <a:solidFill>
            <a:srgbClr val="FF7A1A">
              <a:alpha val="20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0" y="3566160"/>
            <a:ext cx="457200" cy="457200"/>
          </a:xfrm>
          <a:prstGeom prst="rect">
            <a:avLst/>
          </a:prstGeom>
          <a:solidFill>
            <a:srgbClr val="FF7A1A">
              <a:alpha val="2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0" y="3566160"/>
            <a:ext cx="457200" cy="457200"/>
          </a:xfrm>
          <a:prstGeom prst="rect">
            <a:avLst/>
          </a:prstGeom>
          <a:solidFill>
            <a:srgbClr val="FF7A1A">
              <a:alpha val="1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00400" y="3566160"/>
            <a:ext cx="457200" cy="457200"/>
          </a:xfrm>
          <a:prstGeom prst="rect">
            <a:avLst/>
          </a:prstGeom>
          <a:solidFill>
            <a:srgbClr val="FF7A1A">
              <a:alpha val="20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371600" y="4023360"/>
            <a:ext cx="457200" cy="457200"/>
          </a:xfrm>
          <a:prstGeom prst="rect">
            <a:avLst/>
          </a:prstGeom>
          <a:solidFill>
            <a:srgbClr val="FF7A1A">
              <a:alpha val="20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28800" y="4023360"/>
            <a:ext cx="457200" cy="457200"/>
          </a:xfrm>
          <a:prstGeom prst="rect">
            <a:avLst/>
          </a:prstGeom>
          <a:solidFill>
            <a:srgbClr val="FF7A1A">
              <a:alpha val="8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86000" y="4023360"/>
            <a:ext cx="457200" cy="457200"/>
          </a:xfrm>
          <a:prstGeom prst="rect">
            <a:avLst/>
          </a:prstGeom>
          <a:solidFill>
            <a:srgbClr val="FF7A1A">
              <a:alpha val="1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0" y="4023360"/>
            <a:ext cx="457200" cy="457200"/>
          </a:xfrm>
          <a:prstGeom prst="rect">
            <a:avLst/>
          </a:prstGeom>
          <a:solidFill>
            <a:srgbClr val="FF7A1A">
              <a:alpha val="20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00400" y="4023360"/>
            <a:ext cx="457200" cy="457200"/>
          </a:xfrm>
          <a:prstGeom prst="rect">
            <a:avLst/>
          </a:prstGeom>
          <a:solidFill>
            <a:srgbClr val="FF7A1A">
              <a:alpha val="2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371600" y="4480560"/>
            <a:ext cx="457200" cy="457200"/>
          </a:xfrm>
          <a:prstGeom prst="rect">
            <a:avLst/>
          </a:prstGeom>
          <a:solidFill>
            <a:srgbClr val="FF7A1A">
              <a:alpha val="2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828800" y="4480560"/>
            <a:ext cx="457200" cy="457200"/>
          </a:xfrm>
          <a:prstGeom prst="rect">
            <a:avLst/>
          </a:prstGeom>
          <a:solidFill>
            <a:srgbClr val="FF7A1A">
              <a:alpha val="1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286000" y="4480560"/>
            <a:ext cx="457200" cy="457200"/>
          </a:xfrm>
          <a:prstGeom prst="rect">
            <a:avLst/>
          </a:prstGeom>
          <a:solidFill>
            <a:srgbClr val="FF7A1A">
              <a:alpha val="8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43200" y="4480560"/>
            <a:ext cx="457200" cy="457200"/>
          </a:xfrm>
          <a:prstGeom prst="rect">
            <a:avLst/>
          </a:prstGeom>
          <a:solidFill>
            <a:srgbClr val="FF7A1A">
              <a:alpha val="2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0400" y="4480560"/>
            <a:ext cx="457200" cy="457200"/>
          </a:xfrm>
          <a:prstGeom prst="rect">
            <a:avLst/>
          </a:prstGeom>
          <a:solidFill>
            <a:srgbClr val="FF7A1A">
              <a:alpha val="1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371600" y="4937760"/>
            <a:ext cx="457200" cy="457200"/>
          </a:xfrm>
          <a:prstGeom prst="rect">
            <a:avLst/>
          </a:prstGeom>
          <a:solidFill>
            <a:srgbClr val="FF7A1A">
              <a:alpha val="1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828800" y="4937760"/>
            <a:ext cx="457200" cy="457200"/>
          </a:xfrm>
          <a:prstGeom prst="rect">
            <a:avLst/>
          </a:prstGeom>
          <a:solidFill>
            <a:srgbClr val="FF7A1A">
              <a:alpha val="20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286000" y="4937760"/>
            <a:ext cx="457200" cy="457200"/>
          </a:xfrm>
          <a:prstGeom prst="rect">
            <a:avLst/>
          </a:prstGeom>
          <a:solidFill>
            <a:srgbClr val="FF7A1A">
              <a:alpha val="2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43200" y="4937760"/>
            <a:ext cx="457200" cy="457200"/>
          </a:xfrm>
          <a:prstGeom prst="rect">
            <a:avLst/>
          </a:prstGeom>
          <a:solidFill>
            <a:srgbClr val="FF7A1A">
              <a:alpha val="8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00400" y="4937760"/>
            <a:ext cx="457200" cy="457200"/>
          </a:xfrm>
          <a:prstGeom prst="rect">
            <a:avLst/>
          </a:prstGeom>
          <a:solidFill>
            <a:srgbClr val="FF7A1A">
              <a:alpha val="20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371600" y="5394960"/>
            <a:ext cx="457200" cy="457200"/>
          </a:xfrm>
          <a:prstGeom prst="rect">
            <a:avLst/>
          </a:prstGeom>
          <a:solidFill>
            <a:srgbClr val="FF7A1A">
              <a:alpha val="20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828800" y="5394960"/>
            <a:ext cx="457200" cy="457200"/>
          </a:xfrm>
          <a:prstGeom prst="rect">
            <a:avLst/>
          </a:prstGeom>
          <a:solidFill>
            <a:srgbClr val="FF7A1A">
              <a:alpha val="2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286000" y="5394960"/>
            <a:ext cx="457200" cy="457200"/>
          </a:xfrm>
          <a:prstGeom prst="rect">
            <a:avLst/>
          </a:prstGeom>
          <a:solidFill>
            <a:srgbClr val="FF7A1A">
              <a:alpha val="1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743200" y="5394960"/>
            <a:ext cx="457200" cy="457200"/>
          </a:xfrm>
          <a:prstGeom prst="rect">
            <a:avLst/>
          </a:prstGeom>
          <a:solidFill>
            <a:srgbClr val="FF7A1A">
              <a:alpha val="20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200400" y="5394960"/>
            <a:ext cx="457200" cy="457200"/>
          </a:xfrm>
          <a:prstGeom prst="rect">
            <a:avLst/>
          </a:prstGeom>
          <a:solidFill>
            <a:srgbClr val="FF7A1A">
              <a:alpha val="85000"/>
            </a:srgbClr>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5715000"/>
            <a:ext cx="4769967" cy="365760"/>
          </a:xfrm>
          <a:prstGeom prst="rect">
            <a:avLst/>
          </a:prstGeom>
          <a:noFill/>
        </p:spPr>
        <p:txBody>
          <a:bodyPr wrap="square" lIns="0" rIns="0" tIns="0" bIns="0" anchor="t">
            <a:spAutoFit/>
          </a:bodyPr>
          <a:lstStyle/>
          <a:p>
            <a:pPr algn="ctr">
              <a:lnSpc>
                <a:spcPct val="110000"/>
              </a:lnSpc>
            </a:pPr>
            <a:r>
              <a:rPr sz="1100" b="0" i="1">
                <a:solidFill>
                  <a:srgbClr val="7D8496"/>
                </a:solidFill>
                <a:latin typeface="Inter"/>
              </a:rPr>
              <a:t>Diagonale = prédictions correctes</a:t>
            </a:r>
          </a:p>
        </p:txBody>
      </p:sp>
      <p:sp>
        <p:nvSpPr>
          <p:cNvPr id="37" name="Rounded Rectangle 36"/>
          <p:cNvSpPr/>
          <p:nvPr/>
        </p:nvSpPr>
        <p:spPr>
          <a:xfrm>
            <a:off x="6233007" y="2651760"/>
            <a:ext cx="5318607" cy="3566160"/>
          </a:xfrm>
          <a:prstGeom prst="roundRect">
            <a:avLst>
              <a:gd name="adj" fmla="val 6000"/>
            </a:avLst>
          </a:prstGeom>
          <a:solidFill>
            <a:srgbClr val="101A45">
              <a:alpha val="18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07327" y="2926080"/>
            <a:ext cx="4769967" cy="365760"/>
          </a:xfrm>
          <a:prstGeom prst="rect">
            <a:avLst/>
          </a:prstGeom>
          <a:noFill/>
        </p:spPr>
        <p:txBody>
          <a:bodyPr wrap="square" lIns="0" rIns="0" tIns="0" bIns="0" anchor="t">
            <a:spAutoFit/>
          </a:bodyPr>
          <a:lstStyle/>
          <a:p>
            <a:pPr algn="l">
              <a:lnSpc>
                <a:spcPct val="110000"/>
              </a:lnSpc>
            </a:pPr>
            <a:r>
              <a:rPr sz="1000" b="1" i="0" spc="180">
                <a:solidFill>
                  <a:srgbClr val="4ECDC4"/>
                </a:solidFill>
                <a:latin typeface="JetBrains Mono"/>
              </a:rPr>
              <a:t>COURBE ROC · XGBoost v3</a:t>
            </a:r>
          </a:p>
        </p:txBody>
      </p:sp>
      <p:sp>
        <p:nvSpPr>
          <p:cNvPr id="39" name="Rounded Rectangle 38"/>
          <p:cNvSpPr/>
          <p:nvPr/>
        </p:nvSpPr>
        <p:spPr>
          <a:xfrm>
            <a:off x="6507327" y="3566160"/>
            <a:ext cx="1468069" cy="1280160"/>
          </a:xfrm>
          <a:prstGeom prst="roundRect">
            <a:avLst>
              <a:gd name="adj" fmla="val 6000"/>
            </a:avLst>
          </a:prstGeom>
          <a:solidFill>
            <a:srgbClr val="101A45">
              <a:alpha val="20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07327" y="3749040"/>
            <a:ext cx="1468069" cy="640080"/>
          </a:xfrm>
          <a:prstGeom prst="rect">
            <a:avLst/>
          </a:prstGeom>
          <a:noFill/>
        </p:spPr>
        <p:txBody>
          <a:bodyPr wrap="square" lIns="0" rIns="0" tIns="0" bIns="0" anchor="t">
            <a:spAutoFit/>
          </a:bodyPr>
          <a:lstStyle/>
          <a:p>
            <a:pPr algn="ctr">
              <a:lnSpc>
                <a:spcPct val="110000"/>
              </a:lnSpc>
            </a:pPr>
            <a:r>
              <a:rPr sz="3200" b="1" i="0">
                <a:solidFill>
                  <a:srgbClr val="4ECDC4"/>
                </a:solidFill>
                <a:latin typeface="Space Grotesk"/>
              </a:rPr>
              <a:t>0.86</a:t>
            </a:r>
          </a:p>
        </p:txBody>
      </p:sp>
      <p:sp>
        <p:nvSpPr>
          <p:cNvPr id="41" name="TextBox 40"/>
          <p:cNvSpPr txBox="1"/>
          <p:nvPr/>
        </p:nvSpPr>
        <p:spPr>
          <a:xfrm>
            <a:off x="6507327" y="4389120"/>
            <a:ext cx="1468069" cy="320040"/>
          </a:xfrm>
          <a:prstGeom prst="rect">
            <a:avLst/>
          </a:prstGeom>
          <a:noFill/>
        </p:spPr>
        <p:txBody>
          <a:bodyPr wrap="square" lIns="0" rIns="0" tIns="0" bIns="0" anchor="t">
            <a:spAutoFit/>
          </a:bodyPr>
          <a:lstStyle/>
          <a:p>
            <a:pPr algn="ctr">
              <a:lnSpc>
                <a:spcPct val="110000"/>
              </a:lnSpc>
            </a:pPr>
            <a:r>
              <a:rPr sz="1100" b="0" i="0">
                <a:solidFill>
                  <a:srgbClr val="C9D0DC"/>
                </a:solidFill>
                <a:latin typeface="Inter"/>
              </a:rPr>
              <a:t>Précision</a:t>
            </a:r>
          </a:p>
        </p:txBody>
      </p:sp>
      <p:sp>
        <p:nvSpPr>
          <p:cNvPr id="42" name="Rounded Rectangle 41"/>
          <p:cNvSpPr/>
          <p:nvPr/>
        </p:nvSpPr>
        <p:spPr>
          <a:xfrm>
            <a:off x="8158276" y="3566160"/>
            <a:ext cx="1468069" cy="1280160"/>
          </a:xfrm>
          <a:prstGeom prst="roundRect">
            <a:avLst>
              <a:gd name="adj" fmla="val 6000"/>
            </a:avLst>
          </a:prstGeom>
          <a:solidFill>
            <a:srgbClr val="101A45">
              <a:alpha val="20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58276" y="3749040"/>
            <a:ext cx="1468069" cy="640080"/>
          </a:xfrm>
          <a:prstGeom prst="rect">
            <a:avLst/>
          </a:prstGeom>
          <a:noFill/>
        </p:spPr>
        <p:txBody>
          <a:bodyPr wrap="square" lIns="0" rIns="0" tIns="0" bIns="0" anchor="t">
            <a:spAutoFit/>
          </a:bodyPr>
          <a:lstStyle/>
          <a:p>
            <a:pPr algn="ctr">
              <a:lnSpc>
                <a:spcPct val="110000"/>
              </a:lnSpc>
            </a:pPr>
            <a:r>
              <a:rPr sz="3200" b="1" i="0">
                <a:solidFill>
                  <a:srgbClr val="4ECDC4"/>
                </a:solidFill>
                <a:latin typeface="Space Grotesk"/>
              </a:rPr>
              <a:t>0.81</a:t>
            </a:r>
          </a:p>
        </p:txBody>
      </p:sp>
      <p:sp>
        <p:nvSpPr>
          <p:cNvPr id="44" name="TextBox 43"/>
          <p:cNvSpPr txBox="1"/>
          <p:nvPr/>
        </p:nvSpPr>
        <p:spPr>
          <a:xfrm>
            <a:off x="8158276" y="4389120"/>
            <a:ext cx="1468069" cy="320040"/>
          </a:xfrm>
          <a:prstGeom prst="rect">
            <a:avLst/>
          </a:prstGeom>
          <a:noFill/>
        </p:spPr>
        <p:txBody>
          <a:bodyPr wrap="square" lIns="0" rIns="0" tIns="0" bIns="0" anchor="t">
            <a:spAutoFit/>
          </a:bodyPr>
          <a:lstStyle/>
          <a:p>
            <a:pPr algn="ctr">
              <a:lnSpc>
                <a:spcPct val="110000"/>
              </a:lnSpc>
            </a:pPr>
            <a:r>
              <a:rPr sz="1100" b="0" i="0">
                <a:solidFill>
                  <a:srgbClr val="C9D0DC"/>
                </a:solidFill>
                <a:latin typeface="Inter"/>
              </a:rPr>
              <a:t>Rappel</a:t>
            </a:r>
          </a:p>
        </p:txBody>
      </p:sp>
      <p:sp>
        <p:nvSpPr>
          <p:cNvPr id="45" name="Rounded Rectangle 44"/>
          <p:cNvSpPr/>
          <p:nvPr/>
        </p:nvSpPr>
        <p:spPr>
          <a:xfrm>
            <a:off x="9809225" y="3566160"/>
            <a:ext cx="1468069" cy="1280160"/>
          </a:xfrm>
          <a:prstGeom prst="roundRect">
            <a:avLst>
              <a:gd name="adj" fmla="val 6000"/>
            </a:avLst>
          </a:prstGeom>
          <a:solidFill>
            <a:srgbClr val="101A45">
              <a:alpha val="20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809225" y="3749040"/>
            <a:ext cx="1468069" cy="640080"/>
          </a:xfrm>
          <a:prstGeom prst="rect">
            <a:avLst/>
          </a:prstGeom>
          <a:noFill/>
        </p:spPr>
        <p:txBody>
          <a:bodyPr wrap="square" lIns="0" rIns="0" tIns="0" bIns="0" anchor="t">
            <a:spAutoFit/>
          </a:bodyPr>
          <a:lstStyle/>
          <a:p>
            <a:pPr algn="ctr">
              <a:lnSpc>
                <a:spcPct val="110000"/>
              </a:lnSpc>
            </a:pPr>
            <a:r>
              <a:rPr sz="3200" b="1" i="0">
                <a:solidFill>
                  <a:srgbClr val="4ECDC4"/>
                </a:solidFill>
                <a:latin typeface="Space Grotesk"/>
              </a:rPr>
              <a:t>0.91</a:t>
            </a:r>
          </a:p>
        </p:txBody>
      </p:sp>
      <p:sp>
        <p:nvSpPr>
          <p:cNvPr id="47" name="TextBox 46"/>
          <p:cNvSpPr txBox="1"/>
          <p:nvPr/>
        </p:nvSpPr>
        <p:spPr>
          <a:xfrm>
            <a:off x="9809225" y="4389120"/>
            <a:ext cx="1468069" cy="320040"/>
          </a:xfrm>
          <a:prstGeom prst="rect">
            <a:avLst/>
          </a:prstGeom>
          <a:noFill/>
        </p:spPr>
        <p:txBody>
          <a:bodyPr wrap="square" lIns="0" rIns="0" tIns="0" bIns="0" anchor="t">
            <a:spAutoFit/>
          </a:bodyPr>
          <a:lstStyle/>
          <a:p>
            <a:pPr algn="ctr">
              <a:lnSpc>
                <a:spcPct val="110000"/>
              </a:lnSpc>
            </a:pPr>
            <a:r>
              <a:rPr sz="1100" b="0" i="0">
                <a:solidFill>
                  <a:srgbClr val="C9D0DC"/>
                </a:solidFill>
                <a:latin typeface="Inter"/>
              </a:rPr>
              <a:t>AUC (moyen)</a:t>
            </a:r>
          </a:p>
        </p:txBody>
      </p:sp>
      <p:sp>
        <p:nvSpPr>
          <p:cNvPr id="48" name="TextBox 47"/>
          <p:cNvSpPr txBox="1"/>
          <p:nvPr/>
        </p:nvSpPr>
        <p:spPr>
          <a:xfrm>
            <a:off x="6507327" y="5120640"/>
            <a:ext cx="4769967" cy="914400"/>
          </a:xfrm>
          <a:prstGeom prst="rect">
            <a:avLst/>
          </a:prstGeom>
          <a:noFill/>
        </p:spPr>
        <p:txBody>
          <a:bodyPr wrap="square" lIns="0" rIns="0" tIns="0" bIns="0" anchor="t">
            <a:spAutoFit/>
          </a:bodyPr>
          <a:lstStyle/>
          <a:p>
            <a:pPr algn="l">
              <a:lnSpc>
                <a:spcPct val="140000"/>
              </a:lnSpc>
            </a:pPr>
            <a:r>
              <a:rPr sz="1300" b="0" i="0">
                <a:solidFill>
                  <a:srgbClr val="F4F6FB"/>
                </a:solidFill>
                <a:latin typeface="Inter"/>
              </a:rPr>
              <a:t>Seuil de décision fixé à 0.80 : au-dessus, création automatique d'une maintenance prédictive côté backend.</a:t>
            </a:r>
          </a:p>
        </p:txBody>
      </p:sp>
      <p:sp>
        <p:nvSpPr>
          <p:cNvPr id="49" name="TextBox 48"/>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04 · DÉVELOPPEMENT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APPLICATION WEB — RESPONSABLE MAINTENANCE</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Fonctionnalités web.</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Application React.js pour la supervision.</a:t>
            </a:r>
          </a:p>
        </p:txBody>
      </p:sp>
      <p:sp>
        <p:nvSpPr>
          <p:cNvPr id="9" name="Rounded Rectangle 8"/>
          <p:cNvSpPr/>
          <p:nvPr/>
        </p:nvSpPr>
        <p:spPr>
          <a:xfrm>
            <a:off x="640080" y="2651760"/>
            <a:ext cx="5364327" cy="106680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88920"/>
            <a:ext cx="457200" cy="36576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01</a:t>
            </a:r>
          </a:p>
        </p:txBody>
      </p:sp>
      <p:sp>
        <p:nvSpPr>
          <p:cNvPr id="11" name="TextBox 10"/>
          <p:cNvSpPr txBox="1"/>
          <p:nvPr/>
        </p:nvSpPr>
        <p:spPr>
          <a:xfrm>
            <a:off x="1463040" y="2743200"/>
            <a:ext cx="4267047" cy="457200"/>
          </a:xfrm>
          <a:prstGeom prst="rect">
            <a:avLst/>
          </a:prstGeom>
          <a:noFill/>
        </p:spPr>
        <p:txBody>
          <a:bodyPr wrap="square" lIns="0" rIns="0" tIns="0" bIns="0" anchor="t">
            <a:spAutoFit/>
          </a:bodyPr>
          <a:lstStyle/>
          <a:p>
            <a:pPr algn="l">
              <a:lnSpc>
                <a:spcPct val="110000"/>
              </a:lnSpc>
            </a:pPr>
            <a:r>
              <a:rPr sz="1500" b="1" i="0">
                <a:solidFill>
                  <a:srgbClr val="FFFFFF"/>
                </a:solidFill>
                <a:latin typeface="Space Grotesk"/>
              </a:rPr>
              <a:t>Authentification JWT</a:t>
            </a:r>
          </a:p>
        </p:txBody>
      </p:sp>
      <p:sp>
        <p:nvSpPr>
          <p:cNvPr id="12" name="TextBox 11"/>
          <p:cNvSpPr txBox="1"/>
          <p:nvPr/>
        </p:nvSpPr>
        <p:spPr>
          <a:xfrm>
            <a:off x="1463040" y="3154680"/>
            <a:ext cx="4267047" cy="42672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Rôles Responsable · Chef de ligne · Technicien</a:t>
            </a:r>
          </a:p>
        </p:txBody>
      </p:sp>
      <p:sp>
        <p:nvSpPr>
          <p:cNvPr id="13" name="Rounded Rectangle 12"/>
          <p:cNvSpPr/>
          <p:nvPr/>
        </p:nvSpPr>
        <p:spPr>
          <a:xfrm>
            <a:off x="6187287" y="2651760"/>
            <a:ext cx="5364327" cy="106680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1607" y="2788920"/>
            <a:ext cx="457200" cy="36576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02</a:t>
            </a:r>
          </a:p>
        </p:txBody>
      </p:sp>
      <p:sp>
        <p:nvSpPr>
          <p:cNvPr id="15" name="TextBox 14"/>
          <p:cNvSpPr txBox="1"/>
          <p:nvPr/>
        </p:nvSpPr>
        <p:spPr>
          <a:xfrm>
            <a:off x="7010247" y="2743200"/>
            <a:ext cx="4267047" cy="457200"/>
          </a:xfrm>
          <a:prstGeom prst="rect">
            <a:avLst/>
          </a:prstGeom>
          <a:noFill/>
        </p:spPr>
        <p:txBody>
          <a:bodyPr wrap="square" lIns="0" rIns="0" tIns="0" bIns="0" anchor="t">
            <a:spAutoFit/>
          </a:bodyPr>
          <a:lstStyle/>
          <a:p>
            <a:pPr algn="l">
              <a:lnSpc>
                <a:spcPct val="110000"/>
              </a:lnSpc>
            </a:pPr>
            <a:r>
              <a:rPr sz="1500" b="1" i="0">
                <a:solidFill>
                  <a:srgbClr val="FFFFFF"/>
                </a:solidFill>
                <a:latin typeface="Space Grotesk"/>
              </a:rPr>
              <a:t>Tableau de bord</a:t>
            </a:r>
          </a:p>
        </p:txBody>
      </p:sp>
      <p:sp>
        <p:nvSpPr>
          <p:cNvPr id="16" name="TextBox 15"/>
          <p:cNvSpPr txBox="1"/>
          <p:nvPr/>
        </p:nvSpPr>
        <p:spPr>
          <a:xfrm>
            <a:off x="7010247" y="3154680"/>
            <a:ext cx="4267047" cy="42672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KPI MTBF · MTTR · disponibilité machine</a:t>
            </a:r>
          </a:p>
        </p:txBody>
      </p:sp>
      <p:sp>
        <p:nvSpPr>
          <p:cNvPr id="17" name="Rounded Rectangle 16"/>
          <p:cNvSpPr/>
          <p:nvPr/>
        </p:nvSpPr>
        <p:spPr>
          <a:xfrm>
            <a:off x="640080" y="3901440"/>
            <a:ext cx="5364327" cy="106680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038600"/>
            <a:ext cx="457200" cy="36576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03</a:t>
            </a:r>
          </a:p>
        </p:txBody>
      </p:sp>
      <p:sp>
        <p:nvSpPr>
          <p:cNvPr id="19" name="TextBox 18"/>
          <p:cNvSpPr txBox="1"/>
          <p:nvPr/>
        </p:nvSpPr>
        <p:spPr>
          <a:xfrm>
            <a:off x="1463040" y="3992880"/>
            <a:ext cx="4267047" cy="457200"/>
          </a:xfrm>
          <a:prstGeom prst="rect">
            <a:avLst/>
          </a:prstGeom>
          <a:noFill/>
        </p:spPr>
        <p:txBody>
          <a:bodyPr wrap="square" lIns="0" rIns="0" tIns="0" bIns="0" anchor="t">
            <a:spAutoFit/>
          </a:bodyPr>
          <a:lstStyle/>
          <a:p>
            <a:pPr algn="l">
              <a:lnSpc>
                <a:spcPct val="110000"/>
              </a:lnSpc>
            </a:pPr>
            <a:r>
              <a:rPr sz="1500" b="1" i="0">
                <a:solidFill>
                  <a:srgbClr val="FFFFFF"/>
                </a:solidFill>
                <a:latin typeface="Space Grotesk"/>
              </a:rPr>
              <a:t>Gestion des machines</a:t>
            </a:r>
          </a:p>
        </p:txBody>
      </p:sp>
      <p:sp>
        <p:nvSpPr>
          <p:cNvPr id="20" name="TextBox 19"/>
          <p:cNvSpPr txBox="1"/>
          <p:nvPr/>
        </p:nvSpPr>
        <p:spPr>
          <a:xfrm>
            <a:off x="1463040" y="4404360"/>
            <a:ext cx="4267047" cy="42672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Fiche technique · historique · état courant</a:t>
            </a:r>
          </a:p>
        </p:txBody>
      </p:sp>
      <p:sp>
        <p:nvSpPr>
          <p:cNvPr id="21" name="Rounded Rectangle 20"/>
          <p:cNvSpPr/>
          <p:nvPr/>
        </p:nvSpPr>
        <p:spPr>
          <a:xfrm>
            <a:off x="6187287" y="3901440"/>
            <a:ext cx="5364327" cy="106680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61607" y="4038600"/>
            <a:ext cx="457200" cy="36576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04</a:t>
            </a:r>
          </a:p>
        </p:txBody>
      </p:sp>
      <p:sp>
        <p:nvSpPr>
          <p:cNvPr id="23" name="TextBox 22"/>
          <p:cNvSpPr txBox="1"/>
          <p:nvPr/>
        </p:nvSpPr>
        <p:spPr>
          <a:xfrm>
            <a:off x="7010247" y="3992880"/>
            <a:ext cx="4267047" cy="457200"/>
          </a:xfrm>
          <a:prstGeom prst="rect">
            <a:avLst/>
          </a:prstGeom>
          <a:noFill/>
        </p:spPr>
        <p:txBody>
          <a:bodyPr wrap="square" lIns="0" rIns="0" tIns="0" bIns="0" anchor="t">
            <a:spAutoFit/>
          </a:bodyPr>
          <a:lstStyle/>
          <a:p>
            <a:pPr algn="l">
              <a:lnSpc>
                <a:spcPct val="110000"/>
              </a:lnSpc>
            </a:pPr>
            <a:r>
              <a:rPr sz="1500" b="1" i="0">
                <a:solidFill>
                  <a:srgbClr val="FFFFFF"/>
                </a:solidFill>
                <a:latin typeface="Space Grotesk"/>
              </a:rPr>
              <a:t>Interventions</a:t>
            </a:r>
          </a:p>
        </p:txBody>
      </p:sp>
      <p:sp>
        <p:nvSpPr>
          <p:cNvPr id="24" name="TextBox 23"/>
          <p:cNvSpPr txBox="1"/>
          <p:nvPr/>
        </p:nvSpPr>
        <p:spPr>
          <a:xfrm>
            <a:off x="7010247" y="4404360"/>
            <a:ext cx="4267047" cy="42672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Création · suivi · badge de score IA</a:t>
            </a:r>
          </a:p>
        </p:txBody>
      </p:sp>
      <p:sp>
        <p:nvSpPr>
          <p:cNvPr id="25" name="Rounded Rectangle 24"/>
          <p:cNvSpPr/>
          <p:nvPr/>
        </p:nvSpPr>
        <p:spPr>
          <a:xfrm>
            <a:off x="640080" y="5151120"/>
            <a:ext cx="5364327" cy="106680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5288280"/>
            <a:ext cx="457200" cy="36576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05</a:t>
            </a:r>
          </a:p>
        </p:txBody>
      </p:sp>
      <p:sp>
        <p:nvSpPr>
          <p:cNvPr id="27" name="TextBox 26"/>
          <p:cNvSpPr txBox="1"/>
          <p:nvPr/>
        </p:nvSpPr>
        <p:spPr>
          <a:xfrm>
            <a:off x="1463040" y="5242560"/>
            <a:ext cx="4267047" cy="457200"/>
          </a:xfrm>
          <a:prstGeom prst="rect">
            <a:avLst/>
          </a:prstGeom>
          <a:noFill/>
        </p:spPr>
        <p:txBody>
          <a:bodyPr wrap="square" lIns="0" rIns="0" tIns="0" bIns="0" anchor="t">
            <a:spAutoFit/>
          </a:bodyPr>
          <a:lstStyle/>
          <a:p>
            <a:pPr algn="l">
              <a:lnSpc>
                <a:spcPct val="110000"/>
              </a:lnSpc>
            </a:pPr>
            <a:r>
              <a:rPr sz="1500" b="1" i="0">
                <a:solidFill>
                  <a:srgbClr val="FFFFFF"/>
                </a:solidFill>
                <a:latin typeface="Space Grotesk"/>
              </a:rPr>
              <a:t>Planning et alertes</a:t>
            </a:r>
          </a:p>
        </p:txBody>
      </p:sp>
      <p:sp>
        <p:nvSpPr>
          <p:cNvPr id="28" name="TextBox 27"/>
          <p:cNvSpPr txBox="1"/>
          <p:nvPr/>
        </p:nvSpPr>
        <p:spPr>
          <a:xfrm>
            <a:off x="1463040" y="5654040"/>
            <a:ext cx="4267047" cy="42672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Calendrier maintenance · notifications</a:t>
            </a:r>
          </a:p>
        </p:txBody>
      </p:sp>
      <p:sp>
        <p:nvSpPr>
          <p:cNvPr id="29" name="Rounded Rectangle 28"/>
          <p:cNvSpPr/>
          <p:nvPr/>
        </p:nvSpPr>
        <p:spPr>
          <a:xfrm>
            <a:off x="6187287" y="5151120"/>
            <a:ext cx="5364327" cy="106680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5288280"/>
            <a:ext cx="457200" cy="365760"/>
          </a:xfrm>
          <a:prstGeom prst="rect">
            <a:avLst/>
          </a:prstGeom>
          <a:noFill/>
        </p:spPr>
        <p:txBody>
          <a:bodyPr wrap="square" lIns="0" rIns="0" tIns="0" bIns="0" anchor="t">
            <a:spAutoFit/>
          </a:bodyPr>
          <a:lstStyle/>
          <a:p>
            <a:pPr algn="l">
              <a:lnSpc>
                <a:spcPct val="110000"/>
              </a:lnSpc>
            </a:pPr>
            <a:r>
              <a:rPr sz="1100" b="1" i="0" spc="150">
                <a:solidFill>
                  <a:srgbClr val="FF9548"/>
                </a:solidFill>
                <a:latin typeface="JetBrains Mono"/>
              </a:rPr>
              <a:t>06</a:t>
            </a:r>
          </a:p>
        </p:txBody>
      </p:sp>
      <p:sp>
        <p:nvSpPr>
          <p:cNvPr id="31" name="TextBox 30"/>
          <p:cNvSpPr txBox="1"/>
          <p:nvPr/>
        </p:nvSpPr>
        <p:spPr>
          <a:xfrm>
            <a:off x="7010247" y="5242560"/>
            <a:ext cx="4267047" cy="457200"/>
          </a:xfrm>
          <a:prstGeom prst="rect">
            <a:avLst/>
          </a:prstGeom>
          <a:noFill/>
        </p:spPr>
        <p:txBody>
          <a:bodyPr wrap="square" lIns="0" rIns="0" tIns="0" bIns="0" anchor="t">
            <a:spAutoFit/>
          </a:bodyPr>
          <a:lstStyle/>
          <a:p>
            <a:pPr algn="l">
              <a:lnSpc>
                <a:spcPct val="110000"/>
              </a:lnSpc>
            </a:pPr>
            <a:r>
              <a:rPr sz="1500" b="1" i="0">
                <a:solidFill>
                  <a:srgbClr val="FFFFFF"/>
                </a:solidFill>
                <a:latin typeface="Space Grotesk"/>
              </a:rPr>
              <a:t>Analyse de fiabilité</a:t>
            </a:r>
          </a:p>
        </p:txBody>
      </p:sp>
      <p:sp>
        <p:nvSpPr>
          <p:cNvPr id="32" name="TextBox 31"/>
          <p:cNvSpPr txBox="1"/>
          <p:nvPr/>
        </p:nvSpPr>
        <p:spPr>
          <a:xfrm>
            <a:off x="7010247" y="5654040"/>
            <a:ext cx="4267047" cy="42672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Génération de rapport PDF exportable</a:t>
            </a:r>
          </a:p>
        </p:txBody>
      </p:sp>
      <p:sp>
        <p:nvSpPr>
          <p:cNvPr id="33" name="TextBox 32"/>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04 · DÉVELOPPEMENT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APPLICATION WEB — INTERFACES</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Tableau de bord.</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Pilotage complet pour le responsable maintenance.</a:t>
            </a:r>
          </a:p>
        </p:txBody>
      </p:sp>
      <p:sp>
        <p:nvSpPr>
          <p:cNvPr id="9" name="Rounded Rectangle 8"/>
          <p:cNvSpPr/>
          <p:nvPr/>
        </p:nvSpPr>
        <p:spPr>
          <a:xfrm>
            <a:off x="640080" y="2606040"/>
            <a:ext cx="3527450" cy="1700784"/>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834640"/>
            <a:ext cx="3161690" cy="877824"/>
          </a:xfrm>
          <a:prstGeom prst="rect">
            <a:avLst/>
          </a:prstGeom>
          <a:solidFill>
            <a:srgbClr val="0A1230"/>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834640"/>
            <a:ext cx="3161690" cy="877824"/>
          </a:xfrm>
          <a:prstGeom prst="rect">
            <a:avLst/>
          </a:prstGeom>
          <a:noFill/>
        </p:spPr>
        <p:txBody>
          <a:bodyPr wrap="square" lIns="0" rIns="0" tIns="0" bIns="0" anchor="ctr">
            <a:spAutoFit/>
          </a:bodyPr>
          <a:lstStyle/>
          <a:p>
            <a:pPr algn="ctr">
              <a:lnSpc>
                <a:spcPct val="110000"/>
              </a:lnSpc>
            </a:pPr>
            <a:r>
              <a:rPr sz="1000" b="0" i="0">
                <a:solidFill>
                  <a:srgbClr val="3A3F4C"/>
                </a:solidFill>
                <a:latin typeface="JetBrains Mono"/>
              </a:rPr>
              <a:t>[ capture web ]</a:t>
            </a:r>
          </a:p>
        </p:txBody>
      </p:sp>
      <p:sp>
        <p:nvSpPr>
          <p:cNvPr id="12" name="TextBox 11"/>
          <p:cNvSpPr txBox="1"/>
          <p:nvPr/>
        </p:nvSpPr>
        <p:spPr>
          <a:xfrm>
            <a:off x="914400" y="3739896"/>
            <a:ext cx="2978810" cy="274320"/>
          </a:xfrm>
          <a:prstGeom prst="rect">
            <a:avLst/>
          </a:prstGeom>
          <a:noFill/>
        </p:spPr>
        <p:txBody>
          <a:bodyPr wrap="square" lIns="0" rIns="0" tIns="0" bIns="0" anchor="t">
            <a:spAutoFit/>
          </a:bodyPr>
          <a:lstStyle/>
          <a:p>
            <a:pPr algn="l">
              <a:lnSpc>
                <a:spcPct val="110000"/>
              </a:lnSpc>
            </a:pPr>
            <a:r>
              <a:rPr sz="1300" b="1" i="0">
                <a:solidFill>
                  <a:srgbClr val="FFFFFF"/>
                </a:solidFill>
                <a:latin typeface="Space Grotesk"/>
              </a:rPr>
              <a:t>Dashboard</a:t>
            </a:r>
          </a:p>
        </p:txBody>
      </p:sp>
      <p:sp>
        <p:nvSpPr>
          <p:cNvPr id="13" name="TextBox 12"/>
          <p:cNvSpPr txBox="1"/>
          <p:nvPr/>
        </p:nvSpPr>
        <p:spPr>
          <a:xfrm>
            <a:off x="914400" y="4005072"/>
            <a:ext cx="2978810" cy="256032"/>
          </a:xfrm>
          <a:prstGeom prst="rect">
            <a:avLst/>
          </a:prstGeom>
          <a:noFill/>
        </p:spPr>
        <p:txBody>
          <a:bodyPr wrap="square" lIns="0" rIns="0" tIns="0" bIns="0" anchor="t">
            <a:spAutoFit/>
          </a:bodyPr>
          <a:lstStyle/>
          <a:p>
            <a:pPr algn="l">
              <a:lnSpc>
                <a:spcPct val="110000"/>
              </a:lnSpc>
            </a:pPr>
            <a:r>
              <a:rPr sz="1000" b="0" i="0">
                <a:solidFill>
                  <a:srgbClr val="7D8496"/>
                </a:solidFill>
                <a:latin typeface="Inter"/>
              </a:rPr>
              <a:t>MTBF · MTTR · pannes</a:t>
            </a:r>
          </a:p>
        </p:txBody>
      </p:sp>
      <p:sp>
        <p:nvSpPr>
          <p:cNvPr id="14" name="Rounded Rectangle 13"/>
          <p:cNvSpPr/>
          <p:nvPr/>
        </p:nvSpPr>
        <p:spPr>
          <a:xfrm>
            <a:off x="4332122" y="2606040"/>
            <a:ext cx="3527450" cy="1700784"/>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15002" y="2834640"/>
            <a:ext cx="3161690" cy="877824"/>
          </a:xfrm>
          <a:prstGeom prst="rect">
            <a:avLst/>
          </a:prstGeom>
          <a:solidFill>
            <a:srgbClr val="0A1230"/>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5002" y="2834640"/>
            <a:ext cx="3161690" cy="877824"/>
          </a:xfrm>
          <a:prstGeom prst="rect">
            <a:avLst/>
          </a:prstGeom>
          <a:noFill/>
        </p:spPr>
        <p:txBody>
          <a:bodyPr wrap="square" lIns="0" rIns="0" tIns="0" bIns="0" anchor="ctr">
            <a:spAutoFit/>
          </a:bodyPr>
          <a:lstStyle/>
          <a:p>
            <a:pPr algn="ctr">
              <a:lnSpc>
                <a:spcPct val="110000"/>
              </a:lnSpc>
            </a:pPr>
            <a:r>
              <a:rPr sz="1000" b="0" i="0">
                <a:solidFill>
                  <a:srgbClr val="3A3F4C"/>
                </a:solidFill>
                <a:latin typeface="JetBrains Mono"/>
              </a:rPr>
              <a:t>[ capture web ]</a:t>
            </a:r>
          </a:p>
        </p:txBody>
      </p:sp>
      <p:sp>
        <p:nvSpPr>
          <p:cNvPr id="17" name="TextBox 16"/>
          <p:cNvSpPr txBox="1"/>
          <p:nvPr/>
        </p:nvSpPr>
        <p:spPr>
          <a:xfrm>
            <a:off x="4606442" y="3739896"/>
            <a:ext cx="2978810" cy="274320"/>
          </a:xfrm>
          <a:prstGeom prst="rect">
            <a:avLst/>
          </a:prstGeom>
          <a:noFill/>
        </p:spPr>
        <p:txBody>
          <a:bodyPr wrap="square" lIns="0" rIns="0" tIns="0" bIns="0" anchor="t">
            <a:spAutoFit/>
          </a:bodyPr>
          <a:lstStyle/>
          <a:p>
            <a:pPr algn="l">
              <a:lnSpc>
                <a:spcPct val="110000"/>
              </a:lnSpc>
            </a:pPr>
            <a:r>
              <a:rPr sz="1300" b="1" i="0">
                <a:solidFill>
                  <a:srgbClr val="FFFFFF"/>
                </a:solidFill>
                <a:latin typeface="Space Grotesk"/>
              </a:rPr>
              <a:t>Équipements</a:t>
            </a:r>
          </a:p>
        </p:txBody>
      </p:sp>
      <p:sp>
        <p:nvSpPr>
          <p:cNvPr id="18" name="TextBox 17"/>
          <p:cNvSpPr txBox="1"/>
          <p:nvPr/>
        </p:nvSpPr>
        <p:spPr>
          <a:xfrm>
            <a:off x="4606442" y="4005072"/>
            <a:ext cx="2978810" cy="256032"/>
          </a:xfrm>
          <a:prstGeom prst="rect">
            <a:avLst/>
          </a:prstGeom>
          <a:noFill/>
        </p:spPr>
        <p:txBody>
          <a:bodyPr wrap="square" lIns="0" rIns="0" tIns="0" bIns="0" anchor="t">
            <a:spAutoFit/>
          </a:bodyPr>
          <a:lstStyle/>
          <a:p>
            <a:pPr algn="l">
              <a:lnSpc>
                <a:spcPct val="110000"/>
              </a:lnSpc>
            </a:pPr>
            <a:r>
              <a:rPr sz="1000" b="0" i="0">
                <a:solidFill>
                  <a:srgbClr val="7D8496"/>
                </a:solidFill>
                <a:latin typeface="Inter"/>
              </a:rPr>
              <a:t>Fiches machines</a:t>
            </a:r>
          </a:p>
        </p:txBody>
      </p:sp>
      <p:sp>
        <p:nvSpPr>
          <p:cNvPr id="19" name="Rounded Rectangle 18"/>
          <p:cNvSpPr/>
          <p:nvPr/>
        </p:nvSpPr>
        <p:spPr>
          <a:xfrm>
            <a:off x="8024164" y="2606040"/>
            <a:ext cx="3527450" cy="1700784"/>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07044" y="2834640"/>
            <a:ext cx="3161690" cy="877824"/>
          </a:xfrm>
          <a:prstGeom prst="rect">
            <a:avLst/>
          </a:prstGeom>
          <a:solidFill>
            <a:srgbClr val="0A1230"/>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7044" y="2834640"/>
            <a:ext cx="3161690" cy="877824"/>
          </a:xfrm>
          <a:prstGeom prst="rect">
            <a:avLst/>
          </a:prstGeom>
          <a:noFill/>
        </p:spPr>
        <p:txBody>
          <a:bodyPr wrap="square" lIns="0" rIns="0" tIns="0" bIns="0" anchor="ctr">
            <a:spAutoFit/>
          </a:bodyPr>
          <a:lstStyle/>
          <a:p>
            <a:pPr algn="ctr">
              <a:lnSpc>
                <a:spcPct val="110000"/>
              </a:lnSpc>
            </a:pPr>
            <a:r>
              <a:rPr sz="1000" b="0" i="0">
                <a:solidFill>
                  <a:srgbClr val="3A3F4C"/>
                </a:solidFill>
                <a:latin typeface="JetBrains Mono"/>
              </a:rPr>
              <a:t>[ capture web ]</a:t>
            </a:r>
          </a:p>
        </p:txBody>
      </p:sp>
      <p:sp>
        <p:nvSpPr>
          <p:cNvPr id="22" name="TextBox 21"/>
          <p:cNvSpPr txBox="1"/>
          <p:nvPr/>
        </p:nvSpPr>
        <p:spPr>
          <a:xfrm>
            <a:off x="8298484" y="3739896"/>
            <a:ext cx="2978810" cy="274320"/>
          </a:xfrm>
          <a:prstGeom prst="rect">
            <a:avLst/>
          </a:prstGeom>
          <a:noFill/>
        </p:spPr>
        <p:txBody>
          <a:bodyPr wrap="square" lIns="0" rIns="0" tIns="0" bIns="0" anchor="t">
            <a:spAutoFit/>
          </a:bodyPr>
          <a:lstStyle/>
          <a:p>
            <a:pPr algn="l">
              <a:lnSpc>
                <a:spcPct val="110000"/>
              </a:lnSpc>
            </a:pPr>
            <a:r>
              <a:rPr sz="1300" b="1" i="0">
                <a:solidFill>
                  <a:srgbClr val="FFFFFF"/>
                </a:solidFill>
                <a:latin typeface="Space Grotesk"/>
              </a:rPr>
              <a:t>Interventions</a:t>
            </a:r>
          </a:p>
        </p:txBody>
      </p:sp>
      <p:sp>
        <p:nvSpPr>
          <p:cNvPr id="23" name="TextBox 22"/>
          <p:cNvSpPr txBox="1"/>
          <p:nvPr/>
        </p:nvSpPr>
        <p:spPr>
          <a:xfrm>
            <a:off x="8298484" y="4005072"/>
            <a:ext cx="2978810" cy="256032"/>
          </a:xfrm>
          <a:prstGeom prst="rect">
            <a:avLst/>
          </a:prstGeom>
          <a:noFill/>
        </p:spPr>
        <p:txBody>
          <a:bodyPr wrap="square" lIns="0" rIns="0" tIns="0" bIns="0" anchor="t">
            <a:spAutoFit/>
          </a:bodyPr>
          <a:lstStyle/>
          <a:p>
            <a:pPr algn="l">
              <a:lnSpc>
                <a:spcPct val="110000"/>
              </a:lnSpc>
            </a:pPr>
            <a:r>
              <a:rPr sz="1000" b="0" i="0">
                <a:solidFill>
                  <a:srgbClr val="7D8496"/>
                </a:solidFill>
                <a:latin typeface="Inter"/>
              </a:rPr>
              <a:t>Score IA affiché</a:t>
            </a:r>
          </a:p>
        </p:txBody>
      </p:sp>
      <p:sp>
        <p:nvSpPr>
          <p:cNvPr id="24" name="Rounded Rectangle 23"/>
          <p:cNvSpPr/>
          <p:nvPr/>
        </p:nvSpPr>
        <p:spPr>
          <a:xfrm>
            <a:off x="640080" y="4471416"/>
            <a:ext cx="3527450" cy="1700784"/>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4700016"/>
            <a:ext cx="3161690" cy="877824"/>
          </a:xfrm>
          <a:prstGeom prst="rect">
            <a:avLst/>
          </a:prstGeom>
          <a:solidFill>
            <a:srgbClr val="0A1230"/>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700016"/>
            <a:ext cx="3161690" cy="877824"/>
          </a:xfrm>
          <a:prstGeom prst="rect">
            <a:avLst/>
          </a:prstGeom>
          <a:noFill/>
        </p:spPr>
        <p:txBody>
          <a:bodyPr wrap="square" lIns="0" rIns="0" tIns="0" bIns="0" anchor="ctr">
            <a:spAutoFit/>
          </a:bodyPr>
          <a:lstStyle/>
          <a:p>
            <a:pPr algn="ctr">
              <a:lnSpc>
                <a:spcPct val="110000"/>
              </a:lnSpc>
            </a:pPr>
            <a:r>
              <a:rPr sz="1000" b="0" i="0">
                <a:solidFill>
                  <a:srgbClr val="3A3F4C"/>
                </a:solidFill>
                <a:latin typeface="JetBrains Mono"/>
              </a:rPr>
              <a:t>[ capture web ]</a:t>
            </a:r>
          </a:p>
        </p:txBody>
      </p:sp>
      <p:sp>
        <p:nvSpPr>
          <p:cNvPr id="27" name="TextBox 26"/>
          <p:cNvSpPr txBox="1"/>
          <p:nvPr/>
        </p:nvSpPr>
        <p:spPr>
          <a:xfrm>
            <a:off x="914400" y="5605272"/>
            <a:ext cx="2978810" cy="274320"/>
          </a:xfrm>
          <a:prstGeom prst="rect">
            <a:avLst/>
          </a:prstGeom>
          <a:noFill/>
        </p:spPr>
        <p:txBody>
          <a:bodyPr wrap="square" lIns="0" rIns="0" tIns="0" bIns="0" anchor="t">
            <a:spAutoFit/>
          </a:bodyPr>
          <a:lstStyle/>
          <a:p>
            <a:pPr algn="l">
              <a:lnSpc>
                <a:spcPct val="110000"/>
              </a:lnSpc>
            </a:pPr>
            <a:r>
              <a:rPr sz="1300" b="1" i="0">
                <a:solidFill>
                  <a:srgbClr val="FFFFFF"/>
                </a:solidFill>
                <a:latin typeface="Space Grotesk"/>
              </a:rPr>
              <a:t>Diagnostic IA</a:t>
            </a:r>
          </a:p>
        </p:txBody>
      </p:sp>
      <p:sp>
        <p:nvSpPr>
          <p:cNvPr id="28" name="TextBox 27"/>
          <p:cNvSpPr txBox="1"/>
          <p:nvPr/>
        </p:nvSpPr>
        <p:spPr>
          <a:xfrm>
            <a:off x="914400" y="5870448"/>
            <a:ext cx="2978810" cy="256032"/>
          </a:xfrm>
          <a:prstGeom prst="rect">
            <a:avLst/>
          </a:prstGeom>
          <a:noFill/>
        </p:spPr>
        <p:txBody>
          <a:bodyPr wrap="square" lIns="0" rIns="0" tIns="0" bIns="0" anchor="t">
            <a:spAutoFit/>
          </a:bodyPr>
          <a:lstStyle/>
          <a:p>
            <a:pPr algn="l">
              <a:lnSpc>
                <a:spcPct val="110000"/>
              </a:lnSpc>
            </a:pPr>
            <a:r>
              <a:rPr sz="1000" b="0" i="0">
                <a:solidFill>
                  <a:srgbClr val="7D8496"/>
                </a:solidFill>
                <a:latin typeface="Inter"/>
              </a:rPr>
              <a:t>Cause instantanée</a:t>
            </a:r>
          </a:p>
        </p:txBody>
      </p:sp>
      <p:sp>
        <p:nvSpPr>
          <p:cNvPr id="29" name="Rounded Rectangle 28"/>
          <p:cNvSpPr/>
          <p:nvPr/>
        </p:nvSpPr>
        <p:spPr>
          <a:xfrm>
            <a:off x="4332122" y="4471416"/>
            <a:ext cx="3527450" cy="1700784"/>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15002" y="4700016"/>
            <a:ext cx="3161690" cy="877824"/>
          </a:xfrm>
          <a:prstGeom prst="rect">
            <a:avLst/>
          </a:prstGeom>
          <a:solidFill>
            <a:srgbClr val="0A1230"/>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5002" y="4700016"/>
            <a:ext cx="3161690" cy="877824"/>
          </a:xfrm>
          <a:prstGeom prst="rect">
            <a:avLst/>
          </a:prstGeom>
          <a:noFill/>
        </p:spPr>
        <p:txBody>
          <a:bodyPr wrap="square" lIns="0" rIns="0" tIns="0" bIns="0" anchor="ctr">
            <a:spAutoFit/>
          </a:bodyPr>
          <a:lstStyle/>
          <a:p>
            <a:pPr algn="ctr">
              <a:lnSpc>
                <a:spcPct val="110000"/>
              </a:lnSpc>
            </a:pPr>
            <a:r>
              <a:rPr sz="1000" b="0" i="0">
                <a:solidFill>
                  <a:srgbClr val="3A3F4C"/>
                </a:solidFill>
                <a:latin typeface="JetBrains Mono"/>
              </a:rPr>
              <a:t>[ capture web ]</a:t>
            </a:r>
          </a:p>
        </p:txBody>
      </p:sp>
      <p:sp>
        <p:nvSpPr>
          <p:cNvPr id="32" name="TextBox 31"/>
          <p:cNvSpPr txBox="1"/>
          <p:nvPr/>
        </p:nvSpPr>
        <p:spPr>
          <a:xfrm>
            <a:off x="4606442" y="5605272"/>
            <a:ext cx="2978810" cy="274320"/>
          </a:xfrm>
          <a:prstGeom prst="rect">
            <a:avLst/>
          </a:prstGeom>
          <a:noFill/>
        </p:spPr>
        <p:txBody>
          <a:bodyPr wrap="square" lIns="0" rIns="0" tIns="0" bIns="0" anchor="t">
            <a:spAutoFit/>
          </a:bodyPr>
          <a:lstStyle/>
          <a:p>
            <a:pPr algn="l">
              <a:lnSpc>
                <a:spcPct val="110000"/>
              </a:lnSpc>
            </a:pPr>
            <a:r>
              <a:rPr sz="1300" b="1" i="0">
                <a:solidFill>
                  <a:srgbClr val="FFFFFF"/>
                </a:solidFill>
                <a:latin typeface="Space Grotesk"/>
              </a:rPr>
              <a:t>Alertes</a:t>
            </a:r>
          </a:p>
        </p:txBody>
      </p:sp>
      <p:sp>
        <p:nvSpPr>
          <p:cNvPr id="33" name="TextBox 32"/>
          <p:cNvSpPr txBox="1"/>
          <p:nvPr/>
        </p:nvSpPr>
        <p:spPr>
          <a:xfrm>
            <a:off x="4606442" y="5870448"/>
            <a:ext cx="2978810" cy="256032"/>
          </a:xfrm>
          <a:prstGeom prst="rect">
            <a:avLst/>
          </a:prstGeom>
          <a:noFill/>
        </p:spPr>
        <p:txBody>
          <a:bodyPr wrap="square" lIns="0" rIns="0" tIns="0" bIns="0" anchor="t">
            <a:spAutoFit/>
          </a:bodyPr>
          <a:lstStyle/>
          <a:p>
            <a:pPr algn="l">
              <a:lnSpc>
                <a:spcPct val="110000"/>
              </a:lnSpc>
            </a:pPr>
            <a:r>
              <a:rPr sz="1000" b="0" i="0">
                <a:solidFill>
                  <a:srgbClr val="7D8496"/>
                </a:solidFill>
                <a:latin typeface="Inter"/>
              </a:rPr>
              <a:t>Temps réel</a:t>
            </a:r>
          </a:p>
        </p:txBody>
      </p:sp>
      <p:sp>
        <p:nvSpPr>
          <p:cNvPr id="34" name="Rounded Rectangle 33"/>
          <p:cNvSpPr/>
          <p:nvPr/>
        </p:nvSpPr>
        <p:spPr>
          <a:xfrm>
            <a:off x="8024164" y="4471416"/>
            <a:ext cx="3527450" cy="1700784"/>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07044" y="4700016"/>
            <a:ext cx="3161690" cy="877824"/>
          </a:xfrm>
          <a:prstGeom prst="rect">
            <a:avLst/>
          </a:prstGeom>
          <a:solidFill>
            <a:srgbClr val="0A1230"/>
          </a:solidFill>
          <a:ln w="6350">
            <a:solidFill>
              <a:srgbClr val="1825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07044" y="4700016"/>
            <a:ext cx="3161690" cy="877824"/>
          </a:xfrm>
          <a:prstGeom prst="rect">
            <a:avLst/>
          </a:prstGeom>
          <a:noFill/>
        </p:spPr>
        <p:txBody>
          <a:bodyPr wrap="square" lIns="0" rIns="0" tIns="0" bIns="0" anchor="ctr">
            <a:spAutoFit/>
          </a:bodyPr>
          <a:lstStyle/>
          <a:p>
            <a:pPr algn="ctr">
              <a:lnSpc>
                <a:spcPct val="110000"/>
              </a:lnSpc>
            </a:pPr>
            <a:r>
              <a:rPr sz="1000" b="0" i="0">
                <a:solidFill>
                  <a:srgbClr val="3A3F4C"/>
                </a:solidFill>
                <a:latin typeface="JetBrains Mono"/>
              </a:rPr>
              <a:t>[ capture web ]</a:t>
            </a:r>
          </a:p>
        </p:txBody>
      </p:sp>
      <p:sp>
        <p:nvSpPr>
          <p:cNvPr id="37" name="TextBox 36"/>
          <p:cNvSpPr txBox="1"/>
          <p:nvPr/>
        </p:nvSpPr>
        <p:spPr>
          <a:xfrm>
            <a:off x="8298484" y="5605272"/>
            <a:ext cx="2978810" cy="274320"/>
          </a:xfrm>
          <a:prstGeom prst="rect">
            <a:avLst/>
          </a:prstGeom>
          <a:noFill/>
        </p:spPr>
        <p:txBody>
          <a:bodyPr wrap="square" lIns="0" rIns="0" tIns="0" bIns="0" anchor="t">
            <a:spAutoFit/>
          </a:bodyPr>
          <a:lstStyle/>
          <a:p>
            <a:pPr algn="l">
              <a:lnSpc>
                <a:spcPct val="110000"/>
              </a:lnSpc>
            </a:pPr>
            <a:r>
              <a:rPr sz="1300" b="1" i="0">
                <a:solidFill>
                  <a:srgbClr val="FFFFFF"/>
                </a:solidFill>
                <a:latin typeface="Space Grotesk"/>
              </a:rPr>
              <a:t>Fiabilité</a:t>
            </a:r>
          </a:p>
        </p:txBody>
      </p:sp>
      <p:sp>
        <p:nvSpPr>
          <p:cNvPr id="38" name="TextBox 37"/>
          <p:cNvSpPr txBox="1"/>
          <p:nvPr/>
        </p:nvSpPr>
        <p:spPr>
          <a:xfrm>
            <a:off x="8298484" y="5870448"/>
            <a:ext cx="2978810" cy="256032"/>
          </a:xfrm>
          <a:prstGeom prst="rect">
            <a:avLst/>
          </a:prstGeom>
          <a:noFill/>
        </p:spPr>
        <p:txBody>
          <a:bodyPr wrap="square" lIns="0" rIns="0" tIns="0" bIns="0" anchor="t">
            <a:spAutoFit/>
          </a:bodyPr>
          <a:lstStyle/>
          <a:p>
            <a:pPr algn="l">
              <a:lnSpc>
                <a:spcPct val="110000"/>
              </a:lnSpc>
            </a:pPr>
            <a:r>
              <a:rPr sz="1000" b="0" i="0">
                <a:solidFill>
                  <a:srgbClr val="7D8496"/>
                </a:solidFill>
                <a:latin typeface="Inter"/>
              </a:rPr>
              <a:t>Rapport PDF</a:t>
            </a:r>
          </a:p>
        </p:txBody>
      </p:sp>
      <p:sp>
        <p:nvSpPr>
          <p:cNvPr id="39" name="TextBox 38"/>
          <p:cNvSpPr txBox="1"/>
          <p:nvPr/>
        </p:nvSpPr>
        <p:spPr>
          <a:xfrm>
            <a:off x="640080" y="6537960"/>
            <a:ext cx="10911535" cy="228600"/>
          </a:xfrm>
          <a:prstGeom prst="rect">
            <a:avLst/>
          </a:prstGeom>
          <a:noFill/>
        </p:spPr>
        <p:txBody>
          <a:bodyPr wrap="square" lIns="0" rIns="0" tIns="0" bIns="0" anchor="t">
            <a:spAutoFit/>
          </a:bodyPr>
          <a:lstStyle/>
          <a:p>
            <a:pPr algn="l">
              <a:lnSpc>
                <a:spcPct val="110000"/>
              </a:lnSpc>
            </a:pPr>
            <a:r>
              <a:rPr sz="900" b="0" i="0" spc="120">
                <a:solidFill>
                  <a:srgbClr val="7D8496"/>
                </a:solidFill>
                <a:latin typeface="JetBrains Mono"/>
              </a:rPr>
              <a:t>komax-gmao.render.com</a:t>
            </a:r>
          </a:p>
        </p:txBody>
      </p:sp>
      <p:sp>
        <p:nvSpPr>
          <p:cNvPr id="40" name="TextBox 39"/>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04 · DÉVELOPPEMENT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APPLICATION MOBILE — TECHNICIEN TERRAIN</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Fonctionnalités mobile.</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Application Flutter pour les techniciens terrain.</a:t>
            </a:r>
          </a:p>
        </p:txBody>
      </p:sp>
      <p:sp>
        <p:nvSpPr>
          <p:cNvPr id="9" name="Rounded Rectangle 8"/>
          <p:cNvSpPr/>
          <p:nvPr/>
        </p:nvSpPr>
        <p:spPr>
          <a:xfrm>
            <a:off x="640080" y="2606040"/>
            <a:ext cx="7315200"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733141"/>
            <a:ext cx="548640" cy="365760"/>
          </a:xfrm>
          <a:prstGeom prst="rect">
            <a:avLst/>
          </a:prstGeom>
          <a:noFill/>
        </p:spPr>
        <p:txBody>
          <a:bodyPr wrap="square" lIns="0" rIns="0" tIns="0" bIns="0" anchor="ctr">
            <a:spAutoFit/>
          </a:bodyPr>
          <a:lstStyle/>
          <a:p>
            <a:pPr algn="l">
              <a:lnSpc>
                <a:spcPct val="110000"/>
              </a:lnSpc>
            </a:pPr>
            <a:r>
              <a:rPr sz="2000" b="1" i="0">
                <a:solidFill>
                  <a:srgbClr val="FF9548"/>
                </a:solidFill>
                <a:latin typeface="Space Grotesk"/>
              </a:rPr>
              <a:t>01</a:t>
            </a:r>
          </a:p>
        </p:txBody>
      </p:sp>
      <p:sp>
        <p:nvSpPr>
          <p:cNvPr id="11" name="TextBox 10"/>
          <p:cNvSpPr txBox="1"/>
          <p:nvPr/>
        </p:nvSpPr>
        <p:spPr>
          <a:xfrm>
            <a:off x="1508760" y="2606040"/>
            <a:ext cx="2926080" cy="619963"/>
          </a:xfrm>
          <a:prstGeom prst="rect">
            <a:avLst/>
          </a:prstGeom>
          <a:noFill/>
        </p:spPr>
        <p:txBody>
          <a:bodyPr wrap="square" lIns="0" rIns="0" tIns="0" bIns="0" anchor="ctr">
            <a:spAutoFit/>
          </a:bodyPr>
          <a:lstStyle/>
          <a:p>
            <a:pPr algn="l">
              <a:lnSpc>
                <a:spcPct val="110000"/>
              </a:lnSpc>
            </a:pPr>
            <a:r>
              <a:rPr sz="1400" b="1" i="0">
                <a:solidFill>
                  <a:srgbClr val="FFFFFF"/>
                </a:solidFill>
                <a:latin typeface="Space Grotesk"/>
              </a:rPr>
              <a:t>Connexion sécurisée</a:t>
            </a:r>
          </a:p>
        </p:txBody>
      </p:sp>
      <p:sp>
        <p:nvSpPr>
          <p:cNvPr id="12" name="TextBox 11"/>
          <p:cNvSpPr txBox="1"/>
          <p:nvPr/>
        </p:nvSpPr>
        <p:spPr>
          <a:xfrm>
            <a:off x="4480560" y="2606040"/>
            <a:ext cx="3291840" cy="619963"/>
          </a:xfrm>
          <a:prstGeom prst="rect">
            <a:avLst/>
          </a:prstGeom>
          <a:noFill/>
        </p:spPr>
        <p:txBody>
          <a:bodyPr wrap="square" lIns="0" rIns="0" tIns="0" bIns="0" anchor="ctr">
            <a:spAutoFit/>
          </a:bodyPr>
          <a:lstStyle/>
          <a:p>
            <a:pPr algn="l">
              <a:lnSpc>
                <a:spcPct val="110000"/>
              </a:lnSpc>
            </a:pPr>
            <a:r>
              <a:rPr sz="1100" b="0" i="0">
                <a:solidFill>
                  <a:srgbClr val="C9D0DC"/>
                </a:solidFill>
                <a:latin typeface="Inter"/>
              </a:rPr>
              <a:t>JWT · rôles Technicien et Chef de ligne</a:t>
            </a:r>
          </a:p>
        </p:txBody>
      </p:sp>
      <p:sp>
        <p:nvSpPr>
          <p:cNvPr id="13" name="Rounded Rectangle 12"/>
          <p:cNvSpPr/>
          <p:nvPr/>
        </p:nvSpPr>
        <p:spPr>
          <a:xfrm>
            <a:off x="640080" y="3354019"/>
            <a:ext cx="7315200"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481120"/>
            <a:ext cx="548640" cy="365760"/>
          </a:xfrm>
          <a:prstGeom prst="rect">
            <a:avLst/>
          </a:prstGeom>
          <a:noFill/>
        </p:spPr>
        <p:txBody>
          <a:bodyPr wrap="square" lIns="0" rIns="0" tIns="0" bIns="0" anchor="ctr">
            <a:spAutoFit/>
          </a:bodyPr>
          <a:lstStyle/>
          <a:p>
            <a:pPr algn="l">
              <a:lnSpc>
                <a:spcPct val="110000"/>
              </a:lnSpc>
            </a:pPr>
            <a:r>
              <a:rPr sz="2000" b="1" i="0">
                <a:solidFill>
                  <a:srgbClr val="FF9548"/>
                </a:solidFill>
                <a:latin typeface="Space Grotesk"/>
              </a:rPr>
              <a:t>02</a:t>
            </a:r>
          </a:p>
        </p:txBody>
      </p:sp>
      <p:sp>
        <p:nvSpPr>
          <p:cNvPr id="15" name="TextBox 14"/>
          <p:cNvSpPr txBox="1"/>
          <p:nvPr/>
        </p:nvSpPr>
        <p:spPr>
          <a:xfrm>
            <a:off x="1508760" y="3354019"/>
            <a:ext cx="2926080" cy="619963"/>
          </a:xfrm>
          <a:prstGeom prst="rect">
            <a:avLst/>
          </a:prstGeom>
          <a:noFill/>
        </p:spPr>
        <p:txBody>
          <a:bodyPr wrap="square" lIns="0" rIns="0" tIns="0" bIns="0" anchor="ctr">
            <a:spAutoFit/>
          </a:bodyPr>
          <a:lstStyle/>
          <a:p>
            <a:pPr algn="l">
              <a:lnSpc>
                <a:spcPct val="110000"/>
              </a:lnSpc>
            </a:pPr>
            <a:r>
              <a:rPr sz="1400" b="1" i="0">
                <a:solidFill>
                  <a:srgbClr val="FFFFFF"/>
                </a:solidFill>
                <a:latin typeface="Space Grotesk"/>
              </a:rPr>
              <a:t>Tableau de bord</a:t>
            </a:r>
          </a:p>
        </p:txBody>
      </p:sp>
      <p:sp>
        <p:nvSpPr>
          <p:cNvPr id="16" name="TextBox 15"/>
          <p:cNvSpPr txBox="1"/>
          <p:nvPr/>
        </p:nvSpPr>
        <p:spPr>
          <a:xfrm>
            <a:off x="4480560" y="3354019"/>
            <a:ext cx="3291840" cy="619963"/>
          </a:xfrm>
          <a:prstGeom prst="rect">
            <a:avLst/>
          </a:prstGeom>
          <a:noFill/>
        </p:spPr>
        <p:txBody>
          <a:bodyPr wrap="square" lIns="0" rIns="0" tIns="0" bIns="0" anchor="ctr">
            <a:spAutoFit/>
          </a:bodyPr>
          <a:lstStyle/>
          <a:p>
            <a:pPr algn="l">
              <a:lnSpc>
                <a:spcPct val="110000"/>
              </a:lnSpc>
            </a:pPr>
            <a:r>
              <a:rPr sz="1100" b="0" i="0">
                <a:solidFill>
                  <a:srgbClr val="C9D0DC"/>
                </a:solidFill>
                <a:latin typeface="Inter"/>
              </a:rPr>
              <a:t>Machines assignées · alertes récentes</a:t>
            </a:r>
          </a:p>
        </p:txBody>
      </p:sp>
      <p:sp>
        <p:nvSpPr>
          <p:cNvPr id="17" name="Rounded Rectangle 16"/>
          <p:cNvSpPr/>
          <p:nvPr/>
        </p:nvSpPr>
        <p:spPr>
          <a:xfrm>
            <a:off x="640080" y="4101998"/>
            <a:ext cx="7315200"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229100"/>
            <a:ext cx="548640" cy="365760"/>
          </a:xfrm>
          <a:prstGeom prst="rect">
            <a:avLst/>
          </a:prstGeom>
          <a:noFill/>
        </p:spPr>
        <p:txBody>
          <a:bodyPr wrap="square" lIns="0" rIns="0" tIns="0" bIns="0" anchor="ctr">
            <a:spAutoFit/>
          </a:bodyPr>
          <a:lstStyle/>
          <a:p>
            <a:pPr algn="l">
              <a:lnSpc>
                <a:spcPct val="110000"/>
              </a:lnSpc>
            </a:pPr>
            <a:r>
              <a:rPr sz="2000" b="1" i="0">
                <a:solidFill>
                  <a:srgbClr val="FF9548"/>
                </a:solidFill>
                <a:latin typeface="Space Grotesk"/>
              </a:rPr>
              <a:t>03</a:t>
            </a:r>
          </a:p>
        </p:txBody>
      </p:sp>
      <p:sp>
        <p:nvSpPr>
          <p:cNvPr id="19" name="TextBox 18"/>
          <p:cNvSpPr txBox="1"/>
          <p:nvPr/>
        </p:nvSpPr>
        <p:spPr>
          <a:xfrm>
            <a:off x="1508760" y="4101998"/>
            <a:ext cx="2926080" cy="619963"/>
          </a:xfrm>
          <a:prstGeom prst="rect">
            <a:avLst/>
          </a:prstGeom>
          <a:noFill/>
        </p:spPr>
        <p:txBody>
          <a:bodyPr wrap="square" lIns="0" rIns="0" tIns="0" bIns="0" anchor="ctr">
            <a:spAutoFit/>
          </a:bodyPr>
          <a:lstStyle/>
          <a:p>
            <a:pPr algn="l">
              <a:lnSpc>
                <a:spcPct val="110000"/>
              </a:lnSpc>
            </a:pPr>
            <a:r>
              <a:rPr sz="1400" b="1" i="0">
                <a:solidFill>
                  <a:srgbClr val="FFFFFF"/>
                </a:solidFill>
                <a:latin typeface="Space Grotesk"/>
              </a:rPr>
              <a:t>Interventions terrain</a:t>
            </a:r>
          </a:p>
        </p:txBody>
      </p:sp>
      <p:sp>
        <p:nvSpPr>
          <p:cNvPr id="20" name="TextBox 19"/>
          <p:cNvSpPr txBox="1"/>
          <p:nvPr/>
        </p:nvSpPr>
        <p:spPr>
          <a:xfrm>
            <a:off x="4480560" y="4101998"/>
            <a:ext cx="3291840" cy="619963"/>
          </a:xfrm>
          <a:prstGeom prst="rect">
            <a:avLst/>
          </a:prstGeom>
          <a:noFill/>
        </p:spPr>
        <p:txBody>
          <a:bodyPr wrap="square" lIns="0" rIns="0" tIns="0" bIns="0" anchor="ctr">
            <a:spAutoFit/>
          </a:bodyPr>
          <a:lstStyle/>
          <a:p>
            <a:pPr algn="l">
              <a:lnSpc>
                <a:spcPct val="110000"/>
              </a:lnSpc>
            </a:pPr>
            <a:r>
              <a:rPr sz="1100" b="0" i="0">
                <a:solidFill>
                  <a:srgbClr val="C9D0DC"/>
                </a:solidFill>
                <a:latin typeface="Inter"/>
              </a:rPr>
              <a:t>Créer · consulter · photo avant / après</a:t>
            </a:r>
          </a:p>
        </p:txBody>
      </p:sp>
      <p:sp>
        <p:nvSpPr>
          <p:cNvPr id="21" name="Rounded Rectangle 20"/>
          <p:cNvSpPr/>
          <p:nvPr/>
        </p:nvSpPr>
        <p:spPr>
          <a:xfrm>
            <a:off x="640080" y="4849977"/>
            <a:ext cx="7315200"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977079"/>
            <a:ext cx="548640" cy="365760"/>
          </a:xfrm>
          <a:prstGeom prst="rect">
            <a:avLst/>
          </a:prstGeom>
          <a:noFill/>
        </p:spPr>
        <p:txBody>
          <a:bodyPr wrap="square" lIns="0" rIns="0" tIns="0" bIns="0" anchor="ctr">
            <a:spAutoFit/>
          </a:bodyPr>
          <a:lstStyle/>
          <a:p>
            <a:pPr algn="l">
              <a:lnSpc>
                <a:spcPct val="110000"/>
              </a:lnSpc>
            </a:pPr>
            <a:r>
              <a:rPr sz="2000" b="1" i="0">
                <a:solidFill>
                  <a:srgbClr val="FF9548"/>
                </a:solidFill>
                <a:latin typeface="Space Grotesk"/>
              </a:rPr>
              <a:t>04</a:t>
            </a:r>
          </a:p>
        </p:txBody>
      </p:sp>
      <p:sp>
        <p:nvSpPr>
          <p:cNvPr id="23" name="TextBox 22"/>
          <p:cNvSpPr txBox="1"/>
          <p:nvPr/>
        </p:nvSpPr>
        <p:spPr>
          <a:xfrm>
            <a:off x="1508760" y="4849977"/>
            <a:ext cx="2926080" cy="619963"/>
          </a:xfrm>
          <a:prstGeom prst="rect">
            <a:avLst/>
          </a:prstGeom>
          <a:noFill/>
        </p:spPr>
        <p:txBody>
          <a:bodyPr wrap="square" lIns="0" rIns="0" tIns="0" bIns="0" anchor="ctr">
            <a:spAutoFit/>
          </a:bodyPr>
          <a:lstStyle/>
          <a:p>
            <a:pPr algn="l">
              <a:lnSpc>
                <a:spcPct val="110000"/>
              </a:lnSpc>
            </a:pPr>
            <a:r>
              <a:rPr sz="1400" b="1" i="0">
                <a:solidFill>
                  <a:srgbClr val="FFFFFF"/>
                </a:solidFill>
                <a:latin typeface="Space Grotesk"/>
              </a:rPr>
              <a:t>Checklist journalière</a:t>
            </a:r>
          </a:p>
        </p:txBody>
      </p:sp>
      <p:sp>
        <p:nvSpPr>
          <p:cNvPr id="24" name="TextBox 23"/>
          <p:cNvSpPr txBox="1"/>
          <p:nvPr/>
        </p:nvSpPr>
        <p:spPr>
          <a:xfrm>
            <a:off x="4480560" y="4849977"/>
            <a:ext cx="3291840" cy="619963"/>
          </a:xfrm>
          <a:prstGeom prst="rect">
            <a:avLst/>
          </a:prstGeom>
          <a:noFill/>
        </p:spPr>
        <p:txBody>
          <a:bodyPr wrap="square" lIns="0" rIns="0" tIns="0" bIns="0" anchor="ctr">
            <a:spAutoFit/>
          </a:bodyPr>
          <a:lstStyle/>
          <a:p>
            <a:pPr algn="l">
              <a:lnSpc>
                <a:spcPct val="110000"/>
              </a:lnSpc>
            </a:pPr>
            <a:r>
              <a:rPr sz="1100" b="0" i="0">
                <a:solidFill>
                  <a:srgbClr val="C9D0DC"/>
                </a:solidFill>
                <a:latin typeface="Inter"/>
              </a:rPr>
              <a:t>Contrôle quotidien · photo OK / NOK</a:t>
            </a:r>
          </a:p>
        </p:txBody>
      </p:sp>
      <p:sp>
        <p:nvSpPr>
          <p:cNvPr id="25" name="Rounded Rectangle 24"/>
          <p:cNvSpPr/>
          <p:nvPr/>
        </p:nvSpPr>
        <p:spPr>
          <a:xfrm>
            <a:off x="640080" y="5597956"/>
            <a:ext cx="7315200" cy="619963"/>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725058"/>
            <a:ext cx="548640" cy="365760"/>
          </a:xfrm>
          <a:prstGeom prst="rect">
            <a:avLst/>
          </a:prstGeom>
          <a:noFill/>
        </p:spPr>
        <p:txBody>
          <a:bodyPr wrap="square" lIns="0" rIns="0" tIns="0" bIns="0" anchor="ctr">
            <a:spAutoFit/>
          </a:bodyPr>
          <a:lstStyle/>
          <a:p>
            <a:pPr algn="l">
              <a:lnSpc>
                <a:spcPct val="110000"/>
              </a:lnSpc>
            </a:pPr>
            <a:r>
              <a:rPr sz="2000" b="1" i="0">
                <a:solidFill>
                  <a:srgbClr val="FF9548"/>
                </a:solidFill>
                <a:latin typeface="Space Grotesk"/>
              </a:rPr>
              <a:t>05</a:t>
            </a:r>
          </a:p>
        </p:txBody>
      </p:sp>
      <p:sp>
        <p:nvSpPr>
          <p:cNvPr id="27" name="TextBox 26"/>
          <p:cNvSpPr txBox="1"/>
          <p:nvPr/>
        </p:nvSpPr>
        <p:spPr>
          <a:xfrm>
            <a:off x="1508760" y="5597956"/>
            <a:ext cx="2926080" cy="619963"/>
          </a:xfrm>
          <a:prstGeom prst="rect">
            <a:avLst/>
          </a:prstGeom>
          <a:noFill/>
        </p:spPr>
        <p:txBody>
          <a:bodyPr wrap="square" lIns="0" rIns="0" tIns="0" bIns="0" anchor="ctr">
            <a:spAutoFit/>
          </a:bodyPr>
          <a:lstStyle/>
          <a:p>
            <a:pPr algn="l">
              <a:lnSpc>
                <a:spcPct val="110000"/>
              </a:lnSpc>
            </a:pPr>
            <a:r>
              <a:rPr sz="1400" b="1" i="0">
                <a:solidFill>
                  <a:srgbClr val="FFFFFF"/>
                </a:solidFill>
                <a:latin typeface="Space Grotesk"/>
              </a:rPr>
              <a:t>Notifications push</a:t>
            </a:r>
          </a:p>
        </p:txBody>
      </p:sp>
      <p:sp>
        <p:nvSpPr>
          <p:cNvPr id="28" name="TextBox 27"/>
          <p:cNvSpPr txBox="1"/>
          <p:nvPr/>
        </p:nvSpPr>
        <p:spPr>
          <a:xfrm>
            <a:off x="4480560" y="5597956"/>
            <a:ext cx="3291840" cy="619963"/>
          </a:xfrm>
          <a:prstGeom prst="rect">
            <a:avLst/>
          </a:prstGeom>
          <a:noFill/>
        </p:spPr>
        <p:txBody>
          <a:bodyPr wrap="square" lIns="0" rIns="0" tIns="0" bIns="0" anchor="ctr">
            <a:spAutoFit/>
          </a:bodyPr>
          <a:lstStyle/>
          <a:p>
            <a:pPr algn="l">
              <a:lnSpc>
                <a:spcPct val="110000"/>
              </a:lnSpc>
            </a:pPr>
            <a:r>
              <a:rPr sz="1100" b="0" i="0">
                <a:solidFill>
                  <a:srgbClr val="C9D0DC"/>
                </a:solidFill>
                <a:latin typeface="Inter"/>
              </a:rPr>
              <a:t>Firebase · alertes IA temps réel</a:t>
            </a:r>
          </a:p>
        </p:txBody>
      </p:sp>
      <p:sp>
        <p:nvSpPr>
          <p:cNvPr id="29" name="Rounded Rectangle 28"/>
          <p:cNvSpPr/>
          <p:nvPr/>
        </p:nvSpPr>
        <p:spPr>
          <a:xfrm>
            <a:off x="8229600" y="2606040"/>
            <a:ext cx="3322015" cy="3611880"/>
          </a:xfrm>
          <a:prstGeom prst="roundRect">
            <a:avLst>
              <a:gd name="adj" fmla="val 6000"/>
            </a:avLst>
          </a:prstGeom>
          <a:solidFill>
            <a:srgbClr val="101A45">
              <a:alpha val="18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595360" y="3246120"/>
            <a:ext cx="2590495" cy="2331720"/>
          </a:xfrm>
          <a:prstGeom prst="roundRect">
            <a:avLst>
              <a:gd name="adj" fmla="val 12000"/>
            </a:avLst>
          </a:prstGeom>
          <a:solidFill>
            <a:srgbClr val="0A1230"/>
          </a:solidFill>
          <a:ln w="19050">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0" y="3246120"/>
            <a:ext cx="2590495" cy="2331720"/>
          </a:xfrm>
          <a:prstGeom prst="rect">
            <a:avLst/>
          </a:prstGeom>
          <a:noFill/>
        </p:spPr>
        <p:txBody>
          <a:bodyPr wrap="square" lIns="0" rIns="0" tIns="0" bIns="0" anchor="ctr">
            <a:spAutoFit/>
          </a:bodyPr>
          <a:lstStyle/>
          <a:p>
            <a:pPr algn="ctr">
              <a:lnSpc>
                <a:spcPct val="110000"/>
              </a:lnSpc>
            </a:pPr>
            <a:r>
              <a:rPr sz="1200" b="0" i="0">
                <a:solidFill>
                  <a:srgbClr val="4ECDC4"/>
                </a:solidFill>
                <a:latin typeface="JetBrains Mono"/>
              </a:rPr>
              <a:t>[ Flutter ]</a:t>
            </a:r>
          </a:p>
        </p:txBody>
      </p:sp>
      <p:sp>
        <p:nvSpPr>
          <p:cNvPr id="32" name="TextBox 31"/>
          <p:cNvSpPr txBox="1"/>
          <p:nvPr/>
        </p:nvSpPr>
        <p:spPr>
          <a:xfrm>
            <a:off x="8229600" y="5760720"/>
            <a:ext cx="3322015" cy="320040"/>
          </a:xfrm>
          <a:prstGeom prst="rect">
            <a:avLst/>
          </a:prstGeom>
          <a:noFill/>
        </p:spPr>
        <p:txBody>
          <a:bodyPr wrap="square" lIns="0" rIns="0" tIns="0" bIns="0" anchor="t">
            <a:spAutoFit/>
          </a:bodyPr>
          <a:lstStyle/>
          <a:p>
            <a:pPr algn="ctr">
              <a:lnSpc>
                <a:spcPct val="110000"/>
              </a:lnSpc>
            </a:pPr>
            <a:r>
              <a:rPr sz="1000" b="1" i="0" spc="180">
                <a:solidFill>
                  <a:srgbClr val="4ECDC4"/>
                </a:solidFill>
                <a:latin typeface="JetBrains Mono"/>
              </a:rPr>
              <a:t>FLUTTER · ANDROID</a:t>
            </a:r>
          </a:p>
        </p:txBody>
      </p:sp>
      <p:sp>
        <p:nvSpPr>
          <p:cNvPr id="33" name="TextBox 32"/>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04 · DÉVELOPPEMENT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APPLICATION MOBILE — INTERFACES</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Terrain, dans la poche.</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Le technicien reçoit une alerte en 60 secondes.</a:t>
            </a:r>
          </a:p>
        </p:txBody>
      </p:sp>
      <p:sp>
        <p:nvSpPr>
          <p:cNvPr id="9" name="Rounded Rectangle 8"/>
          <p:cNvSpPr/>
          <p:nvPr/>
        </p:nvSpPr>
        <p:spPr>
          <a:xfrm>
            <a:off x="640080" y="2651760"/>
            <a:ext cx="2556433" cy="3383280"/>
          </a:xfrm>
          <a:prstGeom prst="roundRect">
            <a:avLst>
              <a:gd name="adj" fmla="val 6000"/>
            </a:avLst>
          </a:prstGeom>
          <a:solidFill>
            <a:srgbClr val="101A45">
              <a:alpha val="18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3017520"/>
            <a:ext cx="2007793" cy="2286000"/>
          </a:xfrm>
          <a:prstGeom prst="roundRect">
            <a:avLst>
              <a:gd name="adj" fmla="val 10000"/>
            </a:avLst>
          </a:prstGeom>
          <a:solidFill>
            <a:srgbClr val="050B1E"/>
          </a:solidFill>
          <a:ln w="12700">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017520"/>
            <a:ext cx="2007793" cy="2286000"/>
          </a:xfrm>
          <a:prstGeom prst="rect">
            <a:avLst/>
          </a:prstGeom>
          <a:noFill/>
        </p:spPr>
        <p:txBody>
          <a:bodyPr wrap="square" lIns="0" rIns="0" tIns="0" bIns="0" anchor="ctr">
            <a:spAutoFit/>
          </a:bodyPr>
          <a:lstStyle/>
          <a:p>
            <a:pPr algn="ctr">
              <a:lnSpc>
                <a:spcPct val="110000"/>
              </a:lnSpc>
            </a:pPr>
            <a:r>
              <a:rPr sz="1000" b="0" i="0">
                <a:solidFill>
                  <a:srgbClr val="3A3F4C"/>
                </a:solidFill>
                <a:latin typeface="JetBrains Mono"/>
              </a:rPr>
              <a:t>[ capture ]</a:t>
            </a:r>
          </a:p>
        </p:txBody>
      </p:sp>
      <p:sp>
        <p:nvSpPr>
          <p:cNvPr id="12" name="TextBox 11"/>
          <p:cNvSpPr txBox="1"/>
          <p:nvPr/>
        </p:nvSpPr>
        <p:spPr>
          <a:xfrm>
            <a:off x="640080" y="5376672"/>
            <a:ext cx="2556433" cy="320040"/>
          </a:xfrm>
          <a:prstGeom prst="rect">
            <a:avLst/>
          </a:prstGeom>
          <a:noFill/>
        </p:spPr>
        <p:txBody>
          <a:bodyPr wrap="square" lIns="0" rIns="0" tIns="0" bIns="0" anchor="t">
            <a:spAutoFit/>
          </a:bodyPr>
          <a:lstStyle/>
          <a:p>
            <a:pPr algn="ctr">
              <a:lnSpc>
                <a:spcPct val="110000"/>
              </a:lnSpc>
            </a:pPr>
            <a:r>
              <a:rPr sz="1300" b="1" i="0">
                <a:solidFill>
                  <a:srgbClr val="FFFFFF"/>
                </a:solidFill>
                <a:latin typeface="Space Grotesk"/>
              </a:rPr>
              <a:t>Tableau de bord</a:t>
            </a:r>
          </a:p>
        </p:txBody>
      </p:sp>
      <p:sp>
        <p:nvSpPr>
          <p:cNvPr id="13" name="TextBox 12"/>
          <p:cNvSpPr txBox="1"/>
          <p:nvPr/>
        </p:nvSpPr>
        <p:spPr>
          <a:xfrm>
            <a:off x="640080" y="5669280"/>
            <a:ext cx="2556433" cy="274320"/>
          </a:xfrm>
          <a:prstGeom prst="rect">
            <a:avLst/>
          </a:prstGeom>
          <a:noFill/>
        </p:spPr>
        <p:txBody>
          <a:bodyPr wrap="square" lIns="0" rIns="0" tIns="0" bIns="0" anchor="t">
            <a:spAutoFit/>
          </a:bodyPr>
          <a:lstStyle/>
          <a:p>
            <a:pPr algn="ctr">
              <a:lnSpc>
                <a:spcPct val="110000"/>
              </a:lnSpc>
            </a:pPr>
            <a:r>
              <a:rPr sz="1000" b="0" i="0">
                <a:solidFill>
                  <a:srgbClr val="7D8496"/>
                </a:solidFill>
                <a:latin typeface="Inter"/>
              </a:rPr>
              <a:t>Vue synthétique</a:t>
            </a:r>
          </a:p>
        </p:txBody>
      </p:sp>
      <p:sp>
        <p:nvSpPr>
          <p:cNvPr id="14" name="Rounded Rectangle 13"/>
          <p:cNvSpPr/>
          <p:nvPr/>
        </p:nvSpPr>
        <p:spPr>
          <a:xfrm>
            <a:off x="3425113" y="2651760"/>
            <a:ext cx="2556433" cy="3383280"/>
          </a:xfrm>
          <a:prstGeom prst="roundRect">
            <a:avLst>
              <a:gd name="adj" fmla="val 6000"/>
            </a:avLst>
          </a:prstGeom>
          <a:solidFill>
            <a:srgbClr val="101A45">
              <a:alpha val="18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99433" y="3017520"/>
            <a:ext cx="2007793" cy="2286000"/>
          </a:xfrm>
          <a:prstGeom prst="roundRect">
            <a:avLst>
              <a:gd name="adj" fmla="val 10000"/>
            </a:avLst>
          </a:prstGeom>
          <a:solidFill>
            <a:srgbClr val="050B1E"/>
          </a:solidFill>
          <a:ln w="12700">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99433" y="3017520"/>
            <a:ext cx="2007793" cy="2286000"/>
          </a:xfrm>
          <a:prstGeom prst="rect">
            <a:avLst/>
          </a:prstGeom>
          <a:noFill/>
        </p:spPr>
        <p:txBody>
          <a:bodyPr wrap="square" lIns="0" rIns="0" tIns="0" bIns="0" anchor="ctr">
            <a:spAutoFit/>
          </a:bodyPr>
          <a:lstStyle/>
          <a:p>
            <a:pPr algn="ctr">
              <a:lnSpc>
                <a:spcPct val="110000"/>
              </a:lnSpc>
            </a:pPr>
            <a:r>
              <a:rPr sz="1000" b="0" i="0">
                <a:solidFill>
                  <a:srgbClr val="3A3F4C"/>
                </a:solidFill>
                <a:latin typeface="JetBrains Mono"/>
              </a:rPr>
              <a:t>[ capture ]</a:t>
            </a:r>
          </a:p>
        </p:txBody>
      </p:sp>
      <p:sp>
        <p:nvSpPr>
          <p:cNvPr id="17" name="TextBox 16"/>
          <p:cNvSpPr txBox="1"/>
          <p:nvPr/>
        </p:nvSpPr>
        <p:spPr>
          <a:xfrm>
            <a:off x="3425113" y="5376672"/>
            <a:ext cx="2556433" cy="320040"/>
          </a:xfrm>
          <a:prstGeom prst="rect">
            <a:avLst/>
          </a:prstGeom>
          <a:noFill/>
        </p:spPr>
        <p:txBody>
          <a:bodyPr wrap="square" lIns="0" rIns="0" tIns="0" bIns="0" anchor="t">
            <a:spAutoFit/>
          </a:bodyPr>
          <a:lstStyle/>
          <a:p>
            <a:pPr algn="ctr">
              <a:lnSpc>
                <a:spcPct val="110000"/>
              </a:lnSpc>
            </a:pPr>
            <a:r>
              <a:rPr sz="1300" b="1" i="0">
                <a:solidFill>
                  <a:srgbClr val="FFFFFF"/>
                </a:solidFill>
                <a:latin typeface="Space Grotesk"/>
              </a:rPr>
              <a:t>Interventions</a:t>
            </a:r>
          </a:p>
        </p:txBody>
      </p:sp>
      <p:sp>
        <p:nvSpPr>
          <p:cNvPr id="18" name="TextBox 17"/>
          <p:cNvSpPr txBox="1"/>
          <p:nvPr/>
        </p:nvSpPr>
        <p:spPr>
          <a:xfrm>
            <a:off x="3425113" y="5669280"/>
            <a:ext cx="2556433" cy="274320"/>
          </a:xfrm>
          <a:prstGeom prst="rect">
            <a:avLst/>
          </a:prstGeom>
          <a:noFill/>
        </p:spPr>
        <p:txBody>
          <a:bodyPr wrap="square" lIns="0" rIns="0" tIns="0" bIns="0" anchor="t">
            <a:spAutoFit/>
          </a:bodyPr>
          <a:lstStyle/>
          <a:p>
            <a:pPr algn="ctr">
              <a:lnSpc>
                <a:spcPct val="110000"/>
              </a:lnSpc>
            </a:pPr>
            <a:r>
              <a:rPr sz="1000" b="0" i="0">
                <a:solidFill>
                  <a:srgbClr val="7D8496"/>
                </a:solidFill>
                <a:latin typeface="Inter"/>
              </a:rPr>
              <a:t>Créer / consulter</a:t>
            </a:r>
          </a:p>
        </p:txBody>
      </p:sp>
      <p:sp>
        <p:nvSpPr>
          <p:cNvPr id="19" name="Rounded Rectangle 18"/>
          <p:cNvSpPr/>
          <p:nvPr/>
        </p:nvSpPr>
        <p:spPr>
          <a:xfrm>
            <a:off x="6210147" y="2651760"/>
            <a:ext cx="2556433" cy="3383280"/>
          </a:xfrm>
          <a:prstGeom prst="roundRect">
            <a:avLst>
              <a:gd name="adj" fmla="val 6000"/>
            </a:avLst>
          </a:prstGeom>
          <a:solidFill>
            <a:srgbClr val="101A45">
              <a:alpha val="18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84467" y="3017520"/>
            <a:ext cx="2007793" cy="2286000"/>
          </a:xfrm>
          <a:prstGeom prst="roundRect">
            <a:avLst>
              <a:gd name="adj" fmla="val 10000"/>
            </a:avLst>
          </a:prstGeom>
          <a:solidFill>
            <a:srgbClr val="050B1E"/>
          </a:solidFill>
          <a:ln w="12700">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4467" y="3017520"/>
            <a:ext cx="2007793" cy="2286000"/>
          </a:xfrm>
          <a:prstGeom prst="rect">
            <a:avLst/>
          </a:prstGeom>
          <a:noFill/>
        </p:spPr>
        <p:txBody>
          <a:bodyPr wrap="square" lIns="0" rIns="0" tIns="0" bIns="0" anchor="ctr">
            <a:spAutoFit/>
          </a:bodyPr>
          <a:lstStyle/>
          <a:p>
            <a:pPr algn="ctr">
              <a:lnSpc>
                <a:spcPct val="110000"/>
              </a:lnSpc>
            </a:pPr>
            <a:r>
              <a:rPr sz="1000" b="0" i="0">
                <a:solidFill>
                  <a:srgbClr val="3A3F4C"/>
                </a:solidFill>
                <a:latin typeface="JetBrains Mono"/>
              </a:rPr>
              <a:t>[ capture ]</a:t>
            </a:r>
          </a:p>
        </p:txBody>
      </p:sp>
      <p:sp>
        <p:nvSpPr>
          <p:cNvPr id="22" name="TextBox 21"/>
          <p:cNvSpPr txBox="1"/>
          <p:nvPr/>
        </p:nvSpPr>
        <p:spPr>
          <a:xfrm>
            <a:off x="6210147" y="5376672"/>
            <a:ext cx="2556433" cy="320040"/>
          </a:xfrm>
          <a:prstGeom prst="rect">
            <a:avLst/>
          </a:prstGeom>
          <a:noFill/>
        </p:spPr>
        <p:txBody>
          <a:bodyPr wrap="square" lIns="0" rIns="0" tIns="0" bIns="0" anchor="t">
            <a:spAutoFit/>
          </a:bodyPr>
          <a:lstStyle/>
          <a:p>
            <a:pPr algn="ctr">
              <a:lnSpc>
                <a:spcPct val="110000"/>
              </a:lnSpc>
            </a:pPr>
            <a:r>
              <a:rPr sz="1300" b="1" i="0">
                <a:solidFill>
                  <a:srgbClr val="FFFFFF"/>
                </a:solidFill>
                <a:latin typeface="Space Grotesk"/>
              </a:rPr>
              <a:t>Alertes push</a:t>
            </a:r>
          </a:p>
        </p:txBody>
      </p:sp>
      <p:sp>
        <p:nvSpPr>
          <p:cNvPr id="23" name="TextBox 22"/>
          <p:cNvSpPr txBox="1"/>
          <p:nvPr/>
        </p:nvSpPr>
        <p:spPr>
          <a:xfrm>
            <a:off x="6210147" y="5669280"/>
            <a:ext cx="2556433" cy="274320"/>
          </a:xfrm>
          <a:prstGeom prst="rect">
            <a:avLst/>
          </a:prstGeom>
          <a:noFill/>
        </p:spPr>
        <p:txBody>
          <a:bodyPr wrap="square" lIns="0" rIns="0" tIns="0" bIns="0" anchor="t">
            <a:spAutoFit/>
          </a:bodyPr>
          <a:lstStyle/>
          <a:p>
            <a:pPr algn="ctr">
              <a:lnSpc>
                <a:spcPct val="110000"/>
              </a:lnSpc>
            </a:pPr>
            <a:r>
              <a:rPr sz="1000" b="0" i="0">
                <a:solidFill>
                  <a:srgbClr val="7D8496"/>
                </a:solidFill>
                <a:latin typeface="Inter"/>
              </a:rPr>
              <a:t>Temps réel</a:t>
            </a:r>
          </a:p>
        </p:txBody>
      </p:sp>
      <p:sp>
        <p:nvSpPr>
          <p:cNvPr id="24" name="Rounded Rectangle 23"/>
          <p:cNvSpPr/>
          <p:nvPr/>
        </p:nvSpPr>
        <p:spPr>
          <a:xfrm>
            <a:off x="8995181" y="2651760"/>
            <a:ext cx="2556433" cy="3383280"/>
          </a:xfrm>
          <a:prstGeom prst="roundRect">
            <a:avLst>
              <a:gd name="adj" fmla="val 6000"/>
            </a:avLst>
          </a:prstGeom>
          <a:solidFill>
            <a:srgbClr val="101A45">
              <a:alpha val="18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269501" y="3017520"/>
            <a:ext cx="2007793" cy="2286000"/>
          </a:xfrm>
          <a:prstGeom prst="roundRect">
            <a:avLst>
              <a:gd name="adj" fmla="val 10000"/>
            </a:avLst>
          </a:prstGeom>
          <a:solidFill>
            <a:srgbClr val="050B1E"/>
          </a:solidFill>
          <a:ln w="12700">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69501" y="3017520"/>
            <a:ext cx="2007793" cy="2286000"/>
          </a:xfrm>
          <a:prstGeom prst="rect">
            <a:avLst/>
          </a:prstGeom>
          <a:noFill/>
        </p:spPr>
        <p:txBody>
          <a:bodyPr wrap="square" lIns="0" rIns="0" tIns="0" bIns="0" anchor="ctr">
            <a:spAutoFit/>
          </a:bodyPr>
          <a:lstStyle/>
          <a:p>
            <a:pPr algn="ctr">
              <a:lnSpc>
                <a:spcPct val="110000"/>
              </a:lnSpc>
            </a:pPr>
            <a:r>
              <a:rPr sz="1000" b="0" i="0">
                <a:solidFill>
                  <a:srgbClr val="3A3F4C"/>
                </a:solidFill>
                <a:latin typeface="JetBrains Mono"/>
              </a:rPr>
              <a:t>[ capture ]</a:t>
            </a:r>
          </a:p>
        </p:txBody>
      </p:sp>
      <p:sp>
        <p:nvSpPr>
          <p:cNvPr id="27" name="TextBox 26"/>
          <p:cNvSpPr txBox="1"/>
          <p:nvPr/>
        </p:nvSpPr>
        <p:spPr>
          <a:xfrm>
            <a:off x="8995181" y="5376672"/>
            <a:ext cx="2556433" cy="320040"/>
          </a:xfrm>
          <a:prstGeom prst="rect">
            <a:avLst/>
          </a:prstGeom>
          <a:noFill/>
        </p:spPr>
        <p:txBody>
          <a:bodyPr wrap="square" lIns="0" rIns="0" tIns="0" bIns="0" anchor="t">
            <a:spAutoFit/>
          </a:bodyPr>
          <a:lstStyle/>
          <a:p>
            <a:pPr algn="ctr">
              <a:lnSpc>
                <a:spcPct val="110000"/>
              </a:lnSpc>
            </a:pPr>
            <a:r>
              <a:rPr sz="1300" b="1" i="0">
                <a:solidFill>
                  <a:srgbClr val="FFFFFF"/>
                </a:solidFill>
                <a:latin typeface="Space Grotesk"/>
              </a:rPr>
              <a:t>Checklists</a:t>
            </a:r>
          </a:p>
        </p:txBody>
      </p:sp>
      <p:sp>
        <p:nvSpPr>
          <p:cNvPr id="28" name="TextBox 27"/>
          <p:cNvSpPr txBox="1"/>
          <p:nvPr/>
        </p:nvSpPr>
        <p:spPr>
          <a:xfrm>
            <a:off x="8995181" y="5669280"/>
            <a:ext cx="2556433" cy="274320"/>
          </a:xfrm>
          <a:prstGeom prst="rect">
            <a:avLst/>
          </a:prstGeom>
          <a:noFill/>
        </p:spPr>
        <p:txBody>
          <a:bodyPr wrap="square" lIns="0" rIns="0" tIns="0" bIns="0" anchor="t">
            <a:spAutoFit/>
          </a:bodyPr>
          <a:lstStyle/>
          <a:p>
            <a:pPr algn="ctr">
              <a:lnSpc>
                <a:spcPct val="110000"/>
              </a:lnSpc>
            </a:pPr>
            <a:r>
              <a:rPr sz="1000" b="0" i="0">
                <a:solidFill>
                  <a:srgbClr val="7D8496"/>
                </a:solidFill>
                <a:latin typeface="Inter"/>
              </a:rPr>
              <a:t>Preuve photo OK/NOK</a:t>
            </a:r>
          </a:p>
        </p:txBody>
      </p:sp>
      <p:sp>
        <p:nvSpPr>
          <p:cNvPr id="29" name="TextBox 28"/>
          <p:cNvSpPr txBox="1"/>
          <p:nvPr/>
        </p:nvSpPr>
        <p:spPr>
          <a:xfrm>
            <a:off x="640080" y="6537960"/>
            <a:ext cx="10911535" cy="228600"/>
          </a:xfrm>
          <a:prstGeom prst="rect">
            <a:avLst/>
          </a:prstGeom>
          <a:noFill/>
        </p:spPr>
        <p:txBody>
          <a:bodyPr wrap="square" lIns="0" rIns="0" tIns="0" bIns="0" anchor="t">
            <a:spAutoFit/>
          </a:bodyPr>
          <a:lstStyle/>
          <a:p>
            <a:pPr algn="l">
              <a:lnSpc>
                <a:spcPct val="110000"/>
              </a:lnSpc>
            </a:pPr>
            <a:r>
              <a:rPr sz="900" b="0" i="0" spc="120">
                <a:solidFill>
                  <a:srgbClr val="7D8496"/>
                </a:solidFill>
                <a:latin typeface="JetBrains Mono"/>
              </a:rPr>
              <a:t>Flutter · Android · Firebase (push)   ·   Preuve photo OK/NOK   ·   Brouillon hors-ligne</a:t>
            </a:r>
          </a:p>
        </p:txBody>
      </p:sp>
      <p:sp>
        <p:nvSpPr>
          <p:cNvPr id="30" name="TextBox 29"/>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27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04 · DÉVELOPPEMENT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MODULE FIABILITÉ</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Analyse de fiabilité.</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Régression linéaire · rapport PDF généré automatiquement.</a:t>
            </a:r>
          </a:p>
        </p:txBody>
      </p:sp>
      <p:sp>
        <p:nvSpPr>
          <p:cNvPr id="9" name="Rounded Rectangle 8"/>
          <p:cNvSpPr/>
          <p:nvPr/>
        </p:nvSpPr>
        <p:spPr>
          <a:xfrm>
            <a:off x="640080" y="2651760"/>
            <a:ext cx="5295747" cy="356616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88720" y="3017520"/>
            <a:ext cx="4198467" cy="2834640"/>
          </a:xfrm>
          <a:prstGeom prst="rect">
            <a:avLst/>
          </a:prstGeom>
          <a:solidFill>
            <a:srgbClr val="0A1230"/>
          </a:solidFill>
          <a:ln w="12700">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017520"/>
            <a:ext cx="4198467" cy="2834640"/>
          </a:xfrm>
          <a:prstGeom prst="rect">
            <a:avLst/>
          </a:prstGeom>
          <a:noFill/>
        </p:spPr>
        <p:txBody>
          <a:bodyPr wrap="square" lIns="0" rIns="0" tIns="0" bIns="0" anchor="ctr">
            <a:spAutoFit/>
          </a:bodyPr>
          <a:lstStyle/>
          <a:p>
            <a:pPr algn="ctr">
              <a:lnSpc>
                <a:spcPct val="110000"/>
              </a:lnSpc>
            </a:pPr>
            <a:r>
              <a:rPr sz="1200" b="0" i="0">
                <a:solidFill>
                  <a:srgbClr val="7D8496"/>
                </a:solidFill>
                <a:latin typeface="JetBrains Mono"/>
              </a:rPr>
              <a:t>[ Rapport PDF fiabilité ]</a:t>
            </a:r>
          </a:p>
        </p:txBody>
      </p:sp>
      <p:sp>
        <p:nvSpPr>
          <p:cNvPr id="12" name="Rounded Rectangle 11"/>
          <p:cNvSpPr/>
          <p:nvPr/>
        </p:nvSpPr>
        <p:spPr>
          <a:xfrm>
            <a:off x="6255867" y="2651760"/>
            <a:ext cx="5295747" cy="3566160"/>
          </a:xfrm>
          <a:prstGeom prst="roundRect">
            <a:avLst>
              <a:gd name="adj" fmla="val 6000"/>
            </a:avLst>
          </a:prstGeom>
          <a:solidFill>
            <a:srgbClr val="101A45">
              <a:alpha val="18000"/>
            </a:srgbClr>
          </a:solidFill>
          <a:ln w="9525">
            <a:solidFill>
              <a:srgbClr val="4EC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0187" y="2926080"/>
            <a:ext cx="4747107" cy="365760"/>
          </a:xfrm>
          <a:prstGeom prst="rect">
            <a:avLst/>
          </a:prstGeom>
          <a:noFill/>
        </p:spPr>
        <p:txBody>
          <a:bodyPr wrap="square" lIns="0" rIns="0" tIns="0" bIns="0" anchor="t">
            <a:spAutoFit/>
          </a:bodyPr>
          <a:lstStyle/>
          <a:p>
            <a:pPr algn="l">
              <a:lnSpc>
                <a:spcPct val="110000"/>
              </a:lnSpc>
            </a:pPr>
            <a:r>
              <a:rPr sz="1000" b="1" i="0" spc="200">
                <a:solidFill>
                  <a:srgbClr val="4ECDC4"/>
                </a:solidFill>
                <a:latin typeface="JetBrains Mono"/>
              </a:rPr>
              <a:t>CONTENU DU RAPPORT</a:t>
            </a:r>
          </a:p>
        </p:txBody>
      </p:sp>
      <p:sp>
        <p:nvSpPr>
          <p:cNvPr id="14" name="TextBox 13"/>
          <p:cNvSpPr txBox="1"/>
          <p:nvPr/>
        </p:nvSpPr>
        <p:spPr>
          <a:xfrm>
            <a:off x="6530187" y="3520440"/>
            <a:ext cx="457200" cy="502920"/>
          </a:xfrm>
          <a:prstGeom prst="rect">
            <a:avLst/>
          </a:prstGeom>
          <a:noFill/>
        </p:spPr>
        <p:txBody>
          <a:bodyPr wrap="square" lIns="0" rIns="0" tIns="0" bIns="0" anchor="ctr">
            <a:spAutoFit/>
          </a:bodyPr>
          <a:lstStyle/>
          <a:p>
            <a:pPr algn="l">
              <a:lnSpc>
                <a:spcPct val="110000"/>
              </a:lnSpc>
            </a:pPr>
            <a:r>
              <a:rPr sz="2200" b="1" i="0">
                <a:solidFill>
                  <a:srgbClr val="4ECDC4"/>
                </a:solidFill>
                <a:latin typeface="Space Grotesk"/>
              </a:rPr>
              <a:t>↗</a:t>
            </a:r>
          </a:p>
        </p:txBody>
      </p:sp>
      <p:sp>
        <p:nvSpPr>
          <p:cNvPr id="15" name="TextBox 14"/>
          <p:cNvSpPr txBox="1"/>
          <p:nvPr/>
        </p:nvSpPr>
        <p:spPr>
          <a:xfrm>
            <a:off x="7078827" y="3520440"/>
            <a:ext cx="2286000" cy="274320"/>
          </a:xfrm>
          <a:prstGeom prst="rect">
            <a:avLst/>
          </a:prstGeom>
          <a:noFill/>
        </p:spPr>
        <p:txBody>
          <a:bodyPr wrap="square" lIns="0" rIns="0" tIns="0" bIns="0" anchor="t">
            <a:spAutoFit/>
          </a:bodyPr>
          <a:lstStyle/>
          <a:p>
            <a:pPr algn="l">
              <a:lnSpc>
                <a:spcPct val="110000"/>
              </a:lnSpc>
            </a:pPr>
            <a:r>
              <a:rPr sz="1400" b="1" i="0">
                <a:solidFill>
                  <a:srgbClr val="FFFFFF"/>
                </a:solidFill>
                <a:latin typeface="Space Grotesk"/>
              </a:rPr>
              <a:t>Disponibilité</a:t>
            </a:r>
          </a:p>
        </p:txBody>
      </p:sp>
      <p:sp>
        <p:nvSpPr>
          <p:cNvPr id="16" name="TextBox 15"/>
          <p:cNvSpPr txBox="1"/>
          <p:nvPr/>
        </p:nvSpPr>
        <p:spPr>
          <a:xfrm>
            <a:off x="7078827" y="3794760"/>
            <a:ext cx="4198467" cy="274320"/>
          </a:xfrm>
          <a:prstGeom prst="rect">
            <a:avLst/>
          </a:prstGeom>
          <a:noFill/>
        </p:spPr>
        <p:txBody>
          <a:bodyPr wrap="square" lIns="0" rIns="0" tIns="0" bIns="0" anchor="t">
            <a:spAutoFit/>
          </a:bodyPr>
          <a:lstStyle/>
          <a:p>
            <a:pPr algn="l">
              <a:lnSpc>
                <a:spcPct val="110000"/>
              </a:lnSpc>
            </a:pPr>
            <a:r>
              <a:rPr sz="1100" b="0" i="0">
                <a:solidFill>
                  <a:srgbClr val="C9D0DC"/>
                </a:solidFill>
                <a:latin typeface="Inter"/>
              </a:rPr>
              <a:t>projection sur 24 mois glissants</a:t>
            </a:r>
          </a:p>
        </p:txBody>
      </p:sp>
      <p:sp>
        <p:nvSpPr>
          <p:cNvPr id="17" name="TextBox 16"/>
          <p:cNvSpPr txBox="1"/>
          <p:nvPr/>
        </p:nvSpPr>
        <p:spPr>
          <a:xfrm>
            <a:off x="6530187" y="4178808"/>
            <a:ext cx="457200" cy="502920"/>
          </a:xfrm>
          <a:prstGeom prst="rect">
            <a:avLst/>
          </a:prstGeom>
          <a:noFill/>
        </p:spPr>
        <p:txBody>
          <a:bodyPr wrap="square" lIns="0" rIns="0" tIns="0" bIns="0" anchor="ctr">
            <a:spAutoFit/>
          </a:bodyPr>
          <a:lstStyle/>
          <a:p>
            <a:pPr algn="l">
              <a:lnSpc>
                <a:spcPct val="110000"/>
              </a:lnSpc>
            </a:pPr>
            <a:r>
              <a:rPr sz="2200" b="1" i="0">
                <a:solidFill>
                  <a:srgbClr val="4ECDC4"/>
                </a:solidFill>
                <a:latin typeface="Space Grotesk"/>
              </a:rPr>
              <a:t>!</a:t>
            </a:r>
          </a:p>
        </p:txBody>
      </p:sp>
      <p:sp>
        <p:nvSpPr>
          <p:cNvPr id="18" name="TextBox 17"/>
          <p:cNvSpPr txBox="1"/>
          <p:nvPr/>
        </p:nvSpPr>
        <p:spPr>
          <a:xfrm>
            <a:off x="7078827" y="4178808"/>
            <a:ext cx="2286000" cy="274320"/>
          </a:xfrm>
          <a:prstGeom prst="rect">
            <a:avLst/>
          </a:prstGeom>
          <a:noFill/>
        </p:spPr>
        <p:txBody>
          <a:bodyPr wrap="square" lIns="0" rIns="0" tIns="0" bIns="0" anchor="t">
            <a:spAutoFit/>
          </a:bodyPr>
          <a:lstStyle/>
          <a:p>
            <a:pPr algn="l">
              <a:lnSpc>
                <a:spcPct val="110000"/>
              </a:lnSpc>
            </a:pPr>
            <a:r>
              <a:rPr sz="1400" b="1" i="0">
                <a:solidFill>
                  <a:srgbClr val="FFFFFF"/>
                </a:solidFill>
                <a:latin typeface="Space Grotesk"/>
              </a:rPr>
              <a:t>Nombre de pannes</a:t>
            </a:r>
          </a:p>
        </p:txBody>
      </p:sp>
      <p:sp>
        <p:nvSpPr>
          <p:cNvPr id="19" name="TextBox 18"/>
          <p:cNvSpPr txBox="1"/>
          <p:nvPr/>
        </p:nvSpPr>
        <p:spPr>
          <a:xfrm>
            <a:off x="7078827" y="4453128"/>
            <a:ext cx="4198467" cy="274320"/>
          </a:xfrm>
          <a:prstGeom prst="rect">
            <a:avLst/>
          </a:prstGeom>
          <a:noFill/>
        </p:spPr>
        <p:txBody>
          <a:bodyPr wrap="square" lIns="0" rIns="0" tIns="0" bIns="0" anchor="t">
            <a:spAutoFit/>
          </a:bodyPr>
          <a:lstStyle/>
          <a:p>
            <a:pPr algn="l">
              <a:lnSpc>
                <a:spcPct val="110000"/>
              </a:lnSpc>
            </a:pPr>
            <a:r>
              <a:rPr sz="1100" b="0" i="0">
                <a:solidFill>
                  <a:srgbClr val="C9D0DC"/>
                </a:solidFill>
                <a:latin typeface="Inter"/>
              </a:rPr>
              <a:t>tendance et courbe évolutive</a:t>
            </a:r>
          </a:p>
        </p:txBody>
      </p:sp>
      <p:sp>
        <p:nvSpPr>
          <p:cNvPr id="20" name="TextBox 19"/>
          <p:cNvSpPr txBox="1"/>
          <p:nvPr/>
        </p:nvSpPr>
        <p:spPr>
          <a:xfrm>
            <a:off x="6530187" y="4837176"/>
            <a:ext cx="457200" cy="502920"/>
          </a:xfrm>
          <a:prstGeom prst="rect">
            <a:avLst/>
          </a:prstGeom>
          <a:noFill/>
        </p:spPr>
        <p:txBody>
          <a:bodyPr wrap="square" lIns="0" rIns="0" tIns="0" bIns="0" anchor="ctr">
            <a:spAutoFit/>
          </a:bodyPr>
          <a:lstStyle/>
          <a:p>
            <a:pPr algn="l">
              <a:lnSpc>
                <a:spcPct val="110000"/>
              </a:lnSpc>
            </a:pPr>
            <a:r>
              <a:rPr sz="2200" b="1" i="0">
                <a:solidFill>
                  <a:srgbClr val="4ECDC4"/>
                </a:solidFill>
                <a:latin typeface="Space Grotesk"/>
              </a:rPr>
              <a:t>↓</a:t>
            </a:r>
          </a:p>
        </p:txBody>
      </p:sp>
      <p:sp>
        <p:nvSpPr>
          <p:cNvPr id="21" name="TextBox 20"/>
          <p:cNvSpPr txBox="1"/>
          <p:nvPr/>
        </p:nvSpPr>
        <p:spPr>
          <a:xfrm>
            <a:off x="7078827" y="4837176"/>
            <a:ext cx="2286000" cy="274320"/>
          </a:xfrm>
          <a:prstGeom prst="rect">
            <a:avLst/>
          </a:prstGeom>
          <a:noFill/>
        </p:spPr>
        <p:txBody>
          <a:bodyPr wrap="square" lIns="0" rIns="0" tIns="0" bIns="0" anchor="t">
            <a:spAutoFit/>
          </a:bodyPr>
          <a:lstStyle/>
          <a:p>
            <a:pPr algn="l">
              <a:lnSpc>
                <a:spcPct val="110000"/>
              </a:lnSpc>
            </a:pPr>
            <a:r>
              <a:rPr sz="1400" b="1" i="0">
                <a:solidFill>
                  <a:srgbClr val="FFFFFF"/>
                </a:solidFill>
                <a:latin typeface="Space Grotesk"/>
              </a:rPr>
              <a:t>Export PDF</a:t>
            </a:r>
          </a:p>
        </p:txBody>
      </p:sp>
      <p:sp>
        <p:nvSpPr>
          <p:cNvPr id="22" name="TextBox 21"/>
          <p:cNvSpPr txBox="1"/>
          <p:nvPr/>
        </p:nvSpPr>
        <p:spPr>
          <a:xfrm>
            <a:off x="7078827" y="5111496"/>
            <a:ext cx="4198467" cy="274320"/>
          </a:xfrm>
          <a:prstGeom prst="rect">
            <a:avLst/>
          </a:prstGeom>
          <a:noFill/>
        </p:spPr>
        <p:txBody>
          <a:bodyPr wrap="square" lIns="0" rIns="0" tIns="0" bIns="0" anchor="t">
            <a:spAutoFit/>
          </a:bodyPr>
          <a:lstStyle/>
          <a:p>
            <a:pPr algn="l">
              <a:lnSpc>
                <a:spcPct val="110000"/>
              </a:lnSpc>
            </a:pPr>
            <a:r>
              <a:rPr sz="1100" b="0" i="0">
                <a:solidFill>
                  <a:srgbClr val="C9D0DC"/>
                </a:solidFill>
                <a:latin typeface="Inter"/>
              </a:rPr>
              <a:t>signé · daté · logo ICEM intégré</a:t>
            </a:r>
          </a:p>
        </p:txBody>
      </p:sp>
      <p:sp>
        <p:nvSpPr>
          <p:cNvPr id="23" name="TextBox 22"/>
          <p:cNvSpPr txBox="1"/>
          <p:nvPr/>
        </p:nvSpPr>
        <p:spPr>
          <a:xfrm>
            <a:off x="6530187" y="5495544"/>
            <a:ext cx="457200" cy="502920"/>
          </a:xfrm>
          <a:prstGeom prst="rect">
            <a:avLst/>
          </a:prstGeom>
          <a:noFill/>
        </p:spPr>
        <p:txBody>
          <a:bodyPr wrap="square" lIns="0" rIns="0" tIns="0" bIns="0" anchor="ctr">
            <a:spAutoFit/>
          </a:bodyPr>
          <a:lstStyle/>
          <a:p>
            <a:pPr algn="l">
              <a:lnSpc>
                <a:spcPct val="110000"/>
              </a:lnSpc>
            </a:pPr>
            <a:r>
              <a:rPr sz="2200" b="1" i="0">
                <a:solidFill>
                  <a:srgbClr val="4ECDC4"/>
                </a:solidFill>
                <a:latin typeface="Space Grotesk"/>
              </a:rPr>
              <a:t>=</a:t>
            </a:r>
          </a:p>
        </p:txBody>
      </p:sp>
      <p:sp>
        <p:nvSpPr>
          <p:cNvPr id="24" name="TextBox 23"/>
          <p:cNvSpPr txBox="1"/>
          <p:nvPr/>
        </p:nvSpPr>
        <p:spPr>
          <a:xfrm>
            <a:off x="7078827" y="5495544"/>
            <a:ext cx="2286000" cy="274320"/>
          </a:xfrm>
          <a:prstGeom prst="rect">
            <a:avLst/>
          </a:prstGeom>
          <a:noFill/>
        </p:spPr>
        <p:txBody>
          <a:bodyPr wrap="square" lIns="0" rIns="0" tIns="0" bIns="0" anchor="t">
            <a:spAutoFit/>
          </a:bodyPr>
          <a:lstStyle/>
          <a:p>
            <a:pPr algn="l">
              <a:lnSpc>
                <a:spcPct val="110000"/>
              </a:lnSpc>
            </a:pPr>
            <a:r>
              <a:rPr sz="1400" b="1" i="0">
                <a:solidFill>
                  <a:srgbClr val="FFFFFF"/>
                </a:solidFill>
                <a:latin typeface="Space Grotesk"/>
              </a:rPr>
              <a:t>Comparaison</a:t>
            </a:r>
          </a:p>
        </p:txBody>
      </p:sp>
      <p:sp>
        <p:nvSpPr>
          <p:cNvPr id="25" name="TextBox 24"/>
          <p:cNvSpPr txBox="1"/>
          <p:nvPr/>
        </p:nvSpPr>
        <p:spPr>
          <a:xfrm>
            <a:off x="7078827" y="5769864"/>
            <a:ext cx="4198467" cy="274320"/>
          </a:xfrm>
          <a:prstGeom prst="rect">
            <a:avLst/>
          </a:prstGeom>
          <a:noFill/>
        </p:spPr>
        <p:txBody>
          <a:bodyPr wrap="square" lIns="0" rIns="0" tIns="0" bIns="0" anchor="t">
            <a:spAutoFit/>
          </a:bodyPr>
          <a:lstStyle/>
          <a:p>
            <a:pPr algn="l">
              <a:lnSpc>
                <a:spcPct val="110000"/>
              </a:lnSpc>
            </a:pPr>
            <a:r>
              <a:rPr sz="1100" b="0" i="0">
                <a:solidFill>
                  <a:srgbClr val="C9D0DC"/>
                </a:solidFill>
                <a:latin typeface="Inter"/>
              </a:rPr>
              <a:t>Alpha 433 H vs Gamma 333 PC</a:t>
            </a:r>
          </a:p>
        </p:txBody>
      </p:sp>
      <p:sp>
        <p:nvSpPr>
          <p:cNvPr id="26" name="TextBox 25"/>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04 · DÉVELOPPEMENT</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DÉPLOIEMENT LOCAL</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Déploiement local.</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Réseau interne ICEM — pas de cloud, données restent sur site.</a:t>
            </a:r>
          </a:p>
        </p:txBody>
      </p:sp>
      <p:sp>
        <p:nvSpPr>
          <p:cNvPr id="9" name="Rounded Rectangle 8"/>
          <p:cNvSpPr/>
          <p:nvPr/>
        </p:nvSpPr>
        <p:spPr>
          <a:xfrm>
            <a:off x="640080" y="2651760"/>
            <a:ext cx="5295747" cy="3566160"/>
          </a:xfrm>
          <a:prstGeom prst="roundRect">
            <a:avLst>
              <a:gd name="adj" fmla="val 6000"/>
            </a:avLst>
          </a:prstGeom>
          <a:solidFill>
            <a:srgbClr val="101A45">
              <a:alpha val="10000"/>
            </a:srgbClr>
          </a:solidFill>
          <a:ln w="9525">
            <a:solidFill>
              <a:srgbClr val="4ADE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834640"/>
            <a:ext cx="4838547" cy="274320"/>
          </a:xfrm>
          <a:prstGeom prst="rect">
            <a:avLst/>
          </a:prstGeom>
          <a:noFill/>
        </p:spPr>
        <p:txBody>
          <a:bodyPr wrap="square" lIns="0" rIns="0" tIns="0" bIns="0" anchor="t">
            <a:spAutoFit/>
          </a:bodyPr>
          <a:lstStyle/>
          <a:p>
            <a:pPr algn="l">
              <a:lnSpc>
                <a:spcPct val="110000"/>
              </a:lnSpc>
            </a:pPr>
            <a:r>
              <a:rPr sz="1100" b="0" i="0">
                <a:solidFill>
                  <a:srgbClr val="7D8496"/>
                </a:solidFill>
                <a:latin typeface="JetBrains Mono"/>
              </a:rPr>
              <a:t>●  ●  ●     pm2 status</a:t>
            </a:r>
          </a:p>
        </p:txBody>
      </p:sp>
      <p:sp>
        <p:nvSpPr>
          <p:cNvPr id="11" name="Rectangle 10"/>
          <p:cNvSpPr/>
          <p:nvPr/>
        </p:nvSpPr>
        <p:spPr>
          <a:xfrm>
            <a:off x="868680" y="3154680"/>
            <a:ext cx="4838547" cy="6350"/>
          </a:xfrm>
          <a:prstGeom prst="rect">
            <a:avLst/>
          </a:prstGeom>
          <a:solidFill>
            <a:srgbClr val="3A3F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337560"/>
            <a:ext cx="320040" cy="274320"/>
          </a:xfrm>
          <a:prstGeom prst="rect">
            <a:avLst/>
          </a:prstGeom>
          <a:noFill/>
        </p:spPr>
        <p:txBody>
          <a:bodyPr wrap="square" lIns="0" rIns="0" tIns="0" bIns="0" anchor="t">
            <a:spAutoFit/>
          </a:bodyPr>
          <a:lstStyle/>
          <a:p>
            <a:pPr algn="l">
              <a:lnSpc>
                <a:spcPct val="110000"/>
              </a:lnSpc>
            </a:pPr>
            <a:r>
              <a:rPr sz="1100" b="1" i="0">
                <a:solidFill>
                  <a:srgbClr val="FF9548"/>
                </a:solidFill>
                <a:latin typeface="JetBrains Mono"/>
              </a:rPr>
              <a:t>$ </a:t>
            </a:r>
          </a:p>
        </p:txBody>
      </p:sp>
      <p:sp>
        <p:nvSpPr>
          <p:cNvPr id="13" name="TextBox 12"/>
          <p:cNvSpPr txBox="1"/>
          <p:nvPr/>
        </p:nvSpPr>
        <p:spPr>
          <a:xfrm>
            <a:off x="1234440" y="3337560"/>
            <a:ext cx="4472787" cy="292608"/>
          </a:xfrm>
          <a:prstGeom prst="rect">
            <a:avLst/>
          </a:prstGeom>
          <a:noFill/>
        </p:spPr>
        <p:txBody>
          <a:bodyPr wrap="square" lIns="0" rIns="0" tIns="0" bIns="0" anchor="t">
            <a:spAutoFit/>
          </a:bodyPr>
          <a:lstStyle/>
          <a:p>
            <a:pPr algn="l">
              <a:lnSpc>
                <a:spcPct val="110000"/>
              </a:lnSpc>
            </a:pPr>
            <a:r>
              <a:rPr sz="1100" b="0" i="0">
                <a:solidFill>
                  <a:srgbClr val="FFFFFF"/>
                </a:solidFill>
                <a:latin typeface="JetBrains Mono"/>
              </a:rPr>
              <a:t>pm2 start ecosystem.config.js</a:t>
            </a:r>
          </a:p>
        </p:txBody>
      </p:sp>
      <p:sp>
        <p:nvSpPr>
          <p:cNvPr id="14" name="TextBox 13"/>
          <p:cNvSpPr txBox="1"/>
          <p:nvPr/>
        </p:nvSpPr>
        <p:spPr>
          <a:xfrm>
            <a:off x="960120" y="3685032"/>
            <a:ext cx="320040" cy="274320"/>
          </a:xfrm>
          <a:prstGeom prst="rect">
            <a:avLst/>
          </a:prstGeom>
          <a:noFill/>
        </p:spPr>
        <p:txBody>
          <a:bodyPr wrap="square" lIns="0" rIns="0" tIns="0" bIns="0" anchor="t">
            <a:spAutoFit/>
          </a:bodyPr>
          <a:lstStyle/>
          <a:p>
            <a:pPr algn="l">
              <a:lnSpc>
                <a:spcPct val="110000"/>
              </a:lnSpc>
            </a:pPr>
            <a:r>
              <a:rPr sz="1100" b="1" i="0">
                <a:solidFill>
                  <a:srgbClr val="FF9548"/>
                </a:solidFill>
                <a:latin typeface="JetBrains Mono"/>
              </a:rPr>
              <a:t/>
            </a:r>
          </a:p>
        </p:txBody>
      </p:sp>
      <p:sp>
        <p:nvSpPr>
          <p:cNvPr id="15" name="TextBox 14"/>
          <p:cNvSpPr txBox="1"/>
          <p:nvPr/>
        </p:nvSpPr>
        <p:spPr>
          <a:xfrm>
            <a:off x="1234440" y="3685032"/>
            <a:ext cx="4472787" cy="292608"/>
          </a:xfrm>
          <a:prstGeom prst="rect">
            <a:avLst/>
          </a:prstGeom>
          <a:noFill/>
        </p:spPr>
        <p:txBody>
          <a:bodyPr wrap="square" lIns="0" rIns="0" tIns="0" bIns="0" anchor="t">
            <a:spAutoFit/>
          </a:bodyPr>
          <a:lstStyle/>
          <a:p>
            <a:pPr algn="l">
              <a:lnSpc>
                <a:spcPct val="110000"/>
              </a:lnSpc>
            </a:pPr>
            <a:r>
              <a:rPr sz="1100" b="0" i="0">
                <a:solidFill>
                  <a:srgbClr val="4ADE80"/>
                </a:solidFill>
                <a:latin typeface="JetBrains Mono"/>
              </a:rPr>
              <a:t>[PM2] Starting backend-express...</a:t>
            </a:r>
          </a:p>
        </p:txBody>
      </p:sp>
      <p:sp>
        <p:nvSpPr>
          <p:cNvPr id="16" name="TextBox 15"/>
          <p:cNvSpPr txBox="1"/>
          <p:nvPr/>
        </p:nvSpPr>
        <p:spPr>
          <a:xfrm>
            <a:off x="960120" y="4032504"/>
            <a:ext cx="320040" cy="274320"/>
          </a:xfrm>
          <a:prstGeom prst="rect">
            <a:avLst/>
          </a:prstGeom>
          <a:noFill/>
        </p:spPr>
        <p:txBody>
          <a:bodyPr wrap="square" lIns="0" rIns="0" tIns="0" bIns="0" anchor="t">
            <a:spAutoFit/>
          </a:bodyPr>
          <a:lstStyle/>
          <a:p>
            <a:pPr algn="l">
              <a:lnSpc>
                <a:spcPct val="110000"/>
              </a:lnSpc>
            </a:pPr>
            <a:r>
              <a:rPr sz="1100" b="1" i="0">
                <a:solidFill>
                  <a:srgbClr val="FF9548"/>
                </a:solidFill>
                <a:latin typeface="JetBrains Mono"/>
              </a:rPr>
              <a:t/>
            </a:r>
          </a:p>
        </p:txBody>
      </p:sp>
      <p:sp>
        <p:nvSpPr>
          <p:cNvPr id="17" name="TextBox 16"/>
          <p:cNvSpPr txBox="1"/>
          <p:nvPr/>
        </p:nvSpPr>
        <p:spPr>
          <a:xfrm>
            <a:off x="1234440" y="4032504"/>
            <a:ext cx="4472787" cy="292608"/>
          </a:xfrm>
          <a:prstGeom prst="rect">
            <a:avLst/>
          </a:prstGeom>
          <a:noFill/>
        </p:spPr>
        <p:txBody>
          <a:bodyPr wrap="square" lIns="0" rIns="0" tIns="0" bIns="0" anchor="t">
            <a:spAutoFit/>
          </a:bodyPr>
          <a:lstStyle/>
          <a:p>
            <a:pPr algn="l">
              <a:lnSpc>
                <a:spcPct val="110000"/>
              </a:lnSpc>
            </a:pPr>
            <a:r>
              <a:rPr sz="1100" b="0" i="0">
                <a:solidFill>
                  <a:srgbClr val="4ADE80"/>
                </a:solidFill>
                <a:latin typeface="JetBrains Mono"/>
              </a:rPr>
              <a:t>[PM2] Starting fastapi-uvicorn...</a:t>
            </a:r>
          </a:p>
        </p:txBody>
      </p:sp>
      <p:sp>
        <p:nvSpPr>
          <p:cNvPr id="18" name="TextBox 17"/>
          <p:cNvSpPr txBox="1"/>
          <p:nvPr/>
        </p:nvSpPr>
        <p:spPr>
          <a:xfrm>
            <a:off x="960120" y="4379976"/>
            <a:ext cx="320040" cy="274320"/>
          </a:xfrm>
          <a:prstGeom prst="rect">
            <a:avLst/>
          </a:prstGeom>
          <a:noFill/>
        </p:spPr>
        <p:txBody>
          <a:bodyPr wrap="square" lIns="0" rIns="0" tIns="0" bIns="0" anchor="t">
            <a:spAutoFit/>
          </a:bodyPr>
          <a:lstStyle/>
          <a:p>
            <a:pPr algn="l">
              <a:lnSpc>
                <a:spcPct val="110000"/>
              </a:lnSpc>
            </a:pPr>
            <a:r>
              <a:rPr sz="1100" b="1" i="0">
                <a:solidFill>
                  <a:srgbClr val="FF9548"/>
                </a:solidFill>
                <a:latin typeface="JetBrains Mono"/>
              </a:rPr>
              <a:t/>
            </a:r>
          </a:p>
        </p:txBody>
      </p:sp>
      <p:sp>
        <p:nvSpPr>
          <p:cNvPr id="19" name="TextBox 18"/>
          <p:cNvSpPr txBox="1"/>
          <p:nvPr/>
        </p:nvSpPr>
        <p:spPr>
          <a:xfrm>
            <a:off x="1234440" y="4379976"/>
            <a:ext cx="4472787" cy="292608"/>
          </a:xfrm>
          <a:prstGeom prst="rect">
            <a:avLst/>
          </a:prstGeom>
          <a:noFill/>
        </p:spPr>
        <p:txBody>
          <a:bodyPr wrap="square" lIns="0" rIns="0" tIns="0" bIns="0" anchor="t">
            <a:spAutoFit/>
          </a:bodyPr>
          <a:lstStyle/>
          <a:p>
            <a:pPr algn="l">
              <a:lnSpc>
                <a:spcPct val="110000"/>
              </a:lnSpc>
            </a:pPr>
            <a:r>
              <a:rPr sz="1100" b="0" i="0">
                <a:solidFill>
                  <a:srgbClr val="C9D0DC"/>
                </a:solidFill>
                <a:latin typeface="JetBrains Mono"/>
              </a:rPr>
              <a:t>backend-express  | 0 | online | 82.4mb</a:t>
            </a:r>
          </a:p>
        </p:txBody>
      </p:sp>
      <p:sp>
        <p:nvSpPr>
          <p:cNvPr id="20" name="TextBox 19"/>
          <p:cNvSpPr txBox="1"/>
          <p:nvPr/>
        </p:nvSpPr>
        <p:spPr>
          <a:xfrm>
            <a:off x="960120" y="4727448"/>
            <a:ext cx="320040" cy="274320"/>
          </a:xfrm>
          <a:prstGeom prst="rect">
            <a:avLst/>
          </a:prstGeom>
          <a:noFill/>
        </p:spPr>
        <p:txBody>
          <a:bodyPr wrap="square" lIns="0" rIns="0" tIns="0" bIns="0" anchor="t">
            <a:spAutoFit/>
          </a:bodyPr>
          <a:lstStyle/>
          <a:p>
            <a:pPr algn="l">
              <a:lnSpc>
                <a:spcPct val="110000"/>
              </a:lnSpc>
            </a:pPr>
            <a:r>
              <a:rPr sz="1100" b="1" i="0">
                <a:solidFill>
                  <a:srgbClr val="FF9548"/>
                </a:solidFill>
                <a:latin typeface="JetBrains Mono"/>
              </a:rPr>
              <a:t/>
            </a:r>
          </a:p>
        </p:txBody>
      </p:sp>
      <p:sp>
        <p:nvSpPr>
          <p:cNvPr id="21" name="TextBox 20"/>
          <p:cNvSpPr txBox="1"/>
          <p:nvPr/>
        </p:nvSpPr>
        <p:spPr>
          <a:xfrm>
            <a:off x="1234440" y="4727448"/>
            <a:ext cx="4472787" cy="292608"/>
          </a:xfrm>
          <a:prstGeom prst="rect">
            <a:avLst/>
          </a:prstGeom>
          <a:noFill/>
        </p:spPr>
        <p:txBody>
          <a:bodyPr wrap="square" lIns="0" rIns="0" tIns="0" bIns="0" anchor="t">
            <a:spAutoFit/>
          </a:bodyPr>
          <a:lstStyle/>
          <a:p>
            <a:pPr algn="l">
              <a:lnSpc>
                <a:spcPct val="110000"/>
              </a:lnSpc>
            </a:pPr>
            <a:r>
              <a:rPr sz="1100" b="0" i="0">
                <a:solidFill>
                  <a:srgbClr val="C9D0DC"/>
                </a:solidFill>
                <a:latin typeface="JetBrains Mono"/>
              </a:rPr>
              <a:t>fastapi-uvicorn  | 1 | online | 94.1mb</a:t>
            </a:r>
          </a:p>
        </p:txBody>
      </p:sp>
      <p:sp>
        <p:nvSpPr>
          <p:cNvPr id="22" name="TextBox 21"/>
          <p:cNvSpPr txBox="1"/>
          <p:nvPr/>
        </p:nvSpPr>
        <p:spPr>
          <a:xfrm>
            <a:off x="960120" y="5074920"/>
            <a:ext cx="320040" cy="274320"/>
          </a:xfrm>
          <a:prstGeom prst="rect">
            <a:avLst/>
          </a:prstGeom>
          <a:noFill/>
        </p:spPr>
        <p:txBody>
          <a:bodyPr wrap="square" lIns="0" rIns="0" tIns="0" bIns="0" anchor="t">
            <a:spAutoFit/>
          </a:bodyPr>
          <a:lstStyle/>
          <a:p>
            <a:pPr algn="l">
              <a:lnSpc>
                <a:spcPct val="110000"/>
              </a:lnSpc>
            </a:pPr>
            <a:r>
              <a:rPr sz="1100" b="1" i="0">
                <a:solidFill>
                  <a:srgbClr val="FF9548"/>
                </a:solidFill>
                <a:latin typeface="JetBrains Mono"/>
              </a:rPr>
              <a:t>$ </a:t>
            </a:r>
          </a:p>
        </p:txBody>
      </p:sp>
      <p:sp>
        <p:nvSpPr>
          <p:cNvPr id="23" name="TextBox 22"/>
          <p:cNvSpPr txBox="1"/>
          <p:nvPr/>
        </p:nvSpPr>
        <p:spPr>
          <a:xfrm>
            <a:off x="1234440" y="5074920"/>
            <a:ext cx="4472787" cy="292608"/>
          </a:xfrm>
          <a:prstGeom prst="rect">
            <a:avLst/>
          </a:prstGeom>
          <a:noFill/>
        </p:spPr>
        <p:txBody>
          <a:bodyPr wrap="square" lIns="0" rIns="0" tIns="0" bIns="0" anchor="t">
            <a:spAutoFit/>
          </a:bodyPr>
          <a:lstStyle/>
          <a:p>
            <a:pPr algn="l">
              <a:lnSpc>
                <a:spcPct val="110000"/>
              </a:lnSpc>
            </a:pPr>
            <a:r>
              <a:rPr sz="1100" b="0" i="0">
                <a:solidFill>
                  <a:srgbClr val="FFFFFF"/>
                </a:solidFill>
                <a:latin typeface="JetBrains Mono"/>
              </a:rPr>
              <a:t>curl http://localhost:3000/health</a:t>
            </a:r>
          </a:p>
        </p:txBody>
      </p:sp>
      <p:sp>
        <p:nvSpPr>
          <p:cNvPr id="24" name="TextBox 23"/>
          <p:cNvSpPr txBox="1"/>
          <p:nvPr/>
        </p:nvSpPr>
        <p:spPr>
          <a:xfrm>
            <a:off x="960120" y="5422392"/>
            <a:ext cx="320040" cy="274320"/>
          </a:xfrm>
          <a:prstGeom prst="rect">
            <a:avLst/>
          </a:prstGeom>
          <a:noFill/>
        </p:spPr>
        <p:txBody>
          <a:bodyPr wrap="square" lIns="0" rIns="0" tIns="0" bIns="0" anchor="t">
            <a:spAutoFit/>
          </a:bodyPr>
          <a:lstStyle/>
          <a:p>
            <a:pPr algn="l">
              <a:lnSpc>
                <a:spcPct val="110000"/>
              </a:lnSpc>
            </a:pPr>
            <a:r>
              <a:rPr sz="1100" b="1" i="0">
                <a:solidFill>
                  <a:srgbClr val="FF9548"/>
                </a:solidFill>
                <a:latin typeface="JetBrains Mono"/>
              </a:rPr>
              <a:t/>
            </a:r>
          </a:p>
        </p:txBody>
      </p:sp>
      <p:sp>
        <p:nvSpPr>
          <p:cNvPr id="25" name="TextBox 24"/>
          <p:cNvSpPr txBox="1"/>
          <p:nvPr/>
        </p:nvSpPr>
        <p:spPr>
          <a:xfrm>
            <a:off x="1234440" y="5422392"/>
            <a:ext cx="4472787" cy="292608"/>
          </a:xfrm>
          <a:prstGeom prst="rect">
            <a:avLst/>
          </a:prstGeom>
          <a:noFill/>
        </p:spPr>
        <p:txBody>
          <a:bodyPr wrap="square" lIns="0" rIns="0" tIns="0" bIns="0" anchor="t">
            <a:spAutoFit/>
          </a:bodyPr>
          <a:lstStyle/>
          <a:p>
            <a:pPr algn="l">
              <a:lnSpc>
                <a:spcPct val="110000"/>
              </a:lnSpc>
            </a:pPr>
            <a:r>
              <a:rPr sz="1100" b="0" i="0">
                <a:solidFill>
                  <a:srgbClr val="4ECDC4"/>
                </a:solidFill>
                <a:latin typeface="JetBrains Mono"/>
              </a:rPr>
              <a:t>{"status":"ok","db":"connected"}</a:t>
            </a:r>
          </a:p>
        </p:txBody>
      </p:sp>
      <p:sp>
        <p:nvSpPr>
          <p:cNvPr id="26" name="Rounded Rectangle 25"/>
          <p:cNvSpPr/>
          <p:nvPr/>
        </p:nvSpPr>
        <p:spPr>
          <a:xfrm>
            <a:off x="6255867" y="2651760"/>
            <a:ext cx="5295747" cy="603504"/>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84467" y="2770632"/>
            <a:ext cx="548640" cy="365760"/>
          </a:xfrm>
          <a:prstGeom prst="rect">
            <a:avLst/>
          </a:prstGeom>
          <a:noFill/>
        </p:spPr>
        <p:txBody>
          <a:bodyPr wrap="square" lIns="0" rIns="0" tIns="0" bIns="0" anchor="ctr">
            <a:spAutoFit/>
          </a:bodyPr>
          <a:lstStyle/>
          <a:p>
            <a:pPr algn="l">
              <a:lnSpc>
                <a:spcPct val="110000"/>
              </a:lnSpc>
            </a:pPr>
            <a:r>
              <a:rPr sz="1800" b="1" i="0">
                <a:solidFill>
                  <a:srgbClr val="FF9548"/>
                </a:solidFill>
                <a:latin typeface="Space Grotesk"/>
              </a:rPr>
              <a:t>01</a:t>
            </a:r>
          </a:p>
        </p:txBody>
      </p:sp>
      <p:sp>
        <p:nvSpPr>
          <p:cNvPr id="28" name="TextBox 27"/>
          <p:cNvSpPr txBox="1"/>
          <p:nvPr/>
        </p:nvSpPr>
        <p:spPr>
          <a:xfrm>
            <a:off x="7124547" y="2651760"/>
            <a:ext cx="2743200" cy="603504"/>
          </a:xfrm>
          <a:prstGeom prst="rect">
            <a:avLst/>
          </a:prstGeom>
          <a:noFill/>
        </p:spPr>
        <p:txBody>
          <a:bodyPr wrap="square" lIns="0" rIns="0" tIns="0" bIns="0" anchor="ctr">
            <a:spAutoFit/>
          </a:bodyPr>
          <a:lstStyle/>
          <a:p>
            <a:pPr algn="l">
              <a:lnSpc>
                <a:spcPct val="110000"/>
              </a:lnSpc>
            </a:pPr>
            <a:r>
              <a:rPr sz="1300" b="1" i="0">
                <a:solidFill>
                  <a:srgbClr val="FFFFFF"/>
                </a:solidFill>
                <a:latin typeface="Space Grotesk"/>
              </a:rPr>
              <a:t>Serveur local Windows</a:t>
            </a:r>
          </a:p>
        </p:txBody>
      </p:sp>
      <p:sp>
        <p:nvSpPr>
          <p:cNvPr id="29" name="TextBox 28"/>
          <p:cNvSpPr txBox="1"/>
          <p:nvPr/>
        </p:nvSpPr>
        <p:spPr>
          <a:xfrm>
            <a:off x="10004906" y="2651760"/>
            <a:ext cx="1363827" cy="603504"/>
          </a:xfrm>
          <a:prstGeom prst="rect">
            <a:avLst/>
          </a:prstGeom>
          <a:noFill/>
        </p:spPr>
        <p:txBody>
          <a:bodyPr wrap="square" lIns="0" rIns="0" tIns="0" bIns="0" anchor="ctr">
            <a:spAutoFit/>
          </a:bodyPr>
          <a:lstStyle/>
          <a:p>
            <a:pPr algn="l">
              <a:lnSpc>
                <a:spcPct val="110000"/>
              </a:lnSpc>
            </a:pPr>
            <a:r>
              <a:rPr sz="1100" b="0" i="0">
                <a:solidFill>
                  <a:srgbClr val="C9D0DC"/>
                </a:solidFill>
                <a:latin typeface="Inter"/>
              </a:rPr>
              <a:t>Réseau interne ICEM · pas de cloud</a:t>
            </a:r>
          </a:p>
        </p:txBody>
      </p:sp>
      <p:sp>
        <p:nvSpPr>
          <p:cNvPr id="30" name="Rounded Rectangle 29"/>
          <p:cNvSpPr/>
          <p:nvPr/>
        </p:nvSpPr>
        <p:spPr>
          <a:xfrm>
            <a:off x="6255867" y="3392424"/>
            <a:ext cx="5295747" cy="603504"/>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84467" y="3511296"/>
            <a:ext cx="548640" cy="365760"/>
          </a:xfrm>
          <a:prstGeom prst="rect">
            <a:avLst/>
          </a:prstGeom>
          <a:noFill/>
        </p:spPr>
        <p:txBody>
          <a:bodyPr wrap="square" lIns="0" rIns="0" tIns="0" bIns="0" anchor="ctr">
            <a:spAutoFit/>
          </a:bodyPr>
          <a:lstStyle/>
          <a:p>
            <a:pPr algn="l">
              <a:lnSpc>
                <a:spcPct val="110000"/>
              </a:lnSpc>
            </a:pPr>
            <a:r>
              <a:rPr sz="1800" b="1" i="0">
                <a:solidFill>
                  <a:srgbClr val="FF9548"/>
                </a:solidFill>
                <a:latin typeface="Space Grotesk"/>
              </a:rPr>
              <a:t>02</a:t>
            </a:r>
          </a:p>
        </p:txBody>
      </p:sp>
      <p:sp>
        <p:nvSpPr>
          <p:cNvPr id="32" name="TextBox 31"/>
          <p:cNvSpPr txBox="1"/>
          <p:nvPr/>
        </p:nvSpPr>
        <p:spPr>
          <a:xfrm>
            <a:off x="7124547" y="3392424"/>
            <a:ext cx="2743200" cy="603504"/>
          </a:xfrm>
          <a:prstGeom prst="rect">
            <a:avLst/>
          </a:prstGeom>
          <a:noFill/>
        </p:spPr>
        <p:txBody>
          <a:bodyPr wrap="square" lIns="0" rIns="0" tIns="0" bIns="0" anchor="ctr">
            <a:spAutoFit/>
          </a:bodyPr>
          <a:lstStyle/>
          <a:p>
            <a:pPr algn="l">
              <a:lnSpc>
                <a:spcPct val="110000"/>
              </a:lnSpc>
            </a:pPr>
            <a:r>
              <a:rPr sz="1300" b="1" i="0">
                <a:solidFill>
                  <a:srgbClr val="FFFFFF"/>
                </a:solidFill>
                <a:latin typeface="Space Grotesk"/>
              </a:rPr>
              <a:t>Backend Express.js</a:t>
            </a:r>
          </a:p>
        </p:txBody>
      </p:sp>
      <p:sp>
        <p:nvSpPr>
          <p:cNvPr id="33" name="TextBox 32"/>
          <p:cNvSpPr txBox="1"/>
          <p:nvPr/>
        </p:nvSpPr>
        <p:spPr>
          <a:xfrm>
            <a:off x="10004906" y="3392424"/>
            <a:ext cx="1363827" cy="603504"/>
          </a:xfrm>
          <a:prstGeom prst="rect">
            <a:avLst/>
          </a:prstGeom>
          <a:noFill/>
        </p:spPr>
        <p:txBody>
          <a:bodyPr wrap="square" lIns="0" rIns="0" tIns="0" bIns="0" anchor="ctr">
            <a:spAutoFit/>
          </a:bodyPr>
          <a:lstStyle/>
          <a:p>
            <a:pPr algn="l">
              <a:lnSpc>
                <a:spcPct val="110000"/>
              </a:lnSpc>
            </a:pPr>
            <a:r>
              <a:rPr sz="1100" b="0" i="0">
                <a:solidFill>
                  <a:srgbClr val="C9D0DC"/>
                </a:solidFill>
                <a:latin typeface="Inter"/>
              </a:rPr>
              <a:t>PM2 · port 3000</a:t>
            </a:r>
          </a:p>
        </p:txBody>
      </p:sp>
      <p:sp>
        <p:nvSpPr>
          <p:cNvPr id="34" name="Rounded Rectangle 33"/>
          <p:cNvSpPr/>
          <p:nvPr/>
        </p:nvSpPr>
        <p:spPr>
          <a:xfrm>
            <a:off x="6255867" y="4133088"/>
            <a:ext cx="5295747" cy="603504"/>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4467" y="4251960"/>
            <a:ext cx="548640" cy="365760"/>
          </a:xfrm>
          <a:prstGeom prst="rect">
            <a:avLst/>
          </a:prstGeom>
          <a:noFill/>
        </p:spPr>
        <p:txBody>
          <a:bodyPr wrap="square" lIns="0" rIns="0" tIns="0" bIns="0" anchor="ctr">
            <a:spAutoFit/>
          </a:bodyPr>
          <a:lstStyle/>
          <a:p>
            <a:pPr algn="l">
              <a:lnSpc>
                <a:spcPct val="110000"/>
              </a:lnSpc>
            </a:pPr>
            <a:r>
              <a:rPr sz="1800" b="1" i="0">
                <a:solidFill>
                  <a:srgbClr val="FF9548"/>
                </a:solidFill>
                <a:latin typeface="Space Grotesk"/>
              </a:rPr>
              <a:t>03</a:t>
            </a:r>
          </a:p>
        </p:txBody>
      </p:sp>
      <p:sp>
        <p:nvSpPr>
          <p:cNvPr id="36" name="TextBox 35"/>
          <p:cNvSpPr txBox="1"/>
          <p:nvPr/>
        </p:nvSpPr>
        <p:spPr>
          <a:xfrm>
            <a:off x="7124547" y="4133088"/>
            <a:ext cx="2743200" cy="603504"/>
          </a:xfrm>
          <a:prstGeom prst="rect">
            <a:avLst/>
          </a:prstGeom>
          <a:noFill/>
        </p:spPr>
        <p:txBody>
          <a:bodyPr wrap="square" lIns="0" rIns="0" tIns="0" bIns="0" anchor="ctr">
            <a:spAutoFit/>
          </a:bodyPr>
          <a:lstStyle/>
          <a:p>
            <a:pPr algn="l">
              <a:lnSpc>
                <a:spcPct val="110000"/>
              </a:lnSpc>
            </a:pPr>
            <a:r>
              <a:rPr sz="1300" b="1" i="0">
                <a:solidFill>
                  <a:srgbClr val="FFFFFF"/>
                </a:solidFill>
                <a:latin typeface="Space Grotesk"/>
              </a:rPr>
              <a:t>MongoDB local</a:t>
            </a:r>
          </a:p>
        </p:txBody>
      </p:sp>
      <p:sp>
        <p:nvSpPr>
          <p:cNvPr id="37" name="TextBox 36"/>
          <p:cNvSpPr txBox="1"/>
          <p:nvPr/>
        </p:nvSpPr>
        <p:spPr>
          <a:xfrm>
            <a:off x="10004906" y="4133088"/>
            <a:ext cx="1363827" cy="603504"/>
          </a:xfrm>
          <a:prstGeom prst="rect">
            <a:avLst/>
          </a:prstGeom>
          <a:noFill/>
        </p:spPr>
        <p:txBody>
          <a:bodyPr wrap="square" lIns="0" rIns="0" tIns="0" bIns="0" anchor="ctr">
            <a:spAutoFit/>
          </a:bodyPr>
          <a:lstStyle/>
          <a:p>
            <a:pPr algn="l">
              <a:lnSpc>
                <a:spcPct val="110000"/>
              </a:lnSpc>
            </a:pPr>
            <a:r>
              <a:rPr sz="1100" b="0" i="0">
                <a:solidFill>
                  <a:srgbClr val="C9D0DC"/>
                </a:solidFill>
                <a:latin typeface="Inter"/>
              </a:rPr>
              <a:t>Base métier centralisée</a:t>
            </a:r>
          </a:p>
        </p:txBody>
      </p:sp>
      <p:sp>
        <p:nvSpPr>
          <p:cNvPr id="38" name="Rounded Rectangle 37"/>
          <p:cNvSpPr/>
          <p:nvPr/>
        </p:nvSpPr>
        <p:spPr>
          <a:xfrm>
            <a:off x="6255867" y="4873752"/>
            <a:ext cx="5295747" cy="603504"/>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84467" y="4992624"/>
            <a:ext cx="548640" cy="365760"/>
          </a:xfrm>
          <a:prstGeom prst="rect">
            <a:avLst/>
          </a:prstGeom>
          <a:noFill/>
        </p:spPr>
        <p:txBody>
          <a:bodyPr wrap="square" lIns="0" rIns="0" tIns="0" bIns="0" anchor="ctr">
            <a:spAutoFit/>
          </a:bodyPr>
          <a:lstStyle/>
          <a:p>
            <a:pPr algn="l">
              <a:lnSpc>
                <a:spcPct val="110000"/>
              </a:lnSpc>
            </a:pPr>
            <a:r>
              <a:rPr sz="1800" b="1" i="0">
                <a:solidFill>
                  <a:srgbClr val="FF9548"/>
                </a:solidFill>
                <a:latin typeface="Space Grotesk"/>
              </a:rPr>
              <a:t>04</a:t>
            </a:r>
          </a:p>
        </p:txBody>
      </p:sp>
      <p:sp>
        <p:nvSpPr>
          <p:cNvPr id="40" name="TextBox 39"/>
          <p:cNvSpPr txBox="1"/>
          <p:nvPr/>
        </p:nvSpPr>
        <p:spPr>
          <a:xfrm>
            <a:off x="7124547" y="4873752"/>
            <a:ext cx="2743200" cy="603504"/>
          </a:xfrm>
          <a:prstGeom prst="rect">
            <a:avLst/>
          </a:prstGeom>
          <a:noFill/>
        </p:spPr>
        <p:txBody>
          <a:bodyPr wrap="square" lIns="0" rIns="0" tIns="0" bIns="0" anchor="ctr">
            <a:spAutoFit/>
          </a:bodyPr>
          <a:lstStyle/>
          <a:p>
            <a:pPr algn="l">
              <a:lnSpc>
                <a:spcPct val="110000"/>
              </a:lnSpc>
            </a:pPr>
            <a:r>
              <a:rPr sz="1300" b="1" i="0">
                <a:solidFill>
                  <a:srgbClr val="FFFFFF"/>
                </a:solidFill>
                <a:latin typeface="Space Grotesk"/>
              </a:rPr>
              <a:t>Microservices FastAPI</a:t>
            </a:r>
          </a:p>
        </p:txBody>
      </p:sp>
      <p:sp>
        <p:nvSpPr>
          <p:cNvPr id="41" name="TextBox 40"/>
          <p:cNvSpPr txBox="1"/>
          <p:nvPr/>
        </p:nvSpPr>
        <p:spPr>
          <a:xfrm>
            <a:off x="10004906" y="4873752"/>
            <a:ext cx="1363827" cy="603504"/>
          </a:xfrm>
          <a:prstGeom prst="rect">
            <a:avLst/>
          </a:prstGeom>
          <a:noFill/>
        </p:spPr>
        <p:txBody>
          <a:bodyPr wrap="square" lIns="0" rIns="0" tIns="0" bIns="0" anchor="ctr">
            <a:spAutoFit/>
          </a:bodyPr>
          <a:lstStyle/>
          <a:p>
            <a:pPr algn="l">
              <a:lnSpc>
                <a:spcPct val="110000"/>
              </a:lnSpc>
            </a:pPr>
            <a:r>
              <a:rPr sz="1100" b="0" i="0">
                <a:solidFill>
                  <a:srgbClr val="C9D0DC"/>
                </a:solidFill>
                <a:latin typeface="Inter"/>
              </a:rPr>
              <a:t>Uvicorn · port 8001</a:t>
            </a:r>
          </a:p>
        </p:txBody>
      </p:sp>
      <p:sp>
        <p:nvSpPr>
          <p:cNvPr id="42" name="Rounded Rectangle 41"/>
          <p:cNvSpPr/>
          <p:nvPr/>
        </p:nvSpPr>
        <p:spPr>
          <a:xfrm>
            <a:off x="6255867" y="5614416"/>
            <a:ext cx="5295747" cy="603504"/>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84467" y="5733288"/>
            <a:ext cx="548640" cy="365760"/>
          </a:xfrm>
          <a:prstGeom prst="rect">
            <a:avLst/>
          </a:prstGeom>
          <a:noFill/>
        </p:spPr>
        <p:txBody>
          <a:bodyPr wrap="square" lIns="0" rIns="0" tIns="0" bIns="0" anchor="ctr">
            <a:spAutoFit/>
          </a:bodyPr>
          <a:lstStyle/>
          <a:p>
            <a:pPr algn="l">
              <a:lnSpc>
                <a:spcPct val="110000"/>
              </a:lnSpc>
            </a:pPr>
            <a:r>
              <a:rPr sz="1800" b="1" i="0">
                <a:solidFill>
                  <a:srgbClr val="FF9548"/>
                </a:solidFill>
                <a:latin typeface="Space Grotesk"/>
              </a:rPr>
              <a:t>05</a:t>
            </a:r>
          </a:p>
        </p:txBody>
      </p:sp>
      <p:sp>
        <p:nvSpPr>
          <p:cNvPr id="44" name="TextBox 43"/>
          <p:cNvSpPr txBox="1"/>
          <p:nvPr/>
        </p:nvSpPr>
        <p:spPr>
          <a:xfrm>
            <a:off x="7124547" y="5614416"/>
            <a:ext cx="2743200" cy="603504"/>
          </a:xfrm>
          <a:prstGeom prst="rect">
            <a:avLst/>
          </a:prstGeom>
          <a:noFill/>
        </p:spPr>
        <p:txBody>
          <a:bodyPr wrap="square" lIns="0" rIns="0" tIns="0" bIns="0" anchor="ctr">
            <a:spAutoFit/>
          </a:bodyPr>
          <a:lstStyle/>
          <a:p>
            <a:pPr algn="l">
              <a:lnSpc>
                <a:spcPct val="110000"/>
              </a:lnSpc>
            </a:pPr>
            <a:r>
              <a:rPr sz="1300" b="1" i="0">
                <a:solidFill>
                  <a:srgbClr val="FFFFFF"/>
                </a:solidFill>
                <a:latin typeface="Space Grotesk"/>
              </a:rPr>
              <a:t>App web + mobile</a:t>
            </a:r>
          </a:p>
        </p:txBody>
      </p:sp>
      <p:sp>
        <p:nvSpPr>
          <p:cNvPr id="45" name="TextBox 44"/>
          <p:cNvSpPr txBox="1"/>
          <p:nvPr/>
        </p:nvSpPr>
        <p:spPr>
          <a:xfrm>
            <a:off x="10004906" y="5614416"/>
            <a:ext cx="1363827" cy="603504"/>
          </a:xfrm>
          <a:prstGeom prst="rect">
            <a:avLst/>
          </a:prstGeom>
          <a:noFill/>
        </p:spPr>
        <p:txBody>
          <a:bodyPr wrap="square" lIns="0" rIns="0" tIns="0" bIns="0" anchor="ctr">
            <a:spAutoFit/>
          </a:bodyPr>
          <a:lstStyle/>
          <a:p>
            <a:pPr algn="l">
              <a:lnSpc>
                <a:spcPct val="110000"/>
              </a:lnSpc>
            </a:pPr>
            <a:r>
              <a:rPr sz="1100" b="0" i="0">
                <a:solidFill>
                  <a:srgbClr val="C9D0DC"/>
                </a:solidFill>
                <a:latin typeface="Inter"/>
              </a:rPr>
              <a:t>Accès LAN sur postes utilisateurs</a:t>
            </a:r>
          </a:p>
        </p:txBody>
      </p:sp>
      <p:sp>
        <p:nvSpPr>
          <p:cNvPr id="46" name="TextBox 45"/>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76895" y="731520"/>
            <a:ext cx="3657600" cy="3200400"/>
          </a:xfrm>
          <a:prstGeom prst="rect">
            <a:avLst/>
          </a:prstGeom>
          <a:noFill/>
        </p:spPr>
        <p:txBody>
          <a:bodyPr wrap="square" lIns="0" rIns="0" tIns="0" bIns="0" anchor="t">
            <a:spAutoFit/>
          </a:bodyPr>
          <a:lstStyle/>
          <a:p>
            <a:pPr algn="r">
              <a:lnSpc>
                <a:spcPct val="100000"/>
              </a:lnSpc>
            </a:pPr>
            <a:r>
              <a:rPr sz="20000" b="1" i="0">
                <a:solidFill>
                  <a:srgbClr val="FF7A1A"/>
                </a:solidFill>
                <a:latin typeface="Space Grotesk"/>
              </a:rPr>
              <a:t>05</a:t>
            </a:r>
          </a:p>
        </p:txBody>
      </p:sp>
      <p:sp>
        <p:nvSpPr>
          <p:cNvPr id="6" name="TextBox 5"/>
          <p:cNvSpPr txBox="1"/>
          <p:nvPr/>
        </p:nvSpPr>
        <p:spPr>
          <a:xfrm>
            <a:off x="640080" y="1828800"/>
            <a:ext cx="10911535" cy="320040"/>
          </a:xfrm>
          <a:prstGeom prst="rect">
            <a:avLst/>
          </a:prstGeom>
          <a:noFill/>
        </p:spPr>
        <p:txBody>
          <a:bodyPr wrap="square" lIns="0" rIns="0" tIns="0" bIns="0" anchor="t">
            <a:spAutoFit/>
          </a:bodyPr>
          <a:lstStyle/>
          <a:p>
            <a:pPr algn="l">
              <a:lnSpc>
                <a:spcPct val="110000"/>
              </a:lnSpc>
            </a:pPr>
            <a:r>
              <a:rPr sz="1100" b="1" i="0" spc="240">
                <a:solidFill>
                  <a:srgbClr val="FF9548"/>
                </a:solidFill>
                <a:latin typeface="JetBrains Mono"/>
              </a:rPr>
              <a:t>SECTION</a:t>
            </a:r>
          </a:p>
        </p:txBody>
      </p:sp>
      <p:sp>
        <p:nvSpPr>
          <p:cNvPr id="7" name="TextBox 6"/>
          <p:cNvSpPr txBox="1"/>
          <p:nvPr/>
        </p:nvSpPr>
        <p:spPr>
          <a:xfrm>
            <a:off x="640080" y="2286000"/>
            <a:ext cx="7772400" cy="1645920"/>
          </a:xfrm>
          <a:prstGeom prst="rect">
            <a:avLst/>
          </a:prstGeom>
          <a:noFill/>
        </p:spPr>
        <p:txBody>
          <a:bodyPr wrap="square" lIns="0" rIns="0" tIns="0" bIns="0" anchor="t">
            <a:spAutoFit/>
          </a:bodyPr>
          <a:lstStyle/>
          <a:p>
            <a:pPr algn="l">
              <a:lnSpc>
                <a:spcPct val="102000"/>
              </a:lnSpc>
            </a:pPr>
            <a:r>
              <a:rPr sz="6000" b="1" i="0">
                <a:solidFill>
                  <a:srgbClr val="FFFFFF"/>
                </a:solidFill>
                <a:latin typeface="Space Grotesk"/>
              </a:rPr>
              <a:t>Démonstration</a:t>
            </a:r>
          </a:p>
        </p:txBody>
      </p:sp>
      <p:sp>
        <p:nvSpPr>
          <p:cNvPr id="8" name="TextBox 7"/>
          <p:cNvSpPr txBox="1"/>
          <p:nvPr/>
        </p:nvSpPr>
        <p:spPr>
          <a:xfrm>
            <a:off x="640080" y="4206240"/>
            <a:ext cx="8686800" cy="457200"/>
          </a:xfrm>
          <a:prstGeom prst="rect">
            <a:avLst/>
          </a:prstGeom>
          <a:noFill/>
        </p:spPr>
        <p:txBody>
          <a:bodyPr wrap="square" lIns="0" rIns="0" tIns="0" bIns="0" anchor="t">
            <a:spAutoFit/>
          </a:bodyPr>
          <a:lstStyle/>
          <a:p>
            <a:pPr algn="l">
              <a:lnSpc>
                <a:spcPct val="110000"/>
              </a:lnSpc>
            </a:pPr>
            <a:r>
              <a:rPr sz="1800" b="0" i="0">
                <a:solidFill>
                  <a:srgbClr val="C9D0DC"/>
                </a:solidFill>
                <a:latin typeface="Inter"/>
              </a:rPr>
              <a:t>Passage à la démo live du système</a:t>
            </a:r>
          </a:p>
        </p:txBody>
      </p:sp>
      <p:sp>
        <p:nvSpPr>
          <p:cNvPr id="9" name="Rectangle 8"/>
          <p:cNvSpPr/>
          <p:nvPr/>
        </p:nvSpPr>
        <p:spPr>
          <a:xfrm>
            <a:off x="640080" y="3977639"/>
            <a:ext cx="2286000" cy="6350"/>
          </a:xfrm>
          <a:prstGeom prst="rect">
            <a:avLst/>
          </a:prstGeom>
          <a:solidFill>
            <a:srgbClr val="FF7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06 · CONCLUSION</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CE QUE NOUS AVONS LIVRÉ</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Ce qui a été livré.</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Quatre chiffres qui résument six mois de travail.</a:t>
            </a:r>
          </a:p>
        </p:txBody>
      </p:sp>
      <p:sp>
        <p:nvSpPr>
          <p:cNvPr id="9" name="Rounded Rectangle 8"/>
          <p:cNvSpPr/>
          <p:nvPr/>
        </p:nvSpPr>
        <p:spPr>
          <a:xfrm>
            <a:off x="640080" y="2606040"/>
            <a:ext cx="2556433" cy="2194560"/>
          </a:xfrm>
          <a:prstGeom prst="roundRect">
            <a:avLst>
              <a:gd name="adj" fmla="val 6000"/>
            </a:avLst>
          </a:prstGeom>
          <a:solidFill>
            <a:srgbClr val="101A45">
              <a:alpha val="15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34640"/>
            <a:ext cx="2190673" cy="914400"/>
          </a:xfrm>
          <a:prstGeom prst="rect">
            <a:avLst/>
          </a:prstGeom>
          <a:noFill/>
        </p:spPr>
        <p:txBody>
          <a:bodyPr wrap="square" lIns="0" rIns="0" tIns="0" bIns="0" anchor="t">
            <a:spAutoFit/>
          </a:bodyPr>
          <a:lstStyle/>
          <a:p>
            <a:pPr algn="ctr">
              <a:lnSpc>
                <a:spcPct val="100000"/>
              </a:lnSpc>
            </a:pPr>
            <a:r>
              <a:rPr sz="4400" b="1" i="0">
                <a:solidFill>
                  <a:srgbClr val="FF9548"/>
                </a:solidFill>
                <a:latin typeface="Space Grotesk"/>
              </a:rPr>
              <a:t>0.835</a:t>
            </a:r>
          </a:p>
        </p:txBody>
      </p:sp>
      <p:sp>
        <p:nvSpPr>
          <p:cNvPr id="11" name="TextBox 10"/>
          <p:cNvSpPr txBox="1"/>
          <p:nvPr/>
        </p:nvSpPr>
        <p:spPr>
          <a:xfrm>
            <a:off x="822960" y="3657600"/>
            <a:ext cx="2190673" cy="320040"/>
          </a:xfrm>
          <a:prstGeom prst="rect">
            <a:avLst/>
          </a:prstGeom>
          <a:noFill/>
        </p:spPr>
        <p:txBody>
          <a:bodyPr wrap="square" lIns="0" rIns="0" tIns="0" bIns="0" anchor="t">
            <a:spAutoFit/>
          </a:bodyPr>
          <a:lstStyle/>
          <a:p>
            <a:pPr algn="ctr">
              <a:lnSpc>
                <a:spcPct val="110000"/>
              </a:lnSpc>
            </a:pPr>
            <a:r>
              <a:rPr sz="1200" b="1" i="0">
                <a:solidFill>
                  <a:srgbClr val="FFFFFF"/>
                </a:solidFill>
                <a:latin typeface="Inter"/>
              </a:rPr>
              <a:t>F1-score</a:t>
            </a:r>
          </a:p>
        </p:txBody>
      </p:sp>
      <p:sp>
        <p:nvSpPr>
          <p:cNvPr id="12" name="TextBox 11"/>
          <p:cNvSpPr txBox="1"/>
          <p:nvPr/>
        </p:nvSpPr>
        <p:spPr>
          <a:xfrm>
            <a:off x="822960" y="3977640"/>
            <a:ext cx="2190673" cy="320040"/>
          </a:xfrm>
          <a:prstGeom prst="rect">
            <a:avLst/>
          </a:prstGeom>
          <a:noFill/>
        </p:spPr>
        <p:txBody>
          <a:bodyPr wrap="square" lIns="0" rIns="0" tIns="0" bIns="0" anchor="t">
            <a:spAutoFit/>
          </a:bodyPr>
          <a:lstStyle/>
          <a:p>
            <a:pPr algn="ctr">
              <a:lnSpc>
                <a:spcPct val="110000"/>
              </a:lnSpc>
            </a:pPr>
            <a:r>
              <a:rPr sz="900" b="0" i="0" spc="80">
                <a:solidFill>
                  <a:srgbClr val="7D8496"/>
                </a:solidFill>
                <a:latin typeface="JetBrains Mono"/>
              </a:rPr>
              <a:t>XGBoost v3 · macro</a:t>
            </a:r>
          </a:p>
        </p:txBody>
      </p:sp>
      <p:sp>
        <p:nvSpPr>
          <p:cNvPr id="13" name="Rounded Rectangle 12"/>
          <p:cNvSpPr/>
          <p:nvPr/>
        </p:nvSpPr>
        <p:spPr>
          <a:xfrm>
            <a:off x="3425113" y="2606040"/>
            <a:ext cx="2556433" cy="2194560"/>
          </a:xfrm>
          <a:prstGeom prst="roundRect">
            <a:avLst>
              <a:gd name="adj" fmla="val 6000"/>
            </a:avLst>
          </a:prstGeom>
          <a:solidFill>
            <a:srgbClr val="101A45">
              <a:alpha val="15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7993" y="2834640"/>
            <a:ext cx="2190673" cy="914400"/>
          </a:xfrm>
          <a:prstGeom prst="rect">
            <a:avLst/>
          </a:prstGeom>
          <a:noFill/>
        </p:spPr>
        <p:txBody>
          <a:bodyPr wrap="square" lIns="0" rIns="0" tIns="0" bIns="0" anchor="t">
            <a:spAutoFit/>
          </a:bodyPr>
          <a:lstStyle/>
          <a:p>
            <a:pPr algn="ctr">
              <a:lnSpc>
                <a:spcPct val="100000"/>
              </a:lnSpc>
            </a:pPr>
            <a:r>
              <a:rPr sz="4400" b="1" i="0">
                <a:solidFill>
                  <a:srgbClr val="FF9548"/>
                </a:solidFill>
                <a:latin typeface="Space Grotesk"/>
              </a:rPr>
              <a:t>5</a:t>
            </a:r>
          </a:p>
        </p:txBody>
      </p:sp>
      <p:sp>
        <p:nvSpPr>
          <p:cNvPr id="15" name="TextBox 14"/>
          <p:cNvSpPr txBox="1"/>
          <p:nvPr/>
        </p:nvSpPr>
        <p:spPr>
          <a:xfrm>
            <a:off x="3607993" y="3657600"/>
            <a:ext cx="2190673" cy="320040"/>
          </a:xfrm>
          <a:prstGeom prst="rect">
            <a:avLst/>
          </a:prstGeom>
          <a:noFill/>
        </p:spPr>
        <p:txBody>
          <a:bodyPr wrap="square" lIns="0" rIns="0" tIns="0" bIns="0" anchor="t">
            <a:spAutoFit/>
          </a:bodyPr>
          <a:lstStyle/>
          <a:p>
            <a:pPr algn="ctr">
              <a:lnSpc>
                <a:spcPct val="110000"/>
              </a:lnSpc>
            </a:pPr>
            <a:r>
              <a:rPr sz="1200" b="1" i="0">
                <a:solidFill>
                  <a:srgbClr val="FFFFFF"/>
                </a:solidFill>
                <a:latin typeface="Inter"/>
              </a:rPr>
              <a:t>Couches</a:t>
            </a:r>
          </a:p>
        </p:txBody>
      </p:sp>
      <p:sp>
        <p:nvSpPr>
          <p:cNvPr id="16" name="TextBox 15"/>
          <p:cNvSpPr txBox="1"/>
          <p:nvPr/>
        </p:nvSpPr>
        <p:spPr>
          <a:xfrm>
            <a:off x="3607993" y="3977640"/>
            <a:ext cx="2190673" cy="320040"/>
          </a:xfrm>
          <a:prstGeom prst="rect">
            <a:avLst/>
          </a:prstGeom>
          <a:noFill/>
        </p:spPr>
        <p:txBody>
          <a:bodyPr wrap="square" lIns="0" rIns="0" tIns="0" bIns="0" anchor="t">
            <a:spAutoFit/>
          </a:bodyPr>
          <a:lstStyle/>
          <a:p>
            <a:pPr algn="ctr">
              <a:lnSpc>
                <a:spcPct val="110000"/>
              </a:lnSpc>
            </a:pPr>
            <a:r>
              <a:rPr sz="900" b="0" i="0" spc="80">
                <a:solidFill>
                  <a:srgbClr val="7D8496"/>
                </a:solidFill>
                <a:latin typeface="JetBrains Mono"/>
              </a:rPr>
              <a:t>Perception → App</a:t>
            </a:r>
          </a:p>
        </p:txBody>
      </p:sp>
      <p:sp>
        <p:nvSpPr>
          <p:cNvPr id="17" name="Rounded Rectangle 16"/>
          <p:cNvSpPr/>
          <p:nvPr/>
        </p:nvSpPr>
        <p:spPr>
          <a:xfrm>
            <a:off x="6210147" y="2606040"/>
            <a:ext cx="2556433" cy="2194560"/>
          </a:xfrm>
          <a:prstGeom prst="roundRect">
            <a:avLst>
              <a:gd name="adj" fmla="val 6000"/>
            </a:avLst>
          </a:prstGeom>
          <a:solidFill>
            <a:srgbClr val="101A45">
              <a:alpha val="15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3027" y="2834640"/>
            <a:ext cx="2190673" cy="914400"/>
          </a:xfrm>
          <a:prstGeom prst="rect">
            <a:avLst/>
          </a:prstGeom>
          <a:noFill/>
        </p:spPr>
        <p:txBody>
          <a:bodyPr wrap="square" lIns="0" rIns="0" tIns="0" bIns="0" anchor="t">
            <a:spAutoFit/>
          </a:bodyPr>
          <a:lstStyle/>
          <a:p>
            <a:pPr algn="ctr">
              <a:lnSpc>
                <a:spcPct val="100000"/>
              </a:lnSpc>
            </a:pPr>
            <a:r>
              <a:rPr sz="4400" b="1" i="0">
                <a:solidFill>
                  <a:srgbClr val="FF9548"/>
                </a:solidFill>
                <a:latin typeface="Space Grotesk"/>
              </a:rPr>
              <a:t>3</a:t>
            </a:r>
          </a:p>
        </p:txBody>
      </p:sp>
      <p:sp>
        <p:nvSpPr>
          <p:cNvPr id="19" name="TextBox 18"/>
          <p:cNvSpPr txBox="1"/>
          <p:nvPr/>
        </p:nvSpPr>
        <p:spPr>
          <a:xfrm>
            <a:off x="6393027" y="3657600"/>
            <a:ext cx="2190673" cy="320040"/>
          </a:xfrm>
          <a:prstGeom prst="rect">
            <a:avLst/>
          </a:prstGeom>
          <a:noFill/>
        </p:spPr>
        <p:txBody>
          <a:bodyPr wrap="square" lIns="0" rIns="0" tIns="0" bIns="0" anchor="t">
            <a:spAutoFit/>
          </a:bodyPr>
          <a:lstStyle/>
          <a:p>
            <a:pPr algn="ctr">
              <a:lnSpc>
                <a:spcPct val="110000"/>
              </a:lnSpc>
            </a:pPr>
            <a:r>
              <a:rPr sz="1200" b="1" i="0">
                <a:solidFill>
                  <a:srgbClr val="FFFFFF"/>
                </a:solidFill>
                <a:latin typeface="Inter"/>
              </a:rPr>
              <a:t>Modèles ML</a:t>
            </a:r>
          </a:p>
        </p:txBody>
      </p:sp>
      <p:sp>
        <p:nvSpPr>
          <p:cNvPr id="20" name="TextBox 19"/>
          <p:cNvSpPr txBox="1"/>
          <p:nvPr/>
        </p:nvSpPr>
        <p:spPr>
          <a:xfrm>
            <a:off x="6393027" y="3977640"/>
            <a:ext cx="2190673" cy="320040"/>
          </a:xfrm>
          <a:prstGeom prst="rect">
            <a:avLst/>
          </a:prstGeom>
          <a:noFill/>
        </p:spPr>
        <p:txBody>
          <a:bodyPr wrap="square" lIns="0" rIns="0" tIns="0" bIns="0" anchor="t">
            <a:spAutoFit/>
          </a:bodyPr>
          <a:lstStyle/>
          <a:p>
            <a:pPr algn="ctr">
              <a:lnSpc>
                <a:spcPct val="110000"/>
              </a:lnSpc>
            </a:pPr>
            <a:r>
              <a:rPr sz="900" b="0" i="0" spc="80">
                <a:solidFill>
                  <a:srgbClr val="7D8496"/>
                </a:solidFill>
                <a:latin typeface="JetBrains Mono"/>
              </a:rPr>
              <a:t>RF · RF · XGBoost</a:t>
            </a:r>
          </a:p>
        </p:txBody>
      </p:sp>
      <p:sp>
        <p:nvSpPr>
          <p:cNvPr id="21" name="Rounded Rectangle 20"/>
          <p:cNvSpPr/>
          <p:nvPr/>
        </p:nvSpPr>
        <p:spPr>
          <a:xfrm>
            <a:off x="8995181" y="2606040"/>
            <a:ext cx="2556433" cy="2194560"/>
          </a:xfrm>
          <a:prstGeom prst="roundRect">
            <a:avLst>
              <a:gd name="adj" fmla="val 6000"/>
            </a:avLst>
          </a:prstGeom>
          <a:solidFill>
            <a:srgbClr val="101A45">
              <a:alpha val="15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78061" y="2834640"/>
            <a:ext cx="2190673" cy="914400"/>
          </a:xfrm>
          <a:prstGeom prst="rect">
            <a:avLst/>
          </a:prstGeom>
          <a:noFill/>
        </p:spPr>
        <p:txBody>
          <a:bodyPr wrap="square" lIns="0" rIns="0" tIns="0" bIns="0" anchor="t">
            <a:spAutoFit/>
          </a:bodyPr>
          <a:lstStyle/>
          <a:p>
            <a:pPr algn="ctr">
              <a:lnSpc>
                <a:spcPct val="100000"/>
              </a:lnSpc>
            </a:pPr>
            <a:r>
              <a:rPr sz="4400" b="1" i="0">
                <a:solidFill>
                  <a:srgbClr val="FF9548"/>
                </a:solidFill>
                <a:latin typeface="Space Grotesk"/>
              </a:rPr>
              <a:t>40</a:t>
            </a:r>
          </a:p>
        </p:txBody>
      </p:sp>
      <p:sp>
        <p:nvSpPr>
          <p:cNvPr id="23" name="TextBox 22"/>
          <p:cNvSpPr txBox="1"/>
          <p:nvPr/>
        </p:nvSpPr>
        <p:spPr>
          <a:xfrm>
            <a:off x="9178061" y="3657600"/>
            <a:ext cx="2190673" cy="320040"/>
          </a:xfrm>
          <a:prstGeom prst="rect">
            <a:avLst/>
          </a:prstGeom>
          <a:noFill/>
        </p:spPr>
        <p:txBody>
          <a:bodyPr wrap="square" lIns="0" rIns="0" tIns="0" bIns="0" anchor="t">
            <a:spAutoFit/>
          </a:bodyPr>
          <a:lstStyle/>
          <a:p>
            <a:pPr algn="ctr">
              <a:lnSpc>
                <a:spcPct val="110000"/>
              </a:lnSpc>
            </a:pPr>
            <a:r>
              <a:rPr sz="1200" b="1" i="0">
                <a:solidFill>
                  <a:srgbClr val="FFFFFF"/>
                </a:solidFill>
                <a:latin typeface="Inter"/>
              </a:rPr>
              <a:t>Endpoints</a:t>
            </a:r>
          </a:p>
        </p:txBody>
      </p:sp>
      <p:sp>
        <p:nvSpPr>
          <p:cNvPr id="24" name="TextBox 23"/>
          <p:cNvSpPr txBox="1"/>
          <p:nvPr/>
        </p:nvSpPr>
        <p:spPr>
          <a:xfrm>
            <a:off x="9178061" y="3977640"/>
            <a:ext cx="2190673" cy="320040"/>
          </a:xfrm>
          <a:prstGeom prst="rect">
            <a:avLst/>
          </a:prstGeom>
          <a:noFill/>
        </p:spPr>
        <p:txBody>
          <a:bodyPr wrap="square" lIns="0" rIns="0" tIns="0" bIns="0" anchor="t">
            <a:spAutoFit/>
          </a:bodyPr>
          <a:lstStyle/>
          <a:p>
            <a:pPr algn="ctr">
              <a:lnSpc>
                <a:spcPct val="110000"/>
              </a:lnSpc>
            </a:pPr>
            <a:r>
              <a:rPr sz="900" b="0" i="0" spc="80">
                <a:solidFill>
                  <a:srgbClr val="7D8496"/>
                </a:solidFill>
                <a:latin typeface="JetBrains Mono"/>
              </a:rPr>
              <a:t>API REST + IA</a:t>
            </a:r>
          </a:p>
        </p:txBody>
      </p:sp>
      <p:sp>
        <p:nvSpPr>
          <p:cNvPr id="25" name="Rounded Rectangle 24"/>
          <p:cNvSpPr/>
          <p:nvPr/>
        </p:nvSpPr>
        <p:spPr>
          <a:xfrm>
            <a:off x="640080" y="5120640"/>
            <a:ext cx="10911535" cy="914400"/>
          </a:xfrm>
          <a:prstGeom prst="roundRect">
            <a:avLst>
              <a:gd name="adj" fmla="val 6000"/>
            </a:avLst>
          </a:prstGeom>
          <a:solidFill>
            <a:srgbClr val="101A45">
              <a:alpha val="30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120640"/>
            <a:ext cx="10911535" cy="914400"/>
          </a:xfrm>
          <a:prstGeom prst="rect">
            <a:avLst/>
          </a:prstGeom>
          <a:noFill/>
        </p:spPr>
        <p:txBody>
          <a:bodyPr wrap="square" lIns="0" rIns="0" tIns="0" bIns="0" anchor="ctr">
            <a:spAutoFit/>
          </a:bodyPr>
          <a:lstStyle/>
          <a:p>
            <a:pPr algn="ctr">
              <a:lnSpc>
                <a:spcPct val="120000"/>
              </a:lnSpc>
            </a:pPr>
            <a:r>
              <a:rPr sz="1500" b="0" i="0">
                <a:solidFill>
                  <a:srgbClr val="FFFFFF"/>
                </a:solidFill>
                <a:latin typeface="Inter"/>
              </a:rPr>
              <a:t>Chaîne complète de bout en bout — du capteur physique jusqu'à l'écran mobile.</a:t>
            </a:r>
          </a:p>
          <a:p>
            <a:pPr algn="ctr">
              <a:lnSpc>
                <a:spcPct val="120000"/>
              </a:lnSpc>
              <a:spcBef>
                <a:spcPts val="400"/>
              </a:spcBef>
            </a:pPr>
            <a:r>
              <a:rPr sz="1200" b="1" i="0" spc="220">
                <a:solidFill>
                  <a:srgbClr val="FF9548"/>
                </a:solidFill>
                <a:latin typeface="JetBrains Mono"/>
              </a:rPr>
              <a:t>PROTOTYPE OPÉRATIONNEL</a:t>
            </a:r>
          </a:p>
        </p:txBody>
      </p:sp>
      <p:sp>
        <p:nvSpPr>
          <p:cNvPr id="27" name="TextBox 26"/>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320040"/>
            <a:ext cx="2377440" cy="292608"/>
          </a:xfrm>
          <a:prstGeom prst="roundRect">
            <a:avLst>
              <a:gd name="adj" fmla="val 50000"/>
            </a:avLst>
          </a:prstGeom>
          <a:solidFill>
            <a:srgbClr val="101A45">
              <a:alpha val="22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900" b="1" spc="140">
                <a:solidFill>
                  <a:srgbClr val="FFB37A"/>
                </a:solidFill>
                <a:latin typeface="JetBrains Mono"/>
              </a:rPr>
              <a:t>06 · CONCLUSION</a:t>
            </a:r>
          </a:p>
        </p:txBody>
      </p:sp>
      <p:sp>
        <p:nvSpPr>
          <p:cNvPr id="6" name="TextBox 5"/>
          <p:cNvSpPr txBox="1"/>
          <p:nvPr/>
        </p:nvSpPr>
        <p:spPr>
          <a:xfrm>
            <a:off x="640080" y="914400"/>
            <a:ext cx="10911535" cy="274320"/>
          </a:xfrm>
          <a:prstGeom prst="rect">
            <a:avLst/>
          </a:prstGeom>
          <a:noFill/>
        </p:spPr>
        <p:txBody>
          <a:bodyPr wrap="square" lIns="0" rIns="0" tIns="0" bIns="0" anchor="t">
            <a:spAutoFit/>
          </a:bodyPr>
          <a:lstStyle/>
          <a:p>
            <a:pPr algn="l">
              <a:lnSpc>
                <a:spcPct val="110000"/>
              </a:lnSpc>
            </a:pPr>
            <a:r>
              <a:rPr sz="1000" b="1" i="0" spc="180">
                <a:solidFill>
                  <a:srgbClr val="FF9548"/>
                </a:solidFill>
                <a:latin typeface="JetBrains Mono"/>
              </a:rPr>
              <a:t>PISTES D'ÉVOLUTION</a:t>
            </a:r>
          </a:p>
        </p:txBody>
      </p:sp>
      <p:sp>
        <p:nvSpPr>
          <p:cNvPr id="7" name="TextBox 6"/>
          <p:cNvSpPr txBox="1"/>
          <p:nvPr/>
        </p:nvSpPr>
        <p:spPr>
          <a:xfrm>
            <a:off x="640080" y="1234440"/>
            <a:ext cx="10911535"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Space Grotesk"/>
              </a:rPr>
              <a:t>Et après ?</a:t>
            </a:r>
          </a:p>
        </p:txBody>
      </p:sp>
      <p:sp>
        <p:nvSpPr>
          <p:cNvPr id="8" name="TextBox 7"/>
          <p:cNvSpPr txBox="1"/>
          <p:nvPr/>
        </p:nvSpPr>
        <p:spPr>
          <a:xfrm>
            <a:off x="640080" y="1874519"/>
            <a:ext cx="10911535" cy="548640"/>
          </a:xfrm>
          <a:prstGeom prst="rect">
            <a:avLst/>
          </a:prstGeom>
          <a:noFill/>
        </p:spPr>
        <p:txBody>
          <a:bodyPr wrap="square" lIns="0" rIns="0" tIns="0" bIns="0" anchor="t">
            <a:spAutoFit/>
          </a:bodyPr>
          <a:lstStyle/>
          <a:p>
            <a:pPr algn="l">
              <a:lnSpc>
                <a:spcPct val="130000"/>
              </a:lnSpc>
            </a:pPr>
            <a:r>
              <a:rPr sz="1700" b="0" i="0">
                <a:solidFill>
                  <a:srgbClr val="C9D0DC"/>
                </a:solidFill>
                <a:latin typeface="Inter"/>
              </a:rPr>
              <a:t>Quatre pistes concrètes, priorisées.</a:t>
            </a:r>
          </a:p>
        </p:txBody>
      </p:sp>
      <p:sp>
        <p:nvSpPr>
          <p:cNvPr id="9" name="Rounded Rectangle 8"/>
          <p:cNvSpPr/>
          <p:nvPr/>
        </p:nvSpPr>
        <p:spPr>
          <a:xfrm>
            <a:off x="640080" y="2651760"/>
            <a:ext cx="5341467" cy="166878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852928"/>
            <a:ext cx="4884267"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01</a:t>
            </a:r>
          </a:p>
        </p:txBody>
      </p:sp>
      <p:sp>
        <p:nvSpPr>
          <p:cNvPr id="11" name="Rounded Rectangle 10"/>
          <p:cNvSpPr/>
          <p:nvPr/>
        </p:nvSpPr>
        <p:spPr>
          <a:xfrm>
            <a:off x="4838547" y="2834640"/>
            <a:ext cx="914400" cy="256032"/>
          </a:xfrm>
          <a:prstGeom prst="roundRect">
            <a:avLst>
              <a:gd name="adj" fmla="val 50000"/>
            </a:avLst>
          </a:prstGeom>
          <a:solidFill>
            <a:srgbClr val="FF7A1A">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800" b="1" spc="140">
                <a:solidFill>
                  <a:srgbClr val="050B1E"/>
                </a:solidFill>
                <a:latin typeface="JetBrains Mono"/>
              </a:rPr>
              <a:t>COURT TERME</a:t>
            </a:r>
          </a:p>
        </p:txBody>
      </p:sp>
      <p:sp>
        <p:nvSpPr>
          <p:cNvPr id="12" name="TextBox 11"/>
          <p:cNvSpPr txBox="1"/>
          <p:nvPr/>
        </p:nvSpPr>
        <p:spPr>
          <a:xfrm>
            <a:off x="868680" y="3145536"/>
            <a:ext cx="4884267"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Edge AI</a:t>
            </a:r>
          </a:p>
        </p:txBody>
      </p:sp>
      <p:sp>
        <p:nvSpPr>
          <p:cNvPr id="13" name="TextBox 12"/>
          <p:cNvSpPr txBox="1"/>
          <p:nvPr/>
        </p:nvSpPr>
        <p:spPr>
          <a:xfrm>
            <a:off x="868680" y="3648456"/>
            <a:ext cx="4884267" cy="75438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Déployer le modèle XGBoost sur le Raspberry — décision locale sans réseau.</a:t>
            </a:r>
          </a:p>
        </p:txBody>
      </p:sp>
      <p:sp>
        <p:nvSpPr>
          <p:cNvPr id="14" name="Rounded Rectangle 13"/>
          <p:cNvSpPr/>
          <p:nvPr/>
        </p:nvSpPr>
        <p:spPr>
          <a:xfrm>
            <a:off x="6210147" y="2651760"/>
            <a:ext cx="5341467" cy="166878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8747" y="2852928"/>
            <a:ext cx="4884267"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02</a:t>
            </a:r>
          </a:p>
        </p:txBody>
      </p:sp>
      <p:sp>
        <p:nvSpPr>
          <p:cNvPr id="16" name="Rounded Rectangle 15"/>
          <p:cNvSpPr/>
          <p:nvPr/>
        </p:nvSpPr>
        <p:spPr>
          <a:xfrm>
            <a:off x="10408615" y="2834640"/>
            <a:ext cx="914400" cy="256032"/>
          </a:xfrm>
          <a:prstGeom prst="roundRect">
            <a:avLst>
              <a:gd name="adj" fmla="val 50000"/>
            </a:avLst>
          </a:prstGeom>
          <a:solidFill>
            <a:srgbClr val="FF7A1A">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800" b="1" spc="140">
                <a:solidFill>
                  <a:srgbClr val="050B1E"/>
                </a:solidFill>
                <a:latin typeface="JetBrains Mono"/>
              </a:rPr>
              <a:t>MOYEN TERME</a:t>
            </a:r>
          </a:p>
        </p:txBody>
      </p:sp>
      <p:sp>
        <p:nvSpPr>
          <p:cNvPr id="17" name="TextBox 16"/>
          <p:cNvSpPr txBox="1"/>
          <p:nvPr/>
        </p:nvSpPr>
        <p:spPr>
          <a:xfrm>
            <a:off x="6438747" y="3145536"/>
            <a:ext cx="4884267"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Weibull</a:t>
            </a:r>
          </a:p>
        </p:txBody>
      </p:sp>
      <p:sp>
        <p:nvSpPr>
          <p:cNvPr id="18" name="TextBox 17"/>
          <p:cNvSpPr txBox="1"/>
          <p:nvPr/>
        </p:nvSpPr>
        <p:spPr>
          <a:xfrm>
            <a:off x="6438747" y="3648456"/>
            <a:ext cx="4884267" cy="75438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Remplacer la régression linéaire par une loi de Weibull pour la durée de vie.</a:t>
            </a:r>
          </a:p>
        </p:txBody>
      </p:sp>
      <p:sp>
        <p:nvSpPr>
          <p:cNvPr id="19" name="Rounded Rectangle 18"/>
          <p:cNvSpPr/>
          <p:nvPr/>
        </p:nvSpPr>
        <p:spPr>
          <a:xfrm>
            <a:off x="640080" y="4549140"/>
            <a:ext cx="5341467" cy="166878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750308"/>
            <a:ext cx="4884267"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03</a:t>
            </a:r>
          </a:p>
        </p:txBody>
      </p:sp>
      <p:sp>
        <p:nvSpPr>
          <p:cNvPr id="21" name="Rounded Rectangle 20"/>
          <p:cNvSpPr/>
          <p:nvPr/>
        </p:nvSpPr>
        <p:spPr>
          <a:xfrm>
            <a:off x="4838547" y="4732020"/>
            <a:ext cx="914400" cy="256032"/>
          </a:xfrm>
          <a:prstGeom prst="roundRect">
            <a:avLst>
              <a:gd name="adj" fmla="val 50000"/>
            </a:avLst>
          </a:prstGeom>
          <a:solidFill>
            <a:srgbClr val="FF7A1A">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800" b="1" spc="140">
                <a:solidFill>
                  <a:srgbClr val="050B1E"/>
                </a:solidFill>
                <a:latin typeface="JetBrains Mono"/>
              </a:rPr>
              <a:t>MOYEN TERME</a:t>
            </a:r>
          </a:p>
        </p:txBody>
      </p:sp>
      <p:sp>
        <p:nvSpPr>
          <p:cNvPr id="22" name="TextBox 21"/>
          <p:cNvSpPr txBox="1"/>
          <p:nvPr/>
        </p:nvSpPr>
        <p:spPr>
          <a:xfrm>
            <a:off x="868680" y="5042916"/>
            <a:ext cx="4884267"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Calibration par machine</a:t>
            </a:r>
          </a:p>
        </p:txBody>
      </p:sp>
      <p:sp>
        <p:nvSpPr>
          <p:cNvPr id="23" name="TextBox 22"/>
          <p:cNvSpPr txBox="1"/>
          <p:nvPr/>
        </p:nvSpPr>
        <p:spPr>
          <a:xfrm>
            <a:off x="868680" y="5545836"/>
            <a:ext cx="4884267" cy="75438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Deltas capteur spécifiques Alpha vs Gamma · F1 stratifié par modèle.</a:t>
            </a:r>
          </a:p>
        </p:txBody>
      </p:sp>
      <p:sp>
        <p:nvSpPr>
          <p:cNvPr id="24" name="Rounded Rectangle 23"/>
          <p:cNvSpPr/>
          <p:nvPr/>
        </p:nvSpPr>
        <p:spPr>
          <a:xfrm>
            <a:off x="6210147" y="4549140"/>
            <a:ext cx="5341467" cy="1668780"/>
          </a:xfrm>
          <a:prstGeom prst="roundRect">
            <a:avLst>
              <a:gd name="adj" fmla="val 6000"/>
            </a:avLst>
          </a:prstGeom>
          <a:solidFill>
            <a:srgbClr val="101A45">
              <a:alpha val="18000"/>
            </a:srgbClr>
          </a:solidFill>
          <a:ln w="9525">
            <a:solidFill>
              <a:srgbClr val="FF7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8747" y="4750308"/>
            <a:ext cx="4884267" cy="256032"/>
          </a:xfrm>
          <a:prstGeom prst="rect">
            <a:avLst/>
          </a:prstGeom>
          <a:noFill/>
        </p:spPr>
        <p:txBody>
          <a:bodyPr wrap="square" lIns="0" rIns="0" tIns="0" bIns="0" anchor="t">
            <a:spAutoFit/>
          </a:bodyPr>
          <a:lstStyle/>
          <a:p>
            <a:pPr algn="l">
              <a:lnSpc>
                <a:spcPct val="110000"/>
              </a:lnSpc>
            </a:pPr>
            <a:r>
              <a:rPr sz="1000" b="1" i="0" spc="150">
                <a:solidFill>
                  <a:srgbClr val="FF9548"/>
                </a:solidFill>
                <a:latin typeface="JetBrains Mono"/>
              </a:rPr>
              <a:t>04</a:t>
            </a:r>
          </a:p>
        </p:txBody>
      </p:sp>
      <p:sp>
        <p:nvSpPr>
          <p:cNvPr id="26" name="Rounded Rectangle 25"/>
          <p:cNvSpPr/>
          <p:nvPr/>
        </p:nvSpPr>
        <p:spPr>
          <a:xfrm>
            <a:off x="10408615" y="4732020"/>
            <a:ext cx="914400" cy="256032"/>
          </a:xfrm>
          <a:prstGeom prst="roundRect">
            <a:avLst>
              <a:gd name="adj" fmla="val 50000"/>
            </a:avLst>
          </a:prstGeom>
          <a:solidFill>
            <a:srgbClr val="FF7A1A">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a:lstStyle/>
          <a:p>
            <a:pPr algn="ctr"/>
            <a:r>
              <a:rPr sz="800" b="1" spc="140">
                <a:solidFill>
                  <a:srgbClr val="050B1E"/>
                </a:solidFill>
                <a:latin typeface="JetBrains Mono"/>
              </a:rPr>
              <a:t>LONG TERME</a:t>
            </a:r>
          </a:p>
        </p:txBody>
      </p:sp>
      <p:sp>
        <p:nvSpPr>
          <p:cNvPr id="27" name="TextBox 26"/>
          <p:cNvSpPr txBox="1"/>
          <p:nvPr/>
        </p:nvSpPr>
        <p:spPr>
          <a:xfrm>
            <a:off x="6438747" y="5042916"/>
            <a:ext cx="4884267"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Space Grotesk"/>
              </a:rPr>
              <a:t>Vision</a:t>
            </a:r>
          </a:p>
        </p:txBody>
      </p:sp>
      <p:sp>
        <p:nvSpPr>
          <p:cNvPr id="28" name="TextBox 27"/>
          <p:cNvSpPr txBox="1"/>
          <p:nvPr/>
        </p:nvSpPr>
        <p:spPr>
          <a:xfrm>
            <a:off x="6438747" y="5545836"/>
            <a:ext cx="4884267" cy="754380"/>
          </a:xfrm>
          <a:prstGeom prst="rect">
            <a:avLst/>
          </a:prstGeom>
          <a:noFill/>
        </p:spPr>
        <p:txBody>
          <a:bodyPr wrap="square" lIns="0" rIns="0" tIns="0" bIns="0" anchor="t">
            <a:spAutoFit/>
          </a:bodyPr>
          <a:lstStyle/>
          <a:p>
            <a:pPr algn="l">
              <a:lnSpc>
                <a:spcPct val="135000"/>
              </a:lnSpc>
            </a:pPr>
            <a:r>
              <a:rPr sz="1100" b="0" i="0">
                <a:solidFill>
                  <a:srgbClr val="C9D0DC"/>
                </a:solidFill>
                <a:latin typeface="Inter"/>
              </a:rPr>
              <a:t>Caméra + CV pour détecter les défauts de sertissage en sortie de machine.</a:t>
            </a:r>
          </a:p>
        </p:txBody>
      </p:sp>
      <p:sp>
        <p:nvSpPr>
          <p:cNvPr id="29" name="TextBox 28"/>
          <p:cNvSpPr txBox="1"/>
          <p:nvPr/>
        </p:nvSpPr>
        <p:spPr>
          <a:xfrm>
            <a:off x="10820095" y="6537960"/>
            <a:ext cx="1097280" cy="228600"/>
          </a:xfrm>
          <a:prstGeom prst="rect">
            <a:avLst/>
          </a:prstGeom>
          <a:noFill/>
        </p:spPr>
        <p:txBody>
          <a:bodyPr wrap="square" lIns="0" rIns="0" tIns="0" bIns="0" anchor="t">
            <a:spAutoFit/>
          </a:bodyPr>
          <a:lstStyle/>
          <a:p>
            <a:pPr algn="r">
              <a:lnSpc>
                <a:spcPct val="110000"/>
              </a:lnSpc>
            </a:pPr>
            <a:r>
              <a:rPr sz="900" b="0" i="0" spc="100">
                <a:solidFill>
                  <a:srgbClr val="7D8496"/>
                </a:solidFill>
                <a:latin typeface="JetBrains Mono"/>
              </a:rPr>
              <a:t>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743200" y="-2286000"/>
            <a:ext cx="8229600" cy="5486400"/>
          </a:xfrm>
          <a:prstGeom prst="ellipse">
            <a:avLst/>
          </a:prstGeom>
          <a:solidFill>
            <a:srgbClr val="101A45">
              <a:alpha val="3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0" y="4114800"/>
            <a:ext cx="7315200" cy="4572000"/>
          </a:xfrm>
          <a:prstGeom prst="ellipse">
            <a:avLst/>
          </a:prstGeom>
          <a:solidFill>
            <a:srgbClr val="FF7A1A">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10911535" cy="2286000"/>
          </a:xfrm>
          <a:prstGeom prst="rect">
            <a:avLst/>
          </a:prstGeom>
          <a:noFill/>
        </p:spPr>
        <p:txBody>
          <a:bodyPr wrap="square" lIns="0" rIns="0" tIns="0" bIns="0" anchor="t">
            <a:spAutoFit/>
          </a:bodyPr>
          <a:lstStyle/>
          <a:p>
            <a:pPr algn="ctr">
              <a:lnSpc>
                <a:spcPct val="100000"/>
              </a:lnSpc>
            </a:pPr>
            <a:r>
              <a:rPr sz="16000" b="1" i="0">
                <a:solidFill>
                  <a:srgbClr val="FFFFFF"/>
                </a:solidFill>
                <a:latin typeface="Space Grotesk"/>
              </a:rPr>
              <a:t>Merci.</a:t>
            </a:r>
          </a:p>
        </p:txBody>
      </p:sp>
      <p:sp>
        <p:nvSpPr>
          <p:cNvPr id="6" name="TextBox 5"/>
          <p:cNvSpPr txBox="1"/>
          <p:nvPr/>
        </p:nvSpPr>
        <p:spPr>
          <a:xfrm>
            <a:off x="640080" y="4023360"/>
            <a:ext cx="10911535" cy="640080"/>
          </a:xfrm>
          <a:prstGeom prst="rect">
            <a:avLst/>
          </a:prstGeom>
          <a:noFill/>
        </p:spPr>
        <p:txBody>
          <a:bodyPr wrap="square" lIns="0" rIns="0" tIns="0" bIns="0" anchor="t">
            <a:spAutoFit/>
          </a:bodyPr>
          <a:lstStyle/>
          <a:p>
            <a:pPr algn="ctr">
              <a:lnSpc>
                <a:spcPct val="110000"/>
              </a:lnSpc>
            </a:pPr>
            <a:r>
              <a:rPr sz="2400" b="0" i="0">
                <a:solidFill>
                  <a:srgbClr val="FFB37A"/>
                </a:solidFill>
                <a:latin typeface="Inter"/>
              </a:rPr>
              <a:t>Place aux questions du jury.</a:t>
            </a:r>
          </a:p>
        </p:txBody>
      </p:sp>
      <p:sp>
        <p:nvSpPr>
          <p:cNvPr id="7" name="TextBox 6"/>
          <p:cNvSpPr txBox="1"/>
          <p:nvPr/>
        </p:nvSpPr>
        <p:spPr>
          <a:xfrm>
            <a:off x="640080" y="5852160"/>
            <a:ext cx="10911535" cy="365760"/>
          </a:xfrm>
          <a:prstGeom prst="rect">
            <a:avLst/>
          </a:prstGeom>
          <a:noFill/>
        </p:spPr>
        <p:txBody>
          <a:bodyPr wrap="square" lIns="0" rIns="0" tIns="0" bIns="0" anchor="t">
            <a:spAutoFit/>
          </a:bodyPr>
          <a:lstStyle/>
          <a:p>
            <a:pPr algn="ctr">
              <a:lnSpc>
                <a:spcPct val="110000"/>
              </a:lnSpc>
            </a:pPr>
            <a:r>
              <a:rPr sz="1200" b="1" i="0" spc="250">
                <a:solidFill>
                  <a:srgbClr val="C9D0DC"/>
                </a:solidFill>
                <a:latin typeface="JetBrains Mono"/>
              </a:rPr>
              <a:t>MOUTIA BENSAAD  ·  ISET NABEUL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