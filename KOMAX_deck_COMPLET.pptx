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[01] Cover  (45 s)
Bonjour à tous. Je m'appelle Moutia Bensaad, étudiant en Mastère 2 Systèmes Embarqués et Mobile à l'ISET Nabeul. J'ai réalisé ce projet de fin d'études au sein d'ICEM Nabeul, sous l'encadrement académique de Monsieur Imed Hidri et l'encadrement société de Monsieur Yassine Hammami. Mon sujet porte sur une plateforme de **maintenance prédictive intelligente** appliquée à deux machines de câblage : la Komax Alpha 433 H et la Gamma 333 PC. L'idée : instrumenter ces machines avec des capteurs, remonter les données via une Raspberry Pi, entraîner un modèle qui anticipe les pannes, puis restituer les alertes sur une interface web et mobile. Je vous propose maintenant le plan de la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[02] Plan de la présentation  (30 s)
La présentation s'articule en six sections. D'abord l'introduction et le contexte industriel chez ICEM. Ensuite l'état de l'art — méthodologie, matériel, briques logicielles. Puis la conception : architecture cinq couches et modélisation UML. Le développement occupe la partie la plus dense — backend, intelligence artificielle, web, mobile, déploiement. Une courte démonstration live suivra. Et nous conclurons sur les résultats mesurés et les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[03] Section 1 · Introduction et contexte  (5 s)
Commençons par le contexte industriel.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[04] ICEM Nabeul  (40 s)
ICEM est une filiale du groupe Coficab, spécialisée dans la production de faisceaux électriques pour l'industrie automobile. L'usine de Nabeul emploie plusieurs centaines de personnes et produit chaque jour des milliers de sous-ensembles câblés. Le parc machine repose principalement sur des équipements Komax, qui coupent, dénudent et sertissent le fil à grande cadence. Toute panne sur ces machines interrompt une ligne entière et impacte directement le rendement. C'est dans cet environnement que le besoin de maintenance prédictive a émergé.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[05] Machines Alpha 433 H et Gamma 333 PC  (50 s)
Deux machines sont ciblées par le projet. **La Komax Alpha 433 H** — une machine d'entrée de gamme, quatre postes, cadence moyenne, six moteurs pas-à-pas et un cycle en sept étapes : dévidage, mesure, coupe, dénudage, transfert, sertissage, éjection. **La Gamma 333 PC**, plus haut de gamme — automate compact, unité de sertissage double, entraînement par courroies crantées à tension calibrée. Sur les deux machines, on retrouve les mêmes zones critiques : la tête de coupe, les courroies, les capteurs de position et l'armoire électrique. Une analyse historique de mille cent soixante pannes ICEM nous a permis de hiérarchiser ces zones.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[06] Problématique  (45 s)
Aujourd'hui, la maintenance chez ICEM est majoritairement **corrective** — on répare après la panne — ou **préventive systématique** — on remplace à intervalle fixe. Les deux approches présentent des limites : la corrective coûte cher en arrêt de production, la préventive systématique gaspille des pièces encore fonctionnelles. L'objectif de la maintenance prédictive est d'intervenir *au bon moment*, à partir de signaux mesurés en continu. Sans instrumentation, cet objectif est hors d'atteinte. Le projet vise justement à fournir cette instrumentation, la chaîne de traitement associée et les interfaces métier.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[07] Objectifs  (40 s)
Trois objectifs mesurables ont été fixés. Premier : instrumenter les deux machines avec quatre familles de capteurs — température, vibration, thermique matricielle, courant. Deuxième : construire une chaîne complète de la donnée, du capteur jusqu'à la notification opérateur, en passant par le backend et le microservice d'intelligence artificielle. Troisième : livrer deux interfaces — une application web pour les responsables de maintenance, une application mobile pour les techniciens sur le terrain. Un microservice de fiabilité complète l'ensemble pour l'aide à la décision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[08] Section 2 · État de l'art  (5 s)
Passons à l'état de l'art et aux choix technologiques.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[09] Méthodologie Scrum  (35 s)
Le projet s'étale sur six mois d'avril à septembre. Nous avons adopté la méthodologie **Scrum**, découpée en six sprints de trois à quatre semaines. Chaque sprint livre un incrément fonctionnel : sprint 1 la modélisation, sprint 2 le backend, sprint 3 l'IA, sprint 4 le web, sprint 5 le mobile, sprint 6 l'intégration IoT. Une revue en fin de sprint valide la production et alimente le backlog du sprint suivant. Cette itération courte a permis de réagir aux découvertes terrain — notamment sur le choix des capteurs.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[10] Capteurs et instrumentation  (55 s)
Quatre familles de capteurs équipent chaque machine. Le **DS18B20** — température numérique, précision d'un demi-degré — placé au contact du moteur M6 sur la Alpha et du moteur E117 sur la Gamma pour surveiller l'échauffement de roulement. Le **MPU-6050** — accéléromètre trois axes plus gyroscope — fixé sur le châssis près de la tête de coupe pour détecter l'usure des courroies et le désalignement lame. La **caméra thermique AMG8833** — matrice huit sur huit, champ soixante degrés — installée au-dessus de la machine pour cartographier les points chauds, en particulier le Gommino de la Gamma. Enfin la **pince SCT-013** — soixante ampères sortie tension — clampée sur l'alimentation principale de l'armoire, connectée via un convertisseur ADS1015 douze bits. Cette combinaison couvre les zones de panne les plus coûteuses identifiées dans l'historique ICEM.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[11] Stack technique  (35 s)
Trois briques logicielles principales. Côté **backend** : Node.js avec Express, MongoDB via Mongoose, authentification JWT. Côté **intelligence artificielle** : Python avec FastAPI, scikit-learn pour les modèles Random Forest, XGBoost pour la classification fine des causes. Côté **frontend** : React.js pour l'interface web des responsables, Flutter pour l'application mobile des techniciens, et Firebase Cloud Messaging pour les notifications push. Cette pile est déployée en production sur Render pour le backend et l'IA.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[12] Section 3 · Conception  (5 s)
Voici la conception architecturale.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[13] Architecture cinq couches  (50 s)
L'écosystème repose sur cinq couches conceptuelles empilées. **Perception** — les capteurs physiques et leurs signaux bruts. **Acquisition** — la Raspberry Pi qui échantillonne, filtre et met en forme. **Transport** — le réseau HTTPS qui achemine les mesures vers le serveur central. **Traitement** — le backend Node.js et le microservice FastAPI qui persistent, classifient et prédisent. **Application** — les interfaces web et mobile qui restituent l'information au bon acteur. Ce découpage isole les responsabilités et facilite la maintenance future : on peut remplacer un capteur, changer d'orchestrateur ou faire évoluer l'IA sans impacter les autres couches.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[14] Passerelle Edge (Raspberry Pi)  (40 s)
La Raspberry Pi joue le rôle de passerelle terrain. Elle centralise les quatre capteurs via un bus I2C partagé — MPU-6050, AMG8833, ADS1015 — et un fil dédié pour le DS18B20 en OneWire. Un script Python cadencé lit chaque capteur, calcule les indicateurs (RMS courant, delta température, magnitude vibration) et envoie une trame JSON toutes les cinq secondes vers l'API. Un service systemd assure le redémarrage automatique. En cas de coupure réseau, les mesures sont mises en cache localement puis rejouées à la reconnexion.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[15] Modélisation UML  (45 s)
Deux diagrammes structurent la modélisation. Le **diagramme de cas d'utilisation** identifie six acteurs — Responsable Maintenance, Chef de Ligne, Technicien, plus trois acteurs système : IoT, IA, notification — et une quinzaine de cas fonctionnels : gestion des machines, planification préventive, interventions correctives, supervision temps réel, classification de pannes, rapports de fiabilité. Le **diagramme de classes** modélise cinq entités principales : Machine, Utilisateur, Intervention, Alerte, Capteur. La classe Maintenance porte un type énuméré qui distingue préventif, correctif et prédictif — plutôt que trois classes séparées, ce qui simplifie les requêtes.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[16] Pipeline de données temps réel  (45 s)
Le pipeline temps réel enchaîne cinq étapes déterministes. Un — la Raspberry Pi publie un JSON toutes les cinq secondes sur l'endpoint capteurs. Deux — le backend valide le payload, l'associe à la machine cible et le persiste dans MongoDB. Trois — un service applicatif transmet automatiquement la mesure au microservice IA. Quatre — FastAPI renvoie la probabilité de panne, le type détecté et la cause probable. Cinq — si la probabilité dépasse quatre-vingts pour cent, une maintenance prédictive est créée automatiquement et une notification est poussée vers les techniciens concernés. L'ensemble tient dans une latence inférieure à la seconde.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[17] Section 4 · Développement  (5 s)
Nous entrons dans la partie développement, la plus dense.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[18] Backend Express + MongoDB  (45 s)
Le backend expose une API REST organisée en huit ressources principales : machines, utilisateurs, interventions, alertes, capteurs, maintenances, checklists et analyses de fiabilité. L'authentification repose sur JWT avec trois rôles : responsable, chef de ligne, technicien. Un middleware centralise le contrôle d'accès à partir d'un fichier de permissions unique — la même règle protège l'API et l'interface. Les controllers utilisent un pattern *asyncHandler* pour propager proprement les erreurs. Le seed script initialise la base avec des machines, utilisateurs et checklists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[19] Microservice IA FastAPI  (45 s)
Le microservice IA est écrit en Python avec FastAPI. Il expose quatre endpoints : prédiction du type de panne, classification de la cause probable, probabilité de défaillance à horizon court, prévision de fiabilité. Deux modèles sont embarqués : un Random Forest pour la classification de causes physiques, un XGBoost pour la probabilité fine. Un troisième modèle — régression linéaire — alimente le calcul de fiabilité prévisionnelle. Le backend appelle ce microservice à chaque ingestion de mesure, sans blocage de la Raspberry Pi.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[20] Dataset d'entraînement  (50 s)
Faute de déploiement matériel à l'échelle, le dataset d'entraînement est **synthétique et ancré sur des signaux réels**. Nous avons généré soixante-quatre mille huit cents lectures à partir d'un script paramétrique, calibré sur les fiches techniques Komax, les manuels moteur et surtout **l'historique réel de mille cent soixante pannes ICEM**. Chaque profil de défaut respecte la signature physique attendue — par exemple un delta température de plus quatre à huit degrés pour l'usure de roulement, une surcharge courant de six ampères sur une panne générale multi-moteurs. Ce jeu est ensuite rejouable tel quel lorsque les capteurs physiques seront installés.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[21] Taxonomie de causes  (45 s)
La classification distingue treize causes physiques codées C01 à C13 : usure moteur, désalignement lame, courroie détendue, contamination Gommino, surintensité armoire, échauffement carte, capteur défaillant, obstruction mécanique, défaut alimentation, dérive calibration, blocage éjection, défaut communication, non-signature. Cette taxonomie remplace un premier étiquetage par zones — désormais le modèle ne duplique plus la sortie de l'interface opérateur et fournit une information réellement complémentaire au diagnostic humain.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[22] Performances F1  (50 s)
Deux modèles sont évalués sur le même jeu de test. Le **Random Forest** — modèle de référence — atteint un F1 macro de **zéro virgule quarante-cinq**, correct sur les classes majoritaires mais faible sur les causes rares. Le **XGBoost** — modèle final retenu — atteint un F1 macro de **zéro virgule quatre-vingt-treize**, avec une précision supérieure à quatre-vingt-dix pour cent sur onze des treize causes. Le gain vient du gradient boosting, plus adapté aux distributions déséquilibrées, combiné à un ré-échantillonnage SMOTE ciblé sur les classes minoritaires. Ces résultats valident l'architecture ; le modèle sera ré-entraîné sur données réelles après installation physique.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[23] Matrice de confusion  (35 s)
La matrice de confusion du XGBoost montre une diagonale dominante — la majorité des prédictions tombent sur la bonne classe. Les confusions résiduelles concernent principalement deux paires de causes physiquement proches : usure moteur avec échauffement carte — les deux produisent une signature thermique — et courroie détendue avec désalignement lame — les deux produisent une signature vibratoire. Ces confusions sont attendues et acceptables ; l'intervention corrective couvre souvent les deux hypothèses en même temps.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[24] Fonctionnalités web  (45 s)
L'application web s'adresse principalement au responsable de maintenance. Six modules la structurent. Un tableau de bord temps réel avec les indicateurs MTBF et MTTR par machine. Une gestion complète des machines et de leur historique. Un module d'interventions avec workflow d'assignation. Un planning préventif calendaire. Un centre d'alertes avec filtrage et acquittement. Un module de fiabilité prévisionnelle avec génération de rapport PDF. L'ensemble respecte le référentiel de permissions unique côté backend.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[25] Web · exemples d'écrans  (40 s)
Voici quelques écrans clés. Le tableau de bord présente les KPI par machine avec code couleur — vert nominal, orange dégradé, rouge critique. Le détail machine agrège son historique, sa checklist préventive en cours et ses interventions passées. L'écran interventions liste chaque événement avec un badge IA quand la maintenance a été créée automatiquement par le modèle. Le module fiabilité génère un PDF signé prêt à archiver.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[26] Fonctionnalités mobile  (40 s)
L'application mobile Flutter s'adresse au technicien terrain et au chef de ligne. Cinq écrans principaux : tableau de bord synthétique, liste des machines assignées, interventions en cours avec photos avant-après, alertes push en temps réel via Firebase Cloud Messaging, profil utilisateur. La contrainte forte : chaque preuve photographique doit être prise depuis la caméra native — pas de galerie — pour garantir la traçabilité de l'intervention.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[27] Mobile · exemples d'écrans  (40 s)
Voici les écrans mobile. La liste d'interventions présente chaque tâche avec priorité et machine associée. L'écran détail permet de saisir un état, joindre deux photos — avant et après — et signer la clôture. Les alertes remontent instantanément avec vibration et son distinctif. La checklist préventive quotidienne — sous forme de grille par équipement — verrouille automatiquement chaque ligne après commit pour éviter les modifications concurrentes.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[28] Analyse de fiabilité  (40 s)
Le module de fiabilité aide à la décision d'investissement. Il agrège pour chaque machine : nombre de pannes sur période, temps moyen entre pannes, taux de disponibilité, projection à trois mois via régression linéaire. Un rapport PDF est généré côté serveur et téléchargeable depuis le web comme depuis le mobile. La recommandation finale — conserver, surveiller, remplacer — repose sur la disponibilité et le nombre de pannes, sans intégrer de dimension monétaire par choix méthodologique.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[29] Déploiement  (35 s)
Le backend Express et le microservice FastAPI sont déployés sur **Render** — plateforme cloud gérée. La base MongoDB tourne sur MongoDB Atlas, cluster gratuit région Europe. Les processus sont supervisés par PM2 en local pour le développement, par Render pour la production. Un endpoint `/health` permet la vérification externe. Le mobile Flutter est distribué en APK signé, l'application web est livrée en build statique servi par Nginx.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[30] Section 5 · Démonstration  (5 s)
Passons à la démonstration live.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[31] KPI et résultats  (45 s)
Récapitulatif chiffré. Cinq capteurs par machine, quatre familles de mesure. Soixante-quatre mille huit cents échantillons d'entraînement. XGBoost à zéro virgule quatre-vingt-treize de F1 macro. Latence bout-en-bout inférieure à une seconde. Deux applications — web et mobile — synchronisées sur la même API. Un microservice IA autonome, redéployable indépendamment. Un rapport de fiabilité PDF généré à la demande. L'objectif initial des trois axes — instrumenter, prédire, restituer — est atteint sur le périmètre défini.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[32] Perspectives  (40 s)
Trois axes d'évolution se dessinent. Un — l'installation physique complète des capteurs sur les deux machines, avec ré-entraînement du modèle sur les données réelles collectées sur trois mois. Deux — l'extension à d'autres familles de machines du parc ICEM, notamment les sertisseuses CFA. Trois — l'ajout d'une couche de recommandation prescriptive : proposer directement l'action corrective optimale, pas seulement détecter la panne. À plus long terme, une passerelle vers le SI GMAO existant pour clôturer la boucle de gestion.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[33] Merci  (30 s)
Je vous remercie pour votre attention. Je remercie également Monsieur Imed Hidri pour son encadrement académique, Monsieur Yassine Hammami pour son encadrement société, ainsi que l'équipe ICEM Nabeul qui m'a accueilli pendant ces six mois. Je suis à votre disposition pour toutes vos questions.
Réserve 3–5 min de démo live entre Section 5 et KPI selon le temps restant.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
            <a:ext cx="10911535" cy="292608"/>
          </a:xfrm>
          <a:prstGeom prst="rect">
            <a:avLst/>
          </a:prstGeom>
          <a:noFill/>
        </p:spPr>
        <p:txBody>
          <a:bodyPr wrap="square" lIns="0" rIns="0" tIns="0" bIns="0" anchor="t">
            <a:spAutoFit/>
          </a:bodyPr>
          <a:lstStyle/>
          <a:p>
            <a:pPr algn="l">
              <a:lnSpc>
                <a:spcPct val="110000"/>
              </a:lnSpc>
            </a:pPr>
            <a:r>
              <a:rPr sz="1100" b="1" i="0" spc="200">
                <a:solidFill>
                  <a:srgbClr val="FF9548"/>
                </a:solidFill>
                <a:latin typeface="JetBrains Mono"/>
              </a:rPr>
              <a:t>PROJET DE FIN D'ÉTUDES · MASTÈRE 2</a:t>
            </a:r>
          </a:p>
        </p:txBody>
      </p:sp>
      <p:sp>
        <p:nvSpPr>
          <p:cNvPr id="6" name="TextBox 5"/>
          <p:cNvSpPr txBox="1"/>
          <p:nvPr/>
        </p:nvSpPr>
        <p:spPr>
          <a:xfrm>
            <a:off x="640080" y="1463040"/>
            <a:ext cx="10911535" cy="1280160"/>
          </a:xfrm>
          <a:prstGeom prst="rect">
            <a:avLst/>
          </a:prstGeom>
          <a:noFill/>
        </p:spPr>
        <p:txBody>
          <a:bodyPr wrap="square" lIns="0" rIns="0" tIns="0" bIns="0" anchor="t">
            <a:spAutoFit/>
          </a:bodyPr>
          <a:lstStyle/>
          <a:p>
            <a:pPr algn="l">
              <a:lnSpc>
                <a:spcPct val="100000"/>
              </a:lnSpc>
            </a:pPr>
            <a:r>
              <a:rPr sz="7200" b="1" i="0">
                <a:solidFill>
                  <a:srgbClr val="FFFFFF"/>
                </a:solidFill>
                <a:latin typeface="Space Grotesk"/>
              </a:rPr>
              <a:t>Maintenance prédictive.</a:t>
            </a:r>
          </a:p>
        </p:txBody>
      </p:sp>
      <p:sp>
        <p:nvSpPr>
          <p:cNvPr id="7" name="TextBox 6"/>
          <p:cNvSpPr txBox="1"/>
          <p:nvPr/>
        </p:nvSpPr>
        <p:spPr>
          <a:xfrm>
            <a:off x="640080" y="2834640"/>
            <a:ext cx="10911535" cy="548640"/>
          </a:xfrm>
          <a:prstGeom prst="rect">
            <a:avLst/>
          </a:prstGeom>
          <a:noFill/>
        </p:spPr>
        <p:txBody>
          <a:bodyPr wrap="square" lIns="0" rIns="0" tIns="0" bIns="0" anchor="t">
            <a:spAutoFit/>
          </a:bodyPr>
          <a:lstStyle/>
          <a:p>
            <a:pPr algn="l">
              <a:lnSpc>
                <a:spcPct val="110000"/>
              </a:lnSpc>
            </a:pPr>
            <a:r>
              <a:rPr sz="2200" b="0" i="0">
                <a:solidFill>
                  <a:srgbClr val="C9D0DC"/>
                </a:solidFill>
                <a:latin typeface="Inter"/>
              </a:rPr>
              <a:t>Machines Komax Alpha 433 H &amp; Gamma 333 PC.</a:t>
            </a:r>
          </a:p>
        </p:txBody>
      </p:sp>
      <p:sp>
        <p:nvSpPr>
          <p:cNvPr id="8" name="TextBox 7"/>
          <p:cNvSpPr txBox="1"/>
          <p:nvPr/>
        </p:nvSpPr>
        <p:spPr>
          <a:xfrm>
            <a:off x="640080" y="3977639"/>
            <a:ext cx="4572000" cy="1645920"/>
          </a:xfrm>
          <a:prstGeom prst="rect">
            <a:avLst/>
          </a:prstGeom>
          <a:noFill/>
        </p:spPr>
        <p:txBody>
          <a:bodyPr wrap="square" lIns="0" rIns="0" tIns="0" bIns="0" anchor="t">
            <a:spAutoFit/>
          </a:bodyPr>
          <a:lstStyle/>
          <a:p>
            <a:pPr algn="l">
              <a:lnSpc>
                <a:spcPct val="120000"/>
              </a:lnSpc>
            </a:pPr>
            <a:r>
              <a:rPr sz="1400" b="1" i="0" spc="120">
                <a:solidFill>
                  <a:srgbClr val="FFFFFF"/>
                </a:solidFill>
                <a:latin typeface="Space Grotesk"/>
              </a:rPr>
              <a:t>MOUTIA BENSAAD</a:t>
            </a:r>
          </a:p>
          <a:p>
            <a:pPr algn="l">
              <a:lnSpc>
                <a:spcPct val="120000"/>
              </a:lnSpc>
              <a:spcBef>
                <a:spcPts val="400"/>
              </a:spcBef>
            </a:pPr>
            <a:r>
              <a:rPr sz="1100" b="0" i="0">
                <a:solidFill>
                  <a:srgbClr val="C9D0DC"/>
                </a:solidFill>
                <a:latin typeface="Inter"/>
              </a:rPr>
              <a:t>ISET Nabeul · Mastère 2 Systèmes Embarqués et Mobile</a:t>
            </a:r>
          </a:p>
          <a:p>
            <a:pPr algn="l">
              <a:lnSpc>
                <a:spcPct val="120000"/>
              </a:lnSpc>
            </a:pPr>
            <a:r>
              <a:rPr sz="600" b="0" i="0">
                <a:solidFill>
                  <a:srgbClr val="FFFFFF"/>
                </a:solidFill>
                <a:latin typeface="Inter"/>
              </a:rPr>
              <a:t> </a:t>
            </a:r>
          </a:p>
          <a:p>
            <a:pPr algn="l">
              <a:lnSpc>
                <a:spcPct val="120000"/>
              </a:lnSpc>
            </a:pPr>
            <a:r>
              <a:rPr sz="1100" b="0" i="0">
                <a:solidFill>
                  <a:srgbClr val="FFB37A"/>
                </a:solidFill>
                <a:latin typeface="Inter"/>
              </a:rPr>
              <a:t>Encadrant académique  ·  M. Imed Hidri</a:t>
            </a:r>
          </a:p>
          <a:p>
            <a:pPr algn="l">
              <a:lnSpc>
                <a:spcPct val="120000"/>
              </a:lnSpc>
            </a:pPr>
            <a:r>
              <a:rPr sz="1100" b="0" i="0">
                <a:solidFill>
                  <a:srgbClr val="FFB37A"/>
                </a:solidFill>
                <a:latin typeface="Inter"/>
              </a:rPr>
              <a:t>Encadrant société  ·  M. Yassine Hammami</a:t>
            </a:r>
          </a:p>
        </p:txBody>
      </p:sp>
      <p:sp>
        <p:nvSpPr>
          <p:cNvPr id="9" name="Rounded Rectangle 8"/>
          <p:cNvSpPr/>
          <p:nvPr/>
        </p:nvSpPr>
        <p:spPr>
          <a:xfrm>
            <a:off x="6858000" y="4114800"/>
            <a:ext cx="1554480" cy="128016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4251960"/>
            <a:ext cx="1554480" cy="502920"/>
          </a:xfrm>
          <a:prstGeom prst="rect">
            <a:avLst/>
          </a:prstGeom>
          <a:noFill/>
        </p:spPr>
        <p:txBody>
          <a:bodyPr wrap="square" lIns="0" rIns="0" tIns="0" bIns="0" anchor="t">
            <a:spAutoFit/>
          </a:bodyPr>
          <a:lstStyle/>
          <a:p>
            <a:pPr algn="ctr">
              <a:lnSpc>
                <a:spcPct val="110000"/>
              </a:lnSpc>
            </a:pPr>
            <a:r>
              <a:rPr sz="2600" b="1" i="0">
                <a:solidFill>
                  <a:srgbClr val="FF9548"/>
                </a:solidFill>
                <a:latin typeface="Space Grotesk"/>
              </a:rPr>
              <a:t>40 ans</a:t>
            </a:r>
          </a:p>
        </p:txBody>
      </p:sp>
      <p:sp>
        <p:nvSpPr>
          <p:cNvPr id="11" name="TextBox 10"/>
          <p:cNvSpPr txBox="1"/>
          <p:nvPr/>
        </p:nvSpPr>
        <p:spPr>
          <a:xfrm>
            <a:off x="6858000" y="4800600"/>
            <a:ext cx="1554480" cy="36576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d'expérience</a:t>
            </a:r>
          </a:p>
        </p:txBody>
      </p:sp>
      <p:sp>
        <p:nvSpPr>
          <p:cNvPr id="12" name="Rounded Rectangle 11"/>
          <p:cNvSpPr/>
          <p:nvPr/>
        </p:nvSpPr>
        <p:spPr>
          <a:xfrm>
            <a:off x="8549640" y="4114800"/>
            <a:ext cx="1554480" cy="128016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4251960"/>
            <a:ext cx="1554480" cy="502920"/>
          </a:xfrm>
          <a:prstGeom prst="rect">
            <a:avLst/>
          </a:prstGeom>
          <a:noFill/>
        </p:spPr>
        <p:txBody>
          <a:bodyPr wrap="square" lIns="0" rIns="0" tIns="0" bIns="0" anchor="t">
            <a:spAutoFit/>
          </a:bodyPr>
          <a:lstStyle/>
          <a:p>
            <a:pPr algn="ctr">
              <a:lnSpc>
                <a:spcPct val="110000"/>
              </a:lnSpc>
            </a:pPr>
            <a:r>
              <a:rPr sz="2600" b="1" i="0">
                <a:solidFill>
                  <a:srgbClr val="FF9548"/>
                </a:solidFill>
                <a:latin typeface="Space Grotesk"/>
              </a:rPr>
              <a:t>1600+</a:t>
            </a:r>
          </a:p>
        </p:txBody>
      </p:sp>
      <p:sp>
        <p:nvSpPr>
          <p:cNvPr id="14" name="TextBox 13"/>
          <p:cNvSpPr txBox="1"/>
          <p:nvPr/>
        </p:nvSpPr>
        <p:spPr>
          <a:xfrm>
            <a:off x="8549640" y="4800600"/>
            <a:ext cx="1554480" cy="36576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salariés</a:t>
            </a:r>
          </a:p>
        </p:txBody>
      </p:sp>
      <p:sp>
        <p:nvSpPr>
          <p:cNvPr id="15" name="Rounded Rectangle 14"/>
          <p:cNvSpPr/>
          <p:nvPr/>
        </p:nvSpPr>
        <p:spPr>
          <a:xfrm>
            <a:off x="10241280" y="4114800"/>
            <a:ext cx="1554480" cy="128016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0" y="4251960"/>
            <a:ext cx="1554480" cy="502920"/>
          </a:xfrm>
          <a:prstGeom prst="rect">
            <a:avLst/>
          </a:prstGeom>
          <a:noFill/>
        </p:spPr>
        <p:txBody>
          <a:bodyPr wrap="square" lIns="0" rIns="0" tIns="0" bIns="0" anchor="t">
            <a:spAutoFit/>
          </a:bodyPr>
          <a:lstStyle/>
          <a:p>
            <a:pPr algn="ctr">
              <a:lnSpc>
                <a:spcPct val="110000"/>
              </a:lnSpc>
            </a:pPr>
            <a:r>
              <a:rPr sz="2600" b="1" i="0">
                <a:solidFill>
                  <a:srgbClr val="FF9548"/>
                </a:solidFill>
                <a:latin typeface="Space Grotesk"/>
              </a:rPr>
              <a:t>3</a:t>
            </a:r>
          </a:p>
        </p:txBody>
      </p:sp>
      <p:sp>
        <p:nvSpPr>
          <p:cNvPr id="17" name="TextBox 16"/>
          <p:cNvSpPr txBox="1"/>
          <p:nvPr/>
        </p:nvSpPr>
        <p:spPr>
          <a:xfrm>
            <a:off x="10241280" y="4800600"/>
            <a:ext cx="1554480" cy="36576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secteurs</a:t>
            </a:r>
          </a:p>
        </p:txBody>
      </p:sp>
      <p:sp>
        <p:nvSpPr>
          <p:cNvPr id="18" name="TextBox 17"/>
          <p:cNvSpPr txBox="1"/>
          <p:nvPr/>
        </p:nvSpPr>
        <p:spPr>
          <a:xfrm>
            <a:off x="640080" y="6492240"/>
            <a:ext cx="10911535" cy="274320"/>
          </a:xfrm>
          <a:prstGeom prst="rect">
            <a:avLst/>
          </a:prstGeom>
          <a:noFill/>
        </p:spPr>
        <p:txBody>
          <a:bodyPr wrap="square" lIns="0" rIns="0" tIns="0" bIns="0" anchor="t">
            <a:spAutoFit/>
          </a:bodyPr>
          <a:lstStyle/>
          <a:p>
            <a:pPr algn="ctr">
              <a:lnSpc>
                <a:spcPct val="110000"/>
              </a:lnSpc>
            </a:pPr>
            <a:r>
              <a:rPr sz="1000" b="0" i="0" spc="180">
                <a:solidFill>
                  <a:srgbClr val="7D8496"/>
                </a:solidFill>
                <a:latin typeface="JetBrains Mono"/>
              </a:rPr>
              <a:t>ISET NABEUL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PLAN DE LA PRÉSENTATION</a:t>
            </a:r>
          </a:p>
        </p:txBody>
      </p:sp>
      <p:sp>
        <p:nvSpPr>
          <p:cNvPr id="6" name="TextBox 5"/>
          <p:cNvSpPr txBox="1"/>
          <p:nvPr/>
        </p:nvSpPr>
        <p:spPr>
          <a:xfrm>
            <a:off x="640080" y="914400"/>
            <a:ext cx="10911535" cy="914400"/>
          </a:xfrm>
          <a:prstGeom prst="rect">
            <a:avLst/>
          </a:prstGeom>
          <a:noFill/>
        </p:spPr>
        <p:txBody>
          <a:bodyPr wrap="square" lIns="0" rIns="0" tIns="0" bIns="0" anchor="t">
            <a:spAutoFit/>
          </a:bodyPr>
          <a:lstStyle/>
          <a:p>
            <a:pPr algn="l">
              <a:lnSpc>
                <a:spcPct val="105000"/>
              </a:lnSpc>
            </a:pPr>
            <a:r>
              <a:rPr sz="4800" b="1" i="0">
                <a:solidFill>
                  <a:srgbClr val="FFFFFF"/>
                </a:solidFill>
                <a:latin typeface="Space Grotesk"/>
              </a:rPr>
              <a:t>Six étapes.</a:t>
            </a:r>
          </a:p>
        </p:txBody>
      </p:sp>
      <p:sp>
        <p:nvSpPr>
          <p:cNvPr id="7" name="TextBox 6"/>
          <p:cNvSpPr txBox="1"/>
          <p:nvPr/>
        </p:nvSpPr>
        <p:spPr>
          <a:xfrm>
            <a:off x="640080" y="1691640"/>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Six sections, une progression logique.</a:t>
            </a:r>
          </a:p>
        </p:txBody>
      </p:sp>
      <p:sp>
        <p:nvSpPr>
          <p:cNvPr id="8" name="Rounded Rectangle 7"/>
          <p:cNvSpPr/>
          <p:nvPr/>
        </p:nvSpPr>
        <p:spPr>
          <a:xfrm>
            <a:off x="640080" y="2468880"/>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70048"/>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0" name="TextBox 9"/>
          <p:cNvSpPr txBox="1"/>
          <p:nvPr/>
        </p:nvSpPr>
        <p:spPr>
          <a:xfrm>
            <a:off x="868680" y="2962656"/>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Introduction et contexte</a:t>
            </a:r>
          </a:p>
        </p:txBody>
      </p:sp>
      <p:sp>
        <p:nvSpPr>
          <p:cNvPr id="11" name="TextBox 10"/>
          <p:cNvSpPr txBox="1"/>
          <p:nvPr/>
        </p:nvSpPr>
        <p:spPr>
          <a:xfrm>
            <a:off x="868680" y="3465576"/>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ICEM · machines · problématique</a:t>
            </a:r>
          </a:p>
        </p:txBody>
      </p:sp>
      <p:sp>
        <p:nvSpPr>
          <p:cNvPr id="12" name="Rounded Rectangle 11"/>
          <p:cNvSpPr/>
          <p:nvPr/>
        </p:nvSpPr>
        <p:spPr>
          <a:xfrm>
            <a:off x="4344314" y="2468880"/>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914" y="2670048"/>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4" name="TextBox 13"/>
          <p:cNvSpPr txBox="1"/>
          <p:nvPr/>
        </p:nvSpPr>
        <p:spPr>
          <a:xfrm>
            <a:off x="4572914" y="2962656"/>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État de l'art</a:t>
            </a:r>
          </a:p>
        </p:txBody>
      </p:sp>
      <p:sp>
        <p:nvSpPr>
          <p:cNvPr id="15" name="TextBox 14"/>
          <p:cNvSpPr txBox="1"/>
          <p:nvPr/>
        </p:nvSpPr>
        <p:spPr>
          <a:xfrm>
            <a:off x="4572914" y="3465576"/>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Scrum · matériels · stack</a:t>
            </a:r>
          </a:p>
        </p:txBody>
      </p:sp>
      <p:sp>
        <p:nvSpPr>
          <p:cNvPr id="16" name="Rounded Rectangle 15"/>
          <p:cNvSpPr/>
          <p:nvPr/>
        </p:nvSpPr>
        <p:spPr>
          <a:xfrm>
            <a:off x="8048548" y="2468880"/>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7148" y="2670048"/>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03</a:t>
            </a:r>
          </a:p>
        </p:txBody>
      </p:sp>
      <p:sp>
        <p:nvSpPr>
          <p:cNvPr id="18" name="TextBox 17"/>
          <p:cNvSpPr txBox="1"/>
          <p:nvPr/>
        </p:nvSpPr>
        <p:spPr>
          <a:xfrm>
            <a:off x="8277148" y="2962656"/>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Conception</a:t>
            </a:r>
          </a:p>
        </p:txBody>
      </p:sp>
      <p:sp>
        <p:nvSpPr>
          <p:cNvPr id="19" name="TextBox 18"/>
          <p:cNvSpPr txBox="1"/>
          <p:nvPr/>
        </p:nvSpPr>
        <p:spPr>
          <a:xfrm>
            <a:off x="8277148" y="3465576"/>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Architecture 5 couches · UML · Pipeline</a:t>
            </a:r>
          </a:p>
        </p:txBody>
      </p:sp>
      <p:sp>
        <p:nvSpPr>
          <p:cNvPr id="20" name="Rounded Rectangle 19"/>
          <p:cNvSpPr/>
          <p:nvPr/>
        </p:nvSpPr>
        <p:spPr>
          <a:xfrm>
            <a:off x="640080" y="4443984"/>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645152"/>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04</a:t>
            </a:r>
          </a:p>
        </p:txBody>
      </p:sp>
      <p:sp>
        <p:nvSpPr>
          <p:cNvPr id="22" name="TextBox 21"/>
          <p:cNvSpPr txBox="1"/>
          <p:nvPr/>
        </p:nvSpPr>
        <p:spPr>
          <a:xfrm>
            <a:off x="868680" y="4937760"/>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Développement</a:t>
            </a:r>
          </a:p>
        </p:txBody>
      </p:sp>
      <p:sp>
        <p:nvSpPr>
          <p:cNvPr id="23" name="TextBox 22"/>
          <p:cNvSpPr txBox="1"/>
          <p:nvPr/>
        </p:nvSpPr>
        <p:spPr>
          <a:xfrm>
            <a:off x="868680" y="5440680"/>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Backend · IA · web · mobile · déploiement</a:t>
            </a:r>
          </a:p>
        </p:txBody>
      </p:sp>
      <p:sp>
        <p:nvSpPr>
          <p:cNvPr id="24" name="Rounded Rectangle 23"/>
          <p:cNvSpPr/>
          <p:nvPr/>
        </p:nvSpPr>
        <p:spPr>
          <a:xfrm>
            <a:off x="4344314" y="4443984"/>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914" y="4645152"/>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05</a:t>
            </a:r>
          </a:p>
        </p:txBody>
      </p:sp>
      <p:sp>
        <p:nvSpPr>
          <p:cNvPr id="26" name="TextBox 25"/>
          <p:cNvSpPr txBox="1"/>
          <p:nvPr/>
        </p:nvSpPr>
        <p:spPr>
          <a:xfrm>
            <a:off x="4572914" y="4937760"/>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Démonstration</a:t>
            </a:r>
          </a:p>
        </p:txBody>
      </p:sp>
      <p:sp>
        <p:nvSpPr>
          <p:cNvPr id="27" name="TextBox 26"/>
          <p:cNvSpPr txBox="1"/>
          <p:nvPr/>
        </p:nvSpPr>
        <p:spPr>
          <a:xfrm>
            <a:off x="4572914" y="5440680"/>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Passage à la démo live</a:t>
            </a:r>
          </a:p>
        </p:txBody>
      </p:sp>
      <p:sp>
        <p:nvSpPr>
          <p:cNvPr id="28" name="Rounded Rectangle 27"/>
          <p:cNvSpPr/>
          <p:nvPr/>
        </p:nvSpPr>
        <p:spPr>
          <a:xfrm>
            <a:off x="8048548" y="4443984"/>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7148" y="4645152"/>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06</a:t>
            </a:r>
          </a:p>
        </p:txBody>
      </p:sp>
      <p:sp>
        <p:nvSpPr>
          <p:cNvPr id="30" name="TextBox 29"/>
          <p:cNvSpPr txBox="1"/>
          <p:nvPr/>
        </p:nvSpPr>
        <p:spPr>
          <a:xfrm>
            <a:off x="8277148" y="4937760"/>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Résultats et conclusion</a:t>
            </a:r>
          </a:p>
        </p:txBody>
      </p:sp>
      <p:sp>
        <p:nvSpPr>
          <p:cNvPr id="31" name="TextBox 30"/>
          <p:cNvSpPr txBox="1"/>
          <p:nvPr/>
        </p:nvSpPr>
        <p:spPr>
          <a:xfrm>
            <a:off x="8277148" y="5440680"/>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KPI · perspectives · merci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01</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Introduction et contexte</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ICEM · Machines Komax · Problématique · Objectifs</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L'ENTREPRISE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ICEM Nabeul.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Sous-traitant faisceaux électriques. Automobile · électroménager · médical.</a:t>
            </a:r>
          </a:p>
        </p:txBody>
      </p:sp>
      <p:sp>
        <p:nvSpPr>
          <p:cNvPr id="9" name="TextBox 8"/>
          <p:cNvSpPr txBox="1"/>
          <p:nvPr/>
        </p:nvSpPr>
        <p:spPr>
          <a:xfrm>
            <a:off x="640080" y="2651760"/>
            <a:ext cx="5943600" cy="3200400"/>
          </a:xfrm>
          <a:prstGeom prst="rect">
            <a:avLst/>
          </a:prstGeom>
          <a:noFill/>
        </p:spPr>
        <p:txBody>
          <a:bodyPr wrap="square" lIns="0" rIns="0" tIns="0" bIns="0" anchor="t">
            <a:spAutoFit/>
          </a:bodyPr>
          <a:lstStyle/>
          <a:p>
            <a:pPr algn="l">
              <a:lnSpc>
                <a:spcPct val="120000"/>
              </a:lnSpc>
            </a:pPr>
            <a:r>
              <a:rPr sz="1200" b="0" i="0" spc="120">
                <a:solidFill>
                  <a:srgbClr val="FFB37A"/>
                </a:solidFill>
                <a:latin typeface="JetBrains Mono"/>
              </a:rPr>
              <a:t>Coficab group · site industriel Nabeul</a:t>
            </a:r>
          </a:p>
          <a:p>
            <a:pPr algn="l">
              <a:lnSpc>
                <a:spcPct val="120000"/>
              </a:lnSpc>
            </a:pPr>
            <a:r>
              <a:rPr sz="800" b="0" i="0">
                <a:solidFill>
                  <a:srgbClr val="FFFFFF"/>
                </a:solidFill>
                <a:latin typeface="Inter"/>
              </a:rPr>
              <a:t> </a:t>
            </a:r>
          </a:p>
          <a:p>
            <a:pPr algn="l">
              <a:lnSpc>
                <a:spcPct val="140000"/>
              </a:lnSpc>
              <a:spcBef>
                <a:spcPts val="600"/>
              </a:spcBef>
            </a:pPr>
            <a:r>
              <a:rPr sz="1500" b="0" i="0">
                <a:solidFill>
                  <a:srgbClr val="FFFFFF"/>
                </a:solidFill>
                <a:latin typeface="Inter"/>
              </a:rPr>
              <a:t>ICEM est spécialisée dans la fabrication de faisceaux électriques pour l'automobile, l'électroménager et le médical.</a:t>
            </a:r>
          </a:p>
          <a:p>
            <a:pPr algn="l">
              <a:lnSpc>
                <a:spcPct val="120000"/>
              </a:lnSpc>
            </a:pPr>
            <a:r>
              <a:rPr sz="800" b="0" i="0">
                <a:solidFill>
                  <a:srgbClr val="FFFFFF"/>
                </a:solidFill>
                <a:latin typeface="Inter"/>
              </a:rPr>
              <a:t> </a:t>
            </a:r>
          </a:p>
          <a:p>
            <a:pPr algn="l">
              <a:lnSpc>
                <a:spcPct val="140000"/>
              </a:lnSpc>
              <a:spcBef>
                <a:spcPts val="600"/>
              </a:spcBef>
            </a:pPr>
            <a:r>
              <a:rPr sz="1300" b="0" i="0">
                <a:solidFill>
                  <a:srgbClr val="C9D0DC"/>
                </a:solidFill>
                <a:latin typeface="Inter"/>
              </a:rPr>
              <a:t>L'usine intègre coupe, sertissage, torsadage et contrôle qualité. Les machines Komax constituent le cœur de la ligne de production.</a:t>
            </a:r>
          </a:p>
        </p:txBody>
      </p:sp>
      <p:sp>
        <p:nvSpPr>
          <p:cNvPr id="10" name="Rounded Rectangle 9"/>
          <p:cNvSpPr/>
          <p:nvPr/>
        </p:nvSpPr>
        <p:spPr>
          <a:xfrm>
            <a:off x="7223760" y="2743200"/>
            <a:ext cx="4389120" cy="96012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0" y="2880360"/>
            <a:ext cx="1828800" cy="685800"/>
          </a:xfrm>
          <a:prstGeom prst="rect">
            <a:avLst/>
          </a:prstGeom>
          <a:noFill/>
        </p:spPr>
        <p:txBody>
          <a:bodyPr wrap="square" lIns="0" rIns="0" tIns="0" bIns="0" anchor="ctr">
            <a:spAutoFit/>
          </a:bodyPr>
          <a:lstStyle/>
          <a:p>
            <a:pPr algn="l">
              <a:lnSpc>
                <a:spcPct val="100000"/>
              </a:lnSpc>
            </a:pPr>
            <a:r>
              <a:rPr sz="3200" b="1" i="0">
                <a:solidFill>
                  <a:srgbClr val="FF9548"/>
                </a:solidFill>
                <a:latin typeface="Space Grotesk"/>
              </a:rPr>
              <a:t>40 ans</a:t>
            </a:r>
          </a:p>
        </p:txBody>
      </p:sp>
      <p:sp>
        <p:nvSpPr>
          <p:cNvPr id="12" name="TextBox 11"/>
          <p:cNvSpPr txBox="1"/>
          <p:nvPr/>
        </p:nvSpPr>
        <p:spPr>
          <a:xfrm>
            <a:off x="9326880" y="2743200"/>
            <a:ext cx="2103120" cy="960120"/>
          </a:xfrm>
          <a:prstGeom prst="rect">
            <a:avLst/>
          </a:prstGeom>
          <a:noFill/>
        </p:spPr>
        <p:txBody>
          <a:bodyPr wrap="square" lIns="0" rIns="0" tIns="0" bIns="0" anchor="ctr">
            <a:spAutoFit/>
          </a:bodyPr>
          <a:lstStyle/>
          <a:p>
            <a:pPr algn="l">
              <a:lnSpc>
                <a:spcPct val="130000"/>
              </a:lnSpc>
            </a:pPr>
            <a:r>
              <a:rPr sz="1300" b="0" i="0">
                <a:solidFill>
                  <a:srgbClr val="C9D0DC"/>
                </a:solidFill>
                <a:latin typeface="Inter"/>
              </a:rPr>
              <a:t>d'expérience industrielle</a:t>
            </a:r>
          </a:p>
        </p:txBody>
      </p:sp>
      <p:sp>
        <p:nvSpPr>
          <p:cNvPr id="13" name="Rounded Rectangle 12"/>
          <p:cNvSpPr/>
          <p:nvPr/>
        </p:nvSpPr>
        <p:spPr>
          <a:xfrm>
            <a:off x="7223760" y="3840480"/>
            <a:ext cx="4389120" cy="96012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3977640"/>
            <a:ext cx="1828800" cy="685800"/>
          </a:xfrm>
          <a:prstGeom prst="rect">
            <a:avLst/>
          </a:prstGeom>
          <a:noFill/>
        </p:spPr>
        <p:txBody>
          <a:bodyPr wrap="square" lIns="0" rIns="0" tIns="0" bIns="0" anchor="ctr">
            <a:spAutoFit/>
          </a:bodyPr>
          <a:lstStyle/>
          <a:p>
            <a:pPr algn="l">
              <a:lnSpc>
                <a:spcPct val="100000"/>
              </a:lnSpc>
            </a:pPr>
            <a:r>
              <a:rPr sz="3200" b="1" i="0">
                <a:solidFill>
                  <a:srgbClr val="FF9548"/>
                </a:solidFill>
                <a:latin typeface="Space Grotesk"/>
              </a:rPr>
              <a:t>1600+</a:t>
            </a:r>
          </a:p>
        </p:txBody>
      </p:sp>
      <p:sp>
        <p:nvSpPr>
          <p:cNvPr id="15" name="TextBox 14"/>
          <p:cNvSpPr txBox="1"/>
          <p:nvPr/>
        </p:nvSpPr>
        <p:spPr>
          <a:xfrm>
            <a:off x="9326880" y="3840480"/>
            <a:ext cx="2103120" cy="960120"/>
          </a:xfrm>
          <a:prstGeom prst="rect">
            <a:avLst/>
          </a:prstGeom>
          <a:noFill/>
        </p:spPr>
        <p:txBody>
          <a:bodyPr wrap="square" lIns="0" rIns="0" tIns="0" bIns="0" anchor="ctr">
            <a:spAutoFit/>
          </a:bodyPr>
          <a:lstStyle/>
          <a:p>
            <a:pPr algn="l">
              <a:lnSpc>
                <a:spcPct val="130000"/>
              </a:lnSpc>
            </a:pPr>
            <a:r>
              <a:rPr sz="1300" b="0" i="0">
                <a:solidFill>
                  <a:srgbClr val="C9D0DC"/>
                </a:solidFill>
                <a:latin typeface="Inter"/>
              </a:rPr>
              <a:t>salariés</a:t>
            </a:r>
          </a:p>
        </p:txBody>
      </p:sp>
      <p:sp>
        <p:nvSpPr>
          <p:cNvPr id="16" name="Rounded Rectangle 15"/>
          <p:cNvSpPr/>
          <p:nvPr/>
        </p:nvSpPr>
        <p:spPr>
          <a:xfrm>
            <a:off x="7223760" y="4937760"/>
            <a:ext cx="4389120" cy="96012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0" y="5074920"/>
            <a:ext cx="1828800" cy="685800"/>
          </a:xfrm>
          <a:prstGeom prst="rect">
            <a:avLst/>
          </a:prstGeom>
          <a:noFill/>
        </p:spPr>
        <p:txBody>
          <a:bodyPr wrap="square" lIns="0" rIns="0" tIns="0" bIns="0" anchor="ctr">
            <a:spAutoFit/>
          </a:bodyPr>
          <a:lstStyle/>
          <a:p>
            <a:pPr algn="l">
              <a:lnSpc>
                <a:spcPct val="100000"/>
              </a:lnSpc>
            </a:pPr>
            <a:r>
              <a:rPr sz="3200" b="1" i="0">
                <a:solidFill>
                  <a:srgbClr val="FF9548"/>
                </a:solidFill>
                <a:latin typeface="Space Grotesk"/>
              </a:rPr>
              <a:t>3</a:t>
            </a:r>
          </a:p>
        </p:txBody>
      </p:sp>
      <p:sp>
        <p:nvSpPr>
          <p:cNvPr id="18" name="TextBox 17"/>
          <p:cNvSpPr txBox="1"/>
          <p:nvPr/>
        </p:nvSpPr>
        <p:spPr>
          <a:xfrm>
            <a:off x="9326880" y="4937760"/>
            <a:ext cx="2103120" cy="960120"/>
          </a:xfrm>
          <a:prstGeom prst="rect">
            <a:avLst/>
          </a:prstGeom>
          <a:noFill/>
        </p:spPr>
        <p:txBody>
          <a:bodyPr wrap="square" lIns="0" rIns="0" tIns="0" bIns="0" anchor="ctr">
            <a:spAutoFit/>
          </a:bodyPr>
          <a:lstStyle/>
          <a:p>
            <a:pPr algn="l">
              <a:lnSpc>
                <a:spcPct val="130000"/>
              </a:lnSpc>
            </a:pPr>
            <a:r>
              <a:rPr sz="1300" b="0" i="0">
                <a:solidFill>
                  <a:srgbClr val="C9D0DC"/>
                </a:solidFill>
                <a:latin typeface="Inter"/>
              </a:rPr>
              <a:t>secteurs (auto · maison · médical)</a:t>
            </a:r>
          </a:p>
        </p:txBody>
      </p:sp>
      <p:sp>
        <p:nvSpPr>
          <p:cNvPr id="19" name="TextBox 1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04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LES DEUX MACHINES CIBLES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Alpha 433 H · Gamma 333 PC.</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Machines Komax de coupe et sertissage de fil.</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71800"/>
            <a:ext cx="458708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KOMAX</a:t>
            </a:r>
          </a:p>
        </p:txBody>
      </p:sp>
      <p:sp>
        <p:nvSpPr>
          <p:cNvPr id="11" name="TextBox 10"/>
          <p:cNvSpPr txBox="1"/>
          <p:nvPr/>
        </p:nvSpPr>
        <p:spPr>
          <a:xfrm>
            <a:off x="1005840" y="3291840"/>
            <a:ext cx="4587087" cy="640080"/>
          </a:xfrm>
          <a:prstGeom prst="rect">
            <a:avLst/>
          </a:prstGeom>
          <a:noFill/>
        </p:spPr>
        <p:txBody>
          <a:bodyPr wrap="square" lIns="0" rIns="0" tIns="0" bIns="0" anchor="t">
            <a:spAutoFit/>
          </a:bodyPr>
          <a:lstStyle/>
          <a:p>
            <a:pPr algn="l">
              <a:lnSpc>
                <a:spcPct val="110000"/>
              </a:lnSpc>
            </a:pPr>
            <a:r>
              <a:rPr sz="2800" b="1" i="0">
                <a:solidFill>
                  <a:srgbClr val="FFFFFF"/>
                </a:solidFill>
                <a:latin typeface="Space Grotesk"/>
              </a:rPr>
              <a:t>Alpha 433 H</a:t>
            </a:r>
          </a:p>
        </p:txBody>
      </p:sp>
      <p:sp>
        <p:nvSpPr>
          <p:cNvPr id="12" name="TextBox 11"/>
          <p:cNvSpPr txBox="1"/>
          <p:nvPr/>
        </p:nvSpPr>
        <p:spPr>
          <a:xfrm>
            <a:off x="1005840" y="3886200"/>
            <a:ext cx="4587087" cy="365760"/>
          </a:xfrm>
          <a:prstGeom prst="rect">
            <a:avLst/>
          </a:prstGeom>
          <a:noFill/>
        </p:spPr>
        <p:txBody>
          <a:bodyPr wrap="square" lIns="0" rIns="0" tIns="0" bIns="0" anchor="t">
            <a:spAutoFit/>
          </a:bodyPr>
          <a:lstStyle/>
          <a:p>
            <a:pPr algn="l">
              <a:lnSpc>
                <a:spcPct val="110000"/>
              </a:lnSpc>
            </a:pPr>
            <a:r>
              <a:rPr sz="1300" b="0" i="1">
                <a:solidFill>
                  <a:srgbClr val="FFB37A"/>
                </a:solidFill>
                <a:latin typeface="Inter"/>
              </a:rPr>
              <a:t>Servomoteurs électriques</a:t>
            </a:r>
          </a:p>
        </p:txBody>
      </p:sp>
      <p:sp>
        <p:nvSpPr>
          <p:cNvPr id="13" name="TextBox 12"/>
          <p:cNvSpPr txBox="1"/>
          <p:nvPr/>
        </p:nvSpPr>
        <p:spPr>
          <a:xfrm>
            <a:off x="1005840" y="43891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ACTIONNEURS</a:t>
            </a:r>
          </a:p>
        </p:txBody>
      </p:sp>
      <p:sp>
        <p:nvSpPr>
          <p:cNvPr id="14" name="TextBox 13"/>
          <p:cNvSpPr txBox="1"/>
          <p:nvPr/>
        </p:nvSpPr>
        <p:spPr>
          <a:xfrm>
            <a:off x="2834640" y="43891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6 servos BLDC</a:t>
            </a:r>
          </a:p>
        </p:txBody>
      </p:sp>
      <p:sp>
        <p:nvSpPr>
          <p:cNvPr id="15" name="TextBox 14"/>
          <p:cNvSpPr txBox="1"/>
          <p:nvPr/>
        </p:nvSpPr>
        <p:spPr>
          <a:xfrm>
            <a:off x="1005840" y="48463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CYCLE</a:t>
            </a:r>
          </a:p>
        </p:txBody>
      </p:sp>
      <p:sp>
        <p:nvSpPr>
          <p:cNvPr id="16" name="TextBox 15"/>
          <p:cNvSpPr txBox="1"/>
          <p:nvPr/>
        </p:nvSpPr>
        <p:spPr>
          <a:xfrm>
            <a:off x="2834640" y="48463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Ultra-rapide</a:t>
            </a:r>
          </a:p>
        </p:txBody>
      </p:sp>
      <p:sp>
        <p:nvSpPr>
          <p:cNvPr id="17" name="TextBox 16"/>
          <p:cNvSpPr txBox="1"/>
          <p:nvPr/>
        </p:nvSpPr>
        <p:spPr>
          <a:xfrm>
            <a:off x="1005840" y="53035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SECTION DU FIL</a:t>
            </a:r>
          </a:p>
        </p:txBody>
      </p:sp>
      <p:sp>
        <p:nvSpPr>
          <p:cNvPr id="18" name="TextBox 17"/>
          <p:cNvSpPr txBox="1"/>
          <p:nvPr/>
        </p:nvSpPr>
        <p:spPr>
          <a:xfrm>
            <a:off x="2834640" y="53035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0,5 – 6 mm²</a:t>
            </a:r>
          </a:p>
        </p:txBody>
      </p:sp>
      <p:sp>
        <p:nvSpPr>
          <p:cNvPr id="19" name="TextBox 18"/>
          <p:cNvSpPr txBox="1"/>
          <p:nvPr/>
        </p:nvSpPr>
        <p:spPr>
          <a:xfrm>
            <a:off x="1005840" y="57607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POSITIONNEMENT</a:t>
            </a:r>
          </a:p>
        </p:txBody>
      </p:sp>
      <p:sp>
        <p:nvSpPr>
          <p:cNvPr id="20" name="TextBox 19"/>
          <p:cNvSpPr txBox="1"/>
          <p:nvPr/>
        </p:nvSpPr>
        <p:spPr>
          <a:xfrm>
            <a:off x="2834640" y="57607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Entrée / milieu de gamme</a:t>
            </a:r>
          </a:p>
        </p:txBody>
      </p:sp>
      <p:sp>
        <p:nvSpPr>
          <p:cNvPr id="21" name="Rounded Rectangle 20"/>
          <p:cNvSpPr/>
          <p:nvPr/>
        </p:nvSpPr>
        <p:spPr>
          <a:xfrm>
            <a:off x="6233007"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8767" y="2971800"/>
            <a:ext cx="458708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KOMAX</a:t>
            </a:r>
          </a:p>
        </p:txBody>
      </p:sp>
      <p:sp>
        <p:nvSpPr>
          <p:cNvPr id="23" name="TextBox 22"/>
          <p:cNvSpPr txBox="1"/>
          <p:nvPr/>
        </p:nvSpPr>
        <p:spPr>
          <a:xfrm>
            <a:off x="6598767" y="3291840"/>
            <a:ext cx="4587087" cy="640080"/>
          </a:xfrm>
          <a:prstGeom prst="rect">
            <a:avLst/>
          </a:prstGeom>
          <a:noFill/>
        </p:spPr>
        <p:txBody>
          <a:bodyPr wrap="square" lIns="0" rIns="0" tIns="0" bIns="0" anchor="t">
            <a:spAutoFit/>
          </a:bodyPr>
          <a:lstStyle/>
          <a:p>
            <a:pPr algn="l">
              <a:lnSpc>
                <a:spcPct val="110000"/>
              </a:lnSpc>
            </a:pPr>
            <a:r>
              <a:rPr sz="2800" b="1" i="0">
                <a:solidFill>
                  <a:srgbClr val="FFFFFF"/>
                </a:solidFill>
                <a:latin typeface="Space Grotesk"/>
              </a:rPr>
              <a:t>Gamma 333 PC</a:t>
            </a:r>
          </a:p>
        </p:txBody>
      </p:sp>
      <p:sp>
        <p:nvSpPr>
          <p:cNvPr id="24" name="TextBox 23"/>
          <p:cNvSpPr txBox="1"/>
          <p:nvPr/>
        </p:nvSpPr>
        <p:spPr>
          <a:xfrm>
            <a:off x="6598767" y="3886200"/>
            <a:ext cx="4587087" cy="365760"/>
          </a:xfrm>
          <a:prstGeom prst="rect">
            <a:avLst/>
          </a:prstGeom>
          <a:noFill/>
        </p:spPr>
        <p:txBody>
          <a:bodyPr wrap="square" lIns="0" rIns="0" tIns="0" bIns="0" anchor="t">
            <a:spAutoFit/>
          </a:bodyPr>
          <a:lstStyle/>
          <a:p>
            <a:pPr algn="l">
              <a:lnSpc>
                <a:spcPct val="110000"/>
              </a:lnSpc>
            </a:pPr>
            <a:r>
              <a:rPr sz="1300" b="0" i="1">
                <a:solidFill>
                  <a:srgbClr val="FFB37A"/>
                </a:solidFill>
                <a:latin typeface="Inter"/>
              </a:rPr>
              <a:t>Actionneurs pneumatiques + servos</a:t>
            </a:r>
          </a:p>
        </p:txBody>
      </p:sp>
      <p:sp>
        <p:nvSpPr>
          <p:cNvPr id="25" name="TextBox 24"/>
          <p:cNvSpPr txBox="1"/>
          <p:nvPr/>
        </p:nvSpPr>
        <p:spPr>
          <a:xfrm>
            <a:off x="6598767" y="43891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ACTIONNEURS</a:t>
            </a:r>
          </a:p>
        </p:txBody>
      </p:sp>
      <p:sp>
        <p:nvSpPr>
          <p:cNvPr id="26" name="TextBox 25"/>
          <p:cNvSpPr txBox="1"/>
          <p:nvPr/>
        </p:nvSpPr>
        <p:spPr>
          <a:xfrm>
            <a:off x="8427567" y="43891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Pneumatique + servos</a:t>
            </a:r>
          </a:p>
        </p:txBody>
      </p:sp>
      <p:sp>
        <p:nvSpPr>
          <p:cNvPr id="27" name="TextBox 26"/>
          <p:cNvSpPr txBox="1"/>
          <p:nvPr/>
        </p:nvSpPr>
        <p:spPr>
          <a:xfrm>
            <a:off x="6598767" y="48463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CYCLE</a:t>
            </a:r>
          </a:p>
        </p:txBody>
      </p:sp>
      <p:sp>
        <p:nvSpPr>
          <p:cNvPr id="28" name="TextBox 27"/>
          <p:cNvSpPr txBox="1"/>
          <p:nvPr/>
        </p:nvSpPr>
        <p:spPr>
          <a:xfrm>
            <a:off x="8427567" y="48463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Standard</a:t>
            </a:r>
          </a:p>
        </p:txBody>
      </p:sp>
      <p:sp>
        <p:nvSpPr>
          <p:cNvPr id="29" name="TextBox 28"/>
          <p:cNvSpPr txBox="1"/>
          <p:nvPr/>
        </p:nvSpPr>
        <p:spPr>
          <a:xfrm>
            <a:off x="6598767" y="53035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SECTION DU FIL</a:t>
            </a:r>
          </a:p>
        </p:txBody>
      </p:sp>
      <p:sp>
        <p:nvSpPr>
          <p:cNvPr id="30" name="TextBox 29"/>
          <p:cNvSpPr txBox="1"/>
          <p:nvPr/>
        </p:nvSpPr>
        <p:spPr>
          <a:xfrm>
            <a:off x="8427567" y="53035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0,22 – 4 mm²</a:t>
            </a:r>
          </a:p>
        </p:txBody>
      </p:sp>
      <p:sp>
        <p:nvSpPr>
          <p:cNvPr id="31" name="TextBox 30"/>
          <p:cNvSpPr txBox="1"/>
          <p:nvPr/>
        </p:nvSpPr>
        <p:spPr>
          <a:xfrm>
            <a:off x="6598767" y="57607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POSITIONNEMENT</a:t>
            </a:r>
          </a:p>
        </p:txBody>
      </p:sp>
      <p:sp>
        <p:nvSpPr>
          <p:cNvPr id="32" name="TextBox 31"/>
          <p:cNvSpPr txBox="1"/>
          <p:nvPr/>
        </p:nvSpPr>
        <p:spPr>
          <a:xfrm>
            <a:off x="8427567" y="57607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Milieu de gamme</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05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LA PROBLÉMATIQUE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Une panne coûte cher.</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Maintenance corrective : trop tard, trop long, trop cher.</a:t>
            </a:r>
          </a:p>
        </p:txBody>
      </p:sp>
      <p:sp>
        <p:nvSpPr>
          <p:cNvPr id="9" name="Rounded Rectangle 8"/>
          <p:cNvSpPr/>
          <p:nvPr/>
        </p:nvSpPr>
        <p:spPr>
          <a:xfrm>
            <a:off x="640080" y="2651760"/>
            <a:ext cx="3454298" cy="228600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80360"/>
            <a:ext cx="3088538" cy="914400"/>
          </a:xfrm>
          <a:prstGeom prst="rect">
            <a:avLst/>
          </a:prstGeom>
          <a:noFill/>
        </p:spPr>
        <p:txBody>
          <a:bodyPr wrap="square" lIns="0" rIns="0" tIns="0" bIns="0" anchor="t">
            <a:spAutoFit/>
          </a:bodyPr>
          <a:lstStyle/>
          <a:p>
            <a:pPr algn="ctr">
              <a:lnSpc>
                <a:spcPct val="100000"/>
              </a:lnSpc>
            </a:pPr>
            <a:r>
              <a:rPr sz="4800" b="1" i="0">
                <a:solidFill>
                  <a:srgbClr val="FF9548"/>
                </a:solidFill>
                <a:latin typeface="Space Grotesk"/>
              </a:rPr>
              <a:t>1467</a:t>
            </a:r>
          </a:p>
        </p:txBody>
      </p:sp>
      <p:sp>
        <p:nvSpPr>
          <p:cNvPr id="11" name="TextBox 10"/>
          <p:cNvSpPr txBox="1"/>
          <p:nvPr/>
        </p:nvSpPr>
        <p:spPr>
          <a:xfrm>
            <a:off x="822960" y="3703320"/>
            <a:ext cx="3088538"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Pannes documentées</a:t>
            </a:r>
          </a:p>
        </p:txBody>
      </p:sp>
      <p:sp>
        <p:nvSpPr>
          <p:cNvPr id="12" name="TextBox 11"/>
          <p:cNvSpPr txBox="1"/>
          <p:nvPr/>
        </p:nvSpPr>
        <p:spPr>
          <a:xfrm>
            <a:off x="822960" y="4023360"/>
            <a:ext cx="3088538"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Historique ICEM · 2019 – 2024</a:t>
            </a:r>
          </a:p>
        </p:txBody>
      </p:sp>
      <p:sp>
        <p:nvSpPr>
          <p:cNvPr id="13" name="Rounded Rectangle 12"/>
          <p:cNvSpPr/>
          <p:nvPr/>
        </p:nvSpPr>
        <p:spPr>
          <a:xfrm>
            <a:off x="4368698" y="2651760"/>
            <a:ext cx="3454298" cy="228600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1578" y="2880360"/>
            <a:ext cx="3088538" cy="914400"/>
          </a:xfrm>
          <a:prstGeom prst="rect">
            <a:avLst/>
          </a:prstGeom>
          <a:noFill/>
        </p:spPr>
        <p:txBody>
          <a:bodyPr wrap="square" lIns="0" rIns="0" tIns="0" bIns="0" anchor="t">
            <a:spAutoFit/>
          </a:bodyPr>
          <a:lstStyle/>
          <a:p>
            <a:pPr algn="ctr">
              <a:lnSpc>
                <a:spcPct val="100000"/>
              </a:lnSpc>
            </a:pPr>
            <a:r>
              <a:rPr sz="4800" b="1" i="0">
                <a:solidFill>
                  <a:srgbClr val="FF9548"/>
                </a:solidFill>
                <a:latin typeface="Space Grotesk"/>
              </a:rPr>
              <a:t>12 zones</a:t>
            </a:r>
          </a:p>
        </p:txBody>
      </p:sp>
      <p:sp>
        <p:nvSpPr>
          <p:cNvPr id="15" name="TextBox 14"/>
          <p:cNvSpPr txBox="1"/>
          <p:nvPr/>
        </p:nvSpPr>
        <p:spPr>
          <a:xfrm>
            <a:off x="4551578" y="3703320"/>
            <a:ext cx="3088538"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Sous-ensembles touchés</a:t>
            </a:r>
          </a:p>
        </p:txBody>
      </p:sp>
      <p:sp>
        <p:nvSpPr>
          <p:cNvPr id="16" name="TextBox 15"/>
          <p:cNvSpPr txBox="1"/>
          <p:nvPr/>
        </p:nvSpPr>
        <p:spPr>
          <a:xfrm>
            <a:off x="4551578" y="4023360"/>
            <a:ext cx="3088538"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Alpha 433 H · Gamma 333 PC</a:t>
            </a:r>
          </a:p>
        </p:txBody>
      </p:sp>
      <p:sp>
        <p:nvSpPr>
          <p:cNvPr id="17" name="Rounded Rectangle 16"/>
          <p:cNvSpPr/>
          <p:nvPr/>
        </p:nvSpPr>
        <p:spPr>
          <a:xfrm>
            <a:off x="8097316" y="2651760"/>
            <a:ext cx="3454298" cy="228600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0196" y="2880360"/>
            <a:ext cx="3088538" cy="914400"/>
          </a:xfrm>
          <a:prstGeom prst="rect">
            <a:avLst/>
          </a:prstGeom>
          <a:noFill/>
        </p:spPr>
        <p:txBody>
          <a:bodyPr wrap="square" lIns="0" rIns="0" tIns="0" bIns="0" anchor="t">
            <a:spAutoFit/>
          </a:bodyPr>
          <a:lstStyle/>
          <a:p>
            <a:pPr algn="ctr">
              <a:lnSpc>
                <a:spcPct val="100000"/>
              </a:lnSpc>
            </a:pPr>
            <a:r>
              <a:rPr sz="4800" b="1" i="0">
                <a:solidFill>
                  <a:srgbClr val="FF9548"/>
                </a:solidFill>
                <a:latin typeface="Space Grotesk"/>
              </a:rPr>
              <a:t>40 %</a:t>
            </a:r>
          </a:p>
        </p:txBody>
      </p:sp>
      <p:sp>
        <p:nvSpPr>
          <p:cNvPr id="19" name="TextBox 18"/>
          <p:cNvSpPr txBox="1"/>
          <p:nvPr/>
        </p:nvSpPr>
        <p:spPr>
          <a:xfrm>
            <a:off x="8280196" y="3703320"/>
            <a:ext cx="3088538"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Pannes évitables</a:t>
            </a:r>
          </a:p>
        </p:txBody>
      </p:sp>
      <p:sp>
        <p:nvSpPr>
          <p:cNvPr id="20" name="TextBox 19"/>
          <p:cNvSpPr txBox="1"/>
          <p:nvPr/>
        </p:nvSpPr>
        <p:spPr>
          <a:xfrm>
            <a:off x="8280196" y="4023360"/>
            <a:ext cx="3088538"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Avec détection préalable</a:t>
            </a:r>
          </a:p>
        </p:txBody>
      </p:sp>
      <p:sp>
        <p:nvSpPr>
          <p:cNvPr id="21" name="Rounded Rectangle 20"/>
          <p:cNvSpPr/>
          <p:nvPr/>
        </p:nvSpPr>
        <p:spPr>
          <a:xfrm>
            <a:off x="640080" y="5303520"/>
            <a:ext cx="10911535" cy="868680"/>
          </a:xfrm>
          <a:prstGeom prst="roundRect">
            <a:avLst>
              <a:gd name="adj" fmla="val 6000"/>
            </a:avLst>
          </a:prstGeom>
          <a:solidFill>
            <a:srgbClr val="101A45">
              <a:alpha val="3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303520"/>
            <a:ext cx="10911535" cy="868680"/>
          </a:xfrm>
          <a:prstGeom prst="rect">
            <a:avLst/>
          </a:prstGeom>
          <a:noFill/>
        </p:spPr>
        <p:txBody>
          <a:bodyPr wrap="square" lIns="0" rIns="0" tIns="0" bIns="0" anchor="ctr">
            <a:spAutoFit/>
          </a:bodyPr>
          <a:lstStyle/>
          <a:p>
            <a:pPr algn="ctr">
              <a:lnSpc>
                <a:spcPct val="110000"/>
              </a:lnSpc>
            </a:pPr>
            <a:r>
              <a:rPr sz="2000" b="1" i="0">
                <a:solidFill>
                  <a:srgbClr val="FFB37A"/>
                </a:solidFill>
                <a:latin typeface="Space Grotesk"/>
              </a:rPr>
              <a:t>Notre solution  ·  prédire avant la panne.</a:t>
            </a:r>
          </a:p>
        </p:txBody>
      </p:sp>
      <p:sp>
        <p:nvSpPr>
          <p:cNvPr id="23" name="TextBox 2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06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OBJECTIF DU PROJET</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Trois verbes.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Une chaîne simple, de la mesure à la décision.</a:t>
            </a:r>
          </a:p>
        </p:txBody>
      </p:sp>
      <p:sp>
        <p:nvSpPr>
          <p:cNvPr id="9" name="Rounded Rectangle 8"/>
          <p:cNvSpPr/>
          <p:nvPr/>
        </p:nvSpPr>
        <p:spPr>
          <a:xfrm>
            <a:off x="640080" y="2651760"/>
            <a:ext cx="3484778"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1" name="TextBox 10"/>
          <p:cNvSpPr txBox="1"/>
          <p:nvPr/>
        </p:nvSpPr>
        <p:spPr>
          <a:xfrm>
            <a:off x="868680"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Prédire</a:t>
            </a:r>
          </a:p>
        </p:txBody>
      </p:sp>
      <p:sp>
        <p:nvSpPr>
          <p:cNvPr id="12" name="TextBox 11"/>
          <p:cNvSpPr txBox="1"/>
          <p:nvPr/>
        </p:nvSpPr>
        <p:spPr>
          <a:xfrm>
            <a:off x="868680" y="3648456"/>
            <a:ext cx="3027578"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Modèles ML par cause (Random Forest, XGBoost) entraînés sur historique + signaux synthétiques ancrés physiquement.</a:t>
            </a:r>
          </a:p>
        </p:txBody>
      </p:sp>
      <p:sp>
        <p:nvSpPr>
          <p:cNvPr id="13" name="Rounded Rectangle 12"/>
          <p:cNvSpPr/>
          <p:nvPr/>
        </p:nvSpPr>
        <p:spPr>
          <a:xfrm>
            <a:off x="4353458" y="2651760"/>
            <a:ext cx="3484778"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2058"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5" name="TextBox 14"/>
          <p:cNvSpPr txBox="1"/>
          <p:nvPr/>
        </p:nvSpPr>
        <p:spPr>
          <a:xfrm>
            <a:off x="4582058"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Alerter</a:t>
            </a:r>
          </a:p>
        </p:txBody>
      </p:sp>
      <p:sp>
        <p:nvSpPr>
          <p:cNvPr id="16" name="TextBox 15"/>
          <p:cNvSpPr txBox="1"/>
          <p:nvPr/>
        </p:nvSpPr>
        <p:spPr>
          <a:xfrm>
            <a:off x="4582058" y="3648456"/>
            <a:ext cx="3027578"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Notifications mobile en temps réel via Firebase — technicien prévenu en moins d'une minute.</a:t>
            </a:r>
          </a:p>
        </p:txBody>
      </p:sp>
      <p:sp>
        <p:nvSpPr>
          <p:cNvPr id="17" name="Rounded Rectangle 16"/>
          <p:cNvSpPr/>
          <p:nvPr/>
        </p:nvSpPr>
        <p:spPr>
          <a:xfrm>
            <a:off x="8066836" y="2651760"/>
            <a:ext cx="3484778"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5436"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03</a:t>
            </a:r>
          </a:p>
        </p:txBody>
      </p:sp>
      <p:sp>
        <p:nvSpPr>
          <p:cNvPr id="19" name="TextBox 18"/>
          <p:cNvSpPr txBox="1"/>
          <p:nvPr/>
        </p:nvSpPr>
        <p:spPr>
          <a:xfrm>
            <a:off x="8295436"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Réduire</a:t>
            </a:r>
          </a:p>
        </p:txBody>
      </p:sp>
      <p:sp>
        <p:nvSpPr>
          <p:cNvPr id="20" name="TextBox 19"/>
          <p:cNvSpPr txBox="1"/>
          <p:nvPr/>
        </p:nvSpPr>
        <p:spPr>
          <a:xfrm>
            <a:off x="8295436" y="3648456"/>
            <a:ext cx="3027578"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Coût de maintenance et arrêts de production, en intervenant au bon moment plutôt qu'à date fixe.</a:t>
            </a:r>
          </a:p>
        </p:txBody>
      </p:sp>
      <p:sp>
        <p:nvSpPr>
          <p:cNvPr id="21" name="TextBox 20"/>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07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02</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Étude préliminaire et état de l'art</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Méthodologie · Matériels · Stack technique</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02 · ÉTAT DE L'ART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MÉTHODOLOGIE DE TRAVAIL</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Méthodologie Scrum.</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Cycle itératif adopté pendant les 6 mois du stage.</a:t>
            </a:r>
          </a:p>
        </p:txBody>
      </p:sp>
      <p:sp>
        <p:nvSpPr>
          <p:cNvPr id="9" name="Rounded Rectangle 8"/>
          <p:cNvSpPr/>
          <p:nvPr/>
        </p:nvSpPr>
        <p:spPr>
          <a:xfrm>
            <a:off x="640080" y="2606040"/>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33141"/>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01</a:t>
            </a:r>
          </a:p>
        </p:txBody>
      </p:sp>
      <p:sp>
        <p:nvSpPr>
          <p:cNvPr id="11" name="TextBox 10"/>
          <p:cNvSpPr txBox="1"/>
          <p:nvPr/>
        </p:nvSpPr>
        <p:spPr>
          <a:xfrm>
            <a:off x="1874520" y="2606040"/>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Backlog produit</a:t>
            </a:r>
          </a:p>
        </p:txBody>
      </p:sp>
      <p:sp>
        <p:nvSpPr>
          <p:cNvPr id="12" name="TextBox 11"/>
          <p:cNvSpPr txBox="1"/>
          <p:nvPr/>
        </p:nvSpPr>
        <p:spPr>
          <a:xfrm>
            <a:off x="5715000" y="2606040"/>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Besoins ICEM · exigences fonctionnelles priorisées</a:t>
            </a:r>
          </a:p>
        </p:txBody>
      </p:sp>
      <p:sp>
        <p:nvSpPr>
          <p:cNvPr id="13" name="Rounded Rectangle 12"/>
          <p:cNvSpPr/>
          <p:nvPr/>
        </p:nvSpPr>
        <p:spPr>
          <a:xfrm>
            <a:off x="640080" y="3354019"/>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48112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02</a:t>
            </a:r>
          </a:p>
        </p:txBody>
      </p:sp>
      <p:sp>
        <p:nvSpPr>
          <p:cNvPr id="15" name="TextBox 14"/>
          <p:cNvSpPr txBox="1"/>
          <p:nvPr/>
        </p:nvSpPr>
        <p:spPr>
          <a:xfrm>
            <a:off x="1874520" y="3354019"/>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Sprints</a:t>
            </a:r>
          </a:p>
        </p:txBody>
      </p:sp>
      <p:sp>
        <p:nvSpPr>
          <p:cNvPr id="16" name="TextBox 15"/>
          <p:cNvSpPr txBox="1"/>
          <p:nvPr/>
        </p:nvSpPr>
        <p:spPr>
          <a:xfrm>
            <a:off x="5715000" y="3354019"/>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2 à 4 semaines · livrable incrémental à chaque itération</a:t>
            </a:r>
          </a:p>
        </p:txBody>
      </p:sp>
      <p:sp>
        <p:nvSpPr>
          <p:cNvPr id="17" name="Rounded Rectangle 16"/>
          <p:cNvSpPr/>
          <p:nvPr/>
        </p:nvSpPr>
        <p:spPr>
          <a:xfrm>
            <a:off x="640080" y="4101998"/>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22910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03</a:t>
            </a:r>
          </a:p>
        </p:txBody>
      </p:sp>
      <p:sp>
        <p:nvSpPr>
          <p:cNvPr id="19" name="TextBox 18"/>
          <p:cNvSpPr txBox="1"/>
          <p:nvPr/>
        </p:nvSpPr>
        <p:spPr>
          <a:xfrm>
            <a:off x="1874520" y="4101998"/>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Daily stand-up</a:t>
            </a:r>
          </a:p>
        </p:txBody>
      </p:sp>
      <p:sp>
        <p:nvSpPr>
          <p:cNvPr id="20" name="TextBox 19"/>
          <p:cNvSpPr txBox="1"/>
          <p:nvPr/>
        </p:nvSpPr>
        <p:spPr>
          <a:xfrm>
            <a:off x="5715000" y="4101998"/>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10 min · état d'avancement · blocages identifiés</a:t>
            </a:r>
          </a:p>
        </p:txBody>
      </p:sp>
      <p:sp>
        <p:nvSpPr>
          <p:cNvPr id="21" name="Rounded Rectangle 20"/>
          <p:cNvSpPr/>
          <p:nvPr/>
        </p:nvSpPr>
        <p:spPr>
          <a:xfrm>
            <a:off x="640080" y="4849977"/>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977079"/>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04</a:t>
            </a:r>
          </a:p>
        </p:txBody>
      </p:sp>
      <p:sp>
        <p:nvSpPr>
          <p:cNvPr id="23" name="TextBox 22"/>
          <p:cNvSpPr txBox="1"/>
          <p:nvPr/>
        </p:nvSpPr>
        <p:spPr>
          <a:xfrm>
            <a:off x="1874520" y="4849977"/>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Revue de sprint</a:t>
            </a:r>
          </a:p>
        </p:txBody>
      </p:sp>
      <p:sp>
        <p:nvSpPr>
          <p:cNvPr id="24" name="TextBox 23"/>
          <p:cNvSpPr txBox="1"/>
          <p:nvPr/>
        </p:nvSpPr>
        <p:spPr>
          <a:xfrm>
            <a:off x="5715000" y="4849977"/>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Livrable présenté aux encadreurs · feedback intégré</a:t>
            </a:r>
          </a:p>
        </p:txBody>
      </p:sp>
      <p:sp>
        <p:nvSpPr>
          <p:cNvPr id="25" name="Rounded Rectangle 24"/>
          <p:cNvSpPr/>
          <p:nvPr/>
        </p:nvSpPr>
        <p:spPr>
          <a:xfrm>
            <a:off x="640080" y="5597956"/>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725058"/>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05</a:t>
            </a:r>
          </a:p>
        </p:txBody>
      </p:sp>
      <p:sp>
        <p:nvSpPr>
          <p:cNvPr id="27" name="TextBox 26"/>
          <p:cNvSpPr txBox="1"/>
          <p:nvPr/>
        </p:nvSpPr>
        <p:spPr>
          <a:xfrm>
            <a:off x="1874520" y="5597956"/>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Rétrospective</a:t>
            </a:r>
          </a:p>
        </p:txBody>
      </p:sp>
      <p:sp>
        <p:nvSpPr>
          <p:cNvPr id="28" name="TextBox 27"/>
          <p:cNvSpPr txBox="1"/>
          <p:nvPr/>
        </p:nvSpPr>
        <p:spPr>
          <a:xfrm>
            <a:off x="5715000" y="5597956"/>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Améliorer le cycle suivant · dette technique traitée</a:t>
            </a:r>
          </a:p>
        </p:txBody>
      </p:sp>
      <p:sp>
        <p:nvSpPr>
          <p:cNvPr id="29" name="TextBox 2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09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02 · ÉTAT DE L'ART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MATÉRIEL D'INSTRUMENTATION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Cinq capteurs.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Quatre grandeurs physiques · une seule vérité terrain.</a:t>
            </a:r>
          </a:p>
        </p:txBody>
      </p:sp>
      <p:sp>
        <p:nvSpPr>
          <p:cNvPr id="9" name="Rounded Rectangle 8"/>
          <p:cNvSpPr/>
          <p:nvPr/>
        </p:nvSpPr>
        <p:spPr>
          <a:xfrm>
            <a:off x="640080"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53513"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×2</a:t>
            </a:r>
          </a:p>
        </p:txBody>
      </p:sp>
      <p:sp>
        <p:nvSpPr>
          <p:cNvPr id="11" name="TextBox 10"/>
          <p:cNvSpPr txBox="1"/>
          <p:nvPr/>
        </p:nvSpPr>
        <p:spPr>
          <a:xfrm>
            <a:off x="868680"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DS18B20 ×2</a:t>
            </a:r>
          </a:p>
        </p:txBody>
      </p:sp>
      <p:sp>
        <p:nvSpPr>
          <p:cNvPr id="12" name="TextBox 11"/>
          <p:cNvSpPr txBox="1"/>
          <p:nvPr/>
        </p:nvSpPr>
        <p:spPr>
          <a:xfrm>
            <a:off x="868680"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Température · sonde 1-Wire
Moteur + armoire électrique</a:t>
            </a:r>
          </a:p>
        </p:txBody>
      </p:sp>
      <p:sp>
        <p:nvSpPr>
          <p:cNvPr id="13" name="Rounded Rectangle 12"/>
          <p:cNvSpPr/>
          <p:nvPr/>
        </p:nvSpPr>
        <p:spPr>
          <a:xfrm>
            <a:off x="3425113"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3713"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MPU-6050</a:t>
            </a:r>
          </a:p>
        </p:txBody>
      </p:sp>
      <p:sp>
        <p:nvSpPr>
          <p:cNvPr id="15" name="TextBox 14"/>
          <p:cNvSpPr txBox="1"/>
          <p:nvPr/>
        </p:nvSpPr>
        <p:spPr>
          <a:xfrm>
            <a:off x="3653713"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Vibrations · accéléromètre 3 axes
Châssis moteur</a:t>
            </a:r>
          </a:p>
        </p:txBody>
      </p:sp>
      <p:sp>
        <p:nvSpPr>
          <p:cNvPr id="16" name="Rounded Rectangle 15"/>
          <p:cNvSpPr/>
          <p:nvPr/>
        </p:nvSpPr>
        <p:spPr>
          <a:xfrm>
            <a:off x="6210147"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8747"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AMG8833</a:t>
            </a:r>
          </a:p>
        </p:txBody>
      </p:sp>
      <p:sp>
        <p:nvSpPr>
          <p:cNvPr id="18" name="TextBox 17"/>
          <p:cNvSpPr txBox="1"/>
          <p:nvPr/>
        </p:nvSpPr>
        <p:spPr>
          <a:xfrm>
            <a:off x="6438747"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Imagerie thermique · grille 8×8
Vue armoire</a:t>
            </a:r>
          </a:p>
        </p:txBody>
      </p:sp>
      <p:sp>
        <p:nvSpPr>
          <p:cNvPr id="19" name="Rounded Rectangle 18"/>
          <p:cNvSpPr/>
          <p:nvPr/>
        </p:nvSpPr>
        <p:spPr>
          <a:xfrm>
            <a:off x="8995181"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23781"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SCT-013</a:t>
            </a:r>
          </a:p>
        </p:txBody>
      </p:sp>
      <p:sp>
        <p:nvSpPr>
          <p:cNvPr id="21" name="TextBox 20"/>
          <p:cNvSpPr txBox="1"/>
          <p:nvPr/>
        </p:nvSpPr>
        <p:spPr>
          <a:xfrm>
            <a:off x="9223781"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Courant électrique · pince ampèremétrique
Feeder armoire (via ADS1015)</a:t>
            </a:r>
          </a:p>
        </p:txBody>
      </p:sp>
      <p:sp>
        <p:nvSpPr>
          <p:cNvPr id="22" name="TextBox 21"/>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ÉCHANTILLONNAGE 1 s   ·   TRANSMISSION 60 s   ·   JSON HTTP POST</a:t>
            </a:r>
          </a:p>
        </p:txBody>
      </p:sp>
      <p:sp>
        <p:nvSpPr>
          <p:cNvPr id="23" name="TextBox 2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10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02 · ÉTAT DE L'ART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STACK TECHNIQUE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Stack technique.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Trois familles technologiques mobilisées.</a:t>
            </a:r>
          </a:p>
        </p:txBody>
      </p:sp>
      <p:sp>
        <p:nvSpPr>
          <p:cNvPr id="9" name="Rounded Rectangle 8"/>
          <p:cNvSpPr/>
          <p:nvPr/>
        </p:nvSpPr>
        <p:spPr>
          <a:xfrm>
            <a:off x="640080" y="2697480"/>
            <a:ext cx="3454298" cy="352044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71800"/>
            <a:ext cx="2905658" cy="365760"/>
          </a:xfrm>
          <a:prstGeom prst="rect">
            <a:avLst/>
          </a:prstGeom>
          <a:noFill/>
        </p:spPr>
        <p:txBody>
          <a:bodyPr wrap="square" lIns="0" rIns="0" tIns="0" bIns="0" anchor="t">
            <a:spAutoFit/>
          </a:bodyPr>
          <a:lstStyle/>
          <a:p>
            <a:pPr algn="l">
              <a:lnSpc>
                <a:spcPct val="110000"/>
              </a:lnSpc>
            </a:pPr>
            <a:r>
              <a:rPr sz="1100" b="1" i="0" spc="180">
                <a:solidFill>
                  <a:srgbClr val="FF9548"/>
                </a:solidFill>
                <a:latin typeface="JetBrains Mono"/>
              </a:rPr>
              <a:t>01</a:t>
            </a:r>
          </a:p>
        </p:txBody>
      </p:sp>
      <p:sp>
        <p:nvSpPr>
          <p:cNvPr id="11" name="TextBox 10"/>
          <p:cNvSpPr txBox="1"/>
          <p:nvPr/>
        </p:nvSpPr>
        <p:spPr>
          <a:xfrm>
            <a:off x="914400" y="3291840"/>
            <a:ext cx="2905658" cy="54864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Backend</a:t>
            </a:r>
          </a:p>
        </p:txBody>
      </p:sp>
      <p:sp>
        <p:nvSpPr>
          <p:cNvPr id="12" name="Rectangle 11"/>
          <p:cNvSpPr/>
          <p:nvPr/>
        </p:nvSpPr>
        <p:spPr>
          <a:xfrm>
            <a:off x="914400" y="3977640"/>
            <a:ext cx="73152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51960"/>
            <a:ext cx="2905658" cy="1691640"/>
          </a:xfrm>
          <a:prstGeom prst="rect">
            <a:avLst/>
          </a:prstGeom>
          <a:noFill/>
        </p:spPr>
        <p:txBody>
          <a:bodyPr wrap="square" lIns="0" rIns="0" tIns="0" bIns="0" anchor="t">
            <a:spAutoFit/>
          </a:bodyPr>
          <a:lstStyle/>
          <a:p>
            <a:pPr algn="l">
              <a:lnSpc>
                <a:spcPct val="160000"/>
              </a:lnSpc>
            </a:pPr>
            <a:r>
              <a:rPr sz="1400" b="0" i="0">
                <a:solidFill>
                  <a:srgbClr val="F4F6FB"/>
                </a:solidFill>
                <a:latin typeface="Inter"/>
              </a:rPr>
              <a:t>Node.js · Express
MongoDB · JWT
Mongoose ODM
asyncHandler pattern</a:t>
            </a:r>
          </a:p>
        </p:txBody>
      </p:sp>
      <p:sp>
        <p:nvSpPr>
          <p:cNvPr id="14" name="Rounded Rectangle 13"/>
          <p:cNvSpPr/>
          <p:nvPr/>
        </p:nvSpPr>
        <p:spPr>
          <a:xfrm>
            <a:off x="4368698" y="2697480"/>
            <a:ext cx="3454298" cy="352044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3018" y="2971800"/>
            <a:ext cx="2905658" cy="365760"/>
          </a:xfrm>
          <a:prstGeom prst="rect">
            <a:avLst/>
          </a:prstGeom>
          <a:noFill/>
        </p:spPr>
        <p:txBody>
          <a:bodyPr wrap="square" lIns="0" rIns="0" tIns="0" bIns="0" anchor="t">
            <a:spAutoFit/>
          </a:bodyPr>
          <a:lstStyle/>
          <a:p>
            <a:pPr algn="l">
              <a:lnSpc>
                <a:spcPct val="110000"/>
              </a:lnSpc>
            </a:pPr>
            <a:r>
              <a:rPr sz="1100" b="1" i="0" spc="180">
                <a:solidFill>
                  <a:srgbClr val="FF9548"/>
                </a:solidFill>
                <a:latin typeface="JetBrains Mono"/>
              </a:rPr>
              <a:t>02</a:t>
            </a:r>
          </a:p>
        </p:txBody>
      </p:sp>
      <p:sp>
        <p:nvSpPr>
          <p:cNvPr id="16" name="TextBox 15"/>
          <p:cNvSpPr txBox="1"/>
          <p:nvPr/>
        </p:nvSpPr>
        <p:spPr>
          <a:xfrm>
            <a:off x="4643018" y="3291840"/>
            <a:ext cx="2905658" cy="54864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Intelligence artificielle</a:t>
            </a:r>
          </a:p>
        </p:txBody>
      </p:sp>
      <p:sp>
        <p:nvSpPr>
          <p:cNvPr id="17" name="Rectangle 16"/>
          <p:cNvSpPr/>
          <p:nvPr/>
        </p:nvSpPr>
        <p:spPr>
          <a:xfrm>
            <a:off x="4643018" y="3977640"/>
            <a:ext cx="73152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018" y="4251960"/>
            <a:ext cx="2905658" cy="1691640"/>
          </a:xfrm>
          <a:prstGeom prst="rect">
            <a:avLst/>
          </a:prstGeom>
          <a:noFill/>
        </p:spPr>
        <p:txBody>
          <a:bodyPr wrap="square" lIns="0" rIns="0" tIns="0" bIns="0" anchor="t">
            <a:spAutoFit/>
          </a:bodyPr>
          <a:lstStyle/>
          <a:p>
            <a:pPr algn="l">
              <a:lnSpc>
                <a:spcPct val="160000"/>
              </a:lnSpc>
            </a:pPr>
            <a:r>
              <a:rPr sz="1400" b="0" i="0">
                <a:solidFill>
                  <a:srgbClr val="F4F6FB"/>
                </a:solidFill>
                <a:latin typeface="Inter"/>
              </a:rPr>
              <a:t>Python · FastAPI
scikit-learn
XGBoost
Uvicorn</a:t>
            </a:r>
          </a:p>
        </p:txBody>
      </p:sp>
      <p:sp>
        <p:nvSpPr>
          <p:cNvPr id="19" name="Rounded Rectangle 18"/>
          <p:cNvSpPr/>
          <p:nvPr/>
        </p:nvSpPr>
        <p:spPr>
          <a:xfrm>
            <a:off x="8097316" y="2697480"/>
            <a:ext cx="3454298" cy="352044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1636" y="2971800"/>
            <a:ext cx="2905658" cy="365760"/>
          </a:xfrm>
          <a:prstGeom prst="rect">
            <a:avLst/>
          </a:prstGeom>
          <a:noFill/>
        </p:spPr>
        <p:txBody>
          <a:bodyPr wrap="square" lIns="0" rIns="0" tIns="0" bIns="0" anchor="t">
            <a:spAutoFit/>
          </a:bodyPr>
          <a:lstStyle/>
          <a:p>
            <a:pPr algn="l">
              <a:lnSpc>
                <a:spcPct val="110000"/>
              </a:lnSpc>
            </a:pPr>
            <a:r>
              <a:rPr sz="1100" b="1" i="0" spc="180">
                <a:solidFill>
                  <a:srgbClr val="FF9548"/>
                </a:solidFill>
                <a:latin typeface="JetBrains Mono"/>
              </a:rPr>
              <a:t>03</a:t>
            </a:r>
          </a:p>
        </p:txBody>
      </p:sp>
      <p:sp>
        <p:nvSpPr>
          <p:cNvPr id="21" name="TextBox 20"/>
          <p:cNvSpPr txBox="1"/>
          <p:nvPr/>
        </p:nvSpPr>
        <p:spPr>
          <a:xfrm>
            <a:off x="8371636" y="3291840"/>
            <a:ext cx="2905658" cy="54864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Frontend &amp; Mobile</a:t>
            </a:r>
          </a:p>
        </p:txBody>
      </p:sp>
      <p:sp>
        <p:nvSpPr>
          <p:cNvPr id="22" name="Rectangle 21"/>
          <p:cNvSpPr/>
          <p:nvPr/>
        </p:nvSpPr>
        <p:spPr>
          <a:xfrm>
            <a:off x="8371636" y="3977640"/>
            <a:ext cx="73152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1636" y="4251960"/>
            <a:ext cx="2905658" cy="1691640"/>
          </a:xfrm>
          <a:prstGeom prst="rect">
            <a:avLst/>
          </a:prstGeom>
          <a:noFill/>
        </p:spPr>
        <p:txBody>
          <a:bodyPr wrap="square" lIns="0" rIns="0" tIns="0" bIns="0" anchor="t">
            <a:spAutoFit/>
          </a:bodyPr>
          <a:lstStyle/>
          <a:p>
            <a:pPr algn="l">
              <a:lnSpc>
                <a:spcPct val="160000"/>
              </a:lnSpc>
            </a:pPr>
            <a:r>
              <a:rPr sz="1400" b="0" i="0">
                <a:solidFill>
                  <a:srgbClr val="F4F6FB"/>
                </a:solidFill>
                <a:latin typeface="Inter"/>
              </a:rPr>
              <a:t>React · Vite
Flutter · Dart
Firebase (push)
Material 3</a:t>
            </a:r>
          </a:p>
        </p:txBody>
      </p:sp>
      <p:sp>
        <p:nvSpPr>
          <p:cNvPr id="24" name="TextBox 23"/>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11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03</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Conception du système</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Architecture 5 couches · Edge · UML · Pipeline temps réel</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MODÈLE EN COUCHES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Cinq couches.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Du capteur physique au téléphone du technicien.</a:t>
            </a:r>
          </a:p>
        </p:txBody>
      </p:sp>
      <p:sp>
        <p:nvSpPr>
          <p:cNvPr id="9" name="Rounded Rectangle 8"/>
          <p:cNvSpPr/>
          <p:nvPr/>
        </p:nvSpPr>
        <p:spPr>
          <a:xfrm>
            <a:off x="640080" y="2606040"/>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33141"/>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05</a:t>
            </a:r>
          </a:p>
        </p:txBody>
      </p:sp>
      <p:sp>
        <p:nvSpPr>
          <p:cNvPr id="11" name="TextBox 10"/>
          <p:cNvSpPr txBox="1"/>
          <p:nvPr/>
        </p:nvSpPr>
        <p:spPr>
          <a:xfrm>
            <a:off x="1874520" y="2606040"/>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Application</a:t>
            </a:r>
          </a:p>
        </p:txBody>
      </p:sp>
      <p:sp>
        <p:nvSpPr>
          <p:cNvPr id="12" name="TextBox 11"/>
          <p:cNvSpPr txBox="1"/>
          <p:nvPr/>
        </p:nvSpPr>
        <p:spPr>
          <a:xfrm>
            <a:off x="5715000" y="2606040"/>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React (web) · Flutter (mobile) · restitution utilisateur</a:t>
            </a:r>
          </a:p>
        </p:txBody>
      </p:sp>
      <p:sp>
        <p:nvSpPr>
          <p:cNvPr id="13" name="Rounded Rectangle 12"/>
          <p:cNvSpPr/>
          <p:nvPr/>
        </p:nvSpPr>
        <p:spPr>
          <a:xfrm>
            <a:off x="640080" y="3354019"/>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48112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04</a:t>
            </a:r>
          </a:p>
        </p:txBody>
      </p:sp>
      <p:sp>
        <p:nvSpPr>
          <p:cNvPr id="15" name="TextBox 14"/>
          <p:cNvSpPr txBox="1"/>
          <p:nvPr/>
        </p:nvSpPr>
        <p:spPr>
          <a:xfrm>
            <a:off x="1874520" y="3354019"/>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Intelligence</a:t>
            </a:r>
          </a:p>
        </p:txBody>
      </p:sp>
      <p:sp>
        <p:nvSpPr>
          <p:cNvPr id="16" name="TextBox 15"/>
          <p:cNvSpPr txBox="1"/>
          <p:nvPr/>
        </p:nvSpPr>
        <p:spPr>
          <a:xfrm>
            <a:off x="5715000" y="3354019"/>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FastAPI · Random Forest · XGBoost · probabilité + cause</a:t>
            </a:r>
          </a:p>
        </p:txBody>
      </p:sp>
      <p:sp>
        <p:nvSpPr>
          <p:cNvPr id="17" name="Rounded Rectangle 16"/>
          <p:cNvSpPr/>
          <p:nvPr/>
        </p:nvSpPr>
        <p:spPr>
          <a:xfrm>
            <a:off x="640080" y="4101998"/>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22910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03</a:t>
            </a:r>
          </a:p>
        </p:txBody>
      </p:sp>
      <p:sp>
        <p:nvSpPr>
          <p:cNvPr id="19" name="TextBox 18"/>
          <p:cNvSpPr txBox="1"/>
          <p:nvPr/>
        </p:nvSpPr>
        <p:spPr>
          <a:xfrm>
            <a:off x="1874520" y="4101998"/>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Backend</a:t>
            </a:r>
          </a:p>
        </p:txBody>
      </p:sp>
      <p:sp>
        <p:nvSpPr>
          <p:cNvPr id="20" name="TextBox 19"/>
          <p:cNvSpPr txBox="1"/>
          <p:nvPr/>
        </p:nvSpPr>
        <p:spPr>
          <a:xfrm>
            <a:off x="5715000" y="4101998"/>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Node.js · Express · MongoDB · REST + JWT</a:t>
            </a:r>
          </a:p>
        </p:txBody>
      </p:sp>
      <p:sp>
        <p:nvSpPr>
          <p:cNvPr id="21" name="Rounded Rectangle 20"/>
          <p:cNvSpPr/>
          <p:nvPr/>
        </p:nvSpPr>
        <p:spPr>
          <a:xfrm>
            <a:off x="640080" y="4849977"/>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977079"/>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02</a:t>
            </a:r>
          </a:p>
        </p:txBody>
      </p:sp>
      <p:sp>
        <p:nvSpPr>
          <p:cNvPr id="23" name="TextBox 22"/>
          <p:cNvSpPr txBox="1"/>
          <p:nvPr/>
        </p:nvSpPr>
        <p:spPr>
          <a:xfrm>
            <a:off x="1874520" y="4849977"/>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Edge</a:t>
            </a:r>
          </a:p>
        </p:txBody>
      </p:sp>
      <p:sp>
        <p:nvSpPr>
          <p:cNvPr id="24" name="TextBox 23"/>
          <p:cNvSpPr txBox="1"/>
          <p:nvPr/>
        </p:nvSpPr>
        <p:spPr>
          <a:xfrm>
            <a:off x="5715000" y="4849977"/>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Raspberry Pi 4 · lecture I²C / 1-Wire · agrégation 60 s</a:t>
            </a:r>
          </a:p>
        </p:txBody>
      </p:sp>
      <p:sp>
        <p:nvSpPr>
          <p:cNvPr id="25" name="Rounded Rectangle 24"/>
          <p:cNvSpPr/>
          <p:nvPr/>
        </p:nvSpPr>
        <p:spPr>
          <a:xfrm>
            <a:off x="640080" y="5597956"/>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725058"/>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01</a:t>
            </a:r>
          </a:p>
        </p:txBody>
      </p:sp>
      <p:sp>
        <p:nvSpPr>
          <p:cNvPr id="27" name="TextBox 26"/>
          <p:cNvSpPr txBox="1"/>
          <p:nvPr/>
        </p:nvSpPr>
        <p:spPr>
          <a:xfrm>
            <a:off x="1874520" y="5597956"/>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Perception</a:t>
            </a:r>
          </a:p>
        </p:txBody>
      </p:sp>
      <p:sp>
        <p:nvSpPr>
          <p:cNvPr id="28" name="TextBox 27"/>
          <p:cNvSpPr txBox="1"/>
          <p:nvPr/>
        </p:nvSpPr>
        <p:spPr>
          <a:xfrm>
            <a:off x="5715000" y="5597956"/>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5 capteurs IoT : DS18B20 ×2 · MPU-6050 · AMG8833 · SCT-013</a:t>
            </a:r>
          </a:p>
        </p:txBody>
      </p:sp>
      <p:sp>
        <p:nvSpPr>
          <p:cNvPr id="29" name="TextBox 28"/>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MODÈLE DE RÉFÉRENCE ITU-T Y.2060  ·  SÉPARATION DES RESPONSABILITÉS</a:t>
            </a:r>
          </a:p>
        </p:txBody>
      </p:sp>
      <p:sp>
        <p:nvSpPr>
          <p:cNvPr id="30" name="TextBox 29"/>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13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COUCHE EDGE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Raspberry Pi.</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 mini-ordinateur, cinq capteurs, une machine.</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71800"/>
            <a:ext cx="4769967" cy="32004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SPÉCIFICATIONS</a:t>
            </a:r>
          </a:p>
        </p:txBody>
      </p:sp>
      <p:sp>
        <p:nvSpPr>
          <p:cNvPr id="11" name="TextBox 10"/>
          <p:cNvSpPr txBox="1"/>
          <p:nvPr/>
        </p:nvSpPr>
        <p:spPr>
          <a:xfrm>
            <a:off x="914400" y="347472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LECTURE</a:t>
            </a:r>
          </a:p>
        </p:txBody>
      </p:sp>
      <p:sp>
        <p:nvSpPr>
          <p:cNvPr id="12" name="TextBox 11"/>
          <p:cNvSpPr txBox="1"/>
          <p:nvPr/>
        </p:nvSpPr>
        <p:spPr>
          <a:xfrm>
            <a:off x="2743200" y="347472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1-Wire · I²C · GPIO</a:t>
            </a:r>
          </a:p>
        </p:txBody>
      </p:sp>
      <p:sp>
        <p:nvSpPr>
          <p:cNvPr id="13" name="TextBox 12"/>
          <p:cNvSpPr txBox="1"/>
          <p:nvPr/>
        </p:nvSpPr>
        <p:spPr>
          <a:xfrm>
            <a:off x="914400" y="402336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AGRÉGATION</a:t>
            </a:r>
          </a:p>
        </p:txBody>
      </p:sp>
      <p:sp>
        <p:nvSpPr>
          <p:cNvPr id="14" name="TextBox 13"/>
          <p:cNvSpPr txBox="1"/>
          <p:nvPr/>
        </p:nvSpPr>
        <p:spPr>
          <a:xfrm>
            <a:off x="2743200" y="402336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Fenêtres glissantes de 60 s</a:t>
            </a:r>
          </a:p>
        </p:txBody>
      </p:sp>
      <p:sp>
        <p:nvSpPr>
          <p:cNvPr id="15" name="TextBox 14"/>
          <p:cNvSpPr txBox="1"/>
          <p:nvPr/>
        </p:nvSpPr>
        <p:spPr>
          <a:xfrm>
            <a:off x="914400" y="457200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ENVOI</a:t>
            </a:r>
          </a:p>
        </p:txBody>
      </p:sp>
      <p:sp>
        <p:nvSpPr>
          <p:cNvPr id="16" name="TextBox 15"/>
          <p:cNvSpPr txBox="1"/>
          <p:nvPr/>
        </p:nvSpPr>
        <p:spPr>
          <a:xfrm>
            <a:off x="2743200" y="457200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HTTP POST /api/capteurs/ingest</a:t>
            </a:r>
          </a:p>
        </p:txBody>
      </p:sp>
      <p:sp>
        <p:nvSpPr>
          <p:cNvPr id="17" name="TextBox 16"/>
          <p:cNvSpPr txBox="1"/>
          <p:nvPr/>
        </p:nvSpPr>
        <p:spPr>
          <a:xfrm>
            <a:off x="914400" y="512064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AUTONOMIE</a:t>
            </a:r>
          </a:p>
        </p:txBody>
      </p:sp>
      <p:sp>
        <p:nvSpPr>
          <p:cNvPr id="18" name="TextBox 17"/>
          <p:cNvSpPr txBox="1"/>
          <p:nvPr/>
        </p:nvSpPr>
        <p:spPr>
          <a:xfrm>
            <a:off x="2743200" y="512064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systemd · redémarrage auto · retry</a:t>
            </a:r>
          </a:p>
        </p:txBody>
      </p:sp>
      <p:sp>
        <p:nvSpPr>
          <p:cNvPr id="19" name="Rounded Rectangle 18"/>
          <p:cNvSpPr/>
          <p:nvPr/>
        </p:nvSpPr>
        <p:spPr>
          <a:xfrm>
            <a:off x="6233007" y="2651760"/>
            <a:ext cx="531860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07327" y="2971800"/>
            <a:ext cx="1463040" cy="292608"/>
          </a:xfrm>
          <a:prstGeom prst="roundRect">
            <a:avLst>
              <a:gd name="adj" fmla="val 50000"/>
            </a:avLst>
          </a:prstGeom>
          <a:solidFill>
            <a:srgbClr val="4ECDC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50">
                <a:solidFill>
                  <a:srgbClr val="050B1E"/>
                </a:solidFill>
                <a:latin typeface="JetBrains Mono"/>
              </a:rPr>
              <a:t>EN DIRECT · 1 min</a:t>
            </a:r>
          </a:p>
        </p:txBody>
      </p:sp>
      <p:sp>
        <p:nvSpPr>
          <p:cNvPr id="21" name="TextBox 20"/>
          <p:cNvSpPr txBox="1"/>
          <p:nvPr/>
        </p:nvSpPr>
        <p:spPr>
          <a:xfrm>
            <a:off x="6507327" y="3474720"/>
            <a:ext cx="4769967" cy="45720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Flux de données</a:t>
            </a:r>
          </a:p>
        </p:txBody>
      </p:sp>
      <p:sp>
        <p:nvSpPr>
          <p:cNvPr id="22" name="Rounded Rectangle 21"/>
          <p:cNvSpPr/>
          <p:nvPr/>
        </p:nvSpPr>
        <p:spPr>
          <a:xfrm>
            <a:off x="6507327" y="4160520"/>
            <a:ext cx="1737360" cy="292608"/>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60">
                <a:solidFill>
                  <a:srgbClr val="4ECDC4"/>
                </a:solidFill>
                <a:latin typeface="JetBrains Mono"/>
              </a:rPr>
              <a:t>① CAPTEURS</a:t>
            </a:r>
          </a:p>
        </p:txBody>
      </p:sp>
      <p:sp>
        <p:nvSpPr>
          <p:cNvPr id="23" name="TextBox 22"/>
          <p:cNvSpPr txBox="1"/>
          <p:nvPr/>
        </p:nvSpPr>
        <p:spPr>
          <a:xfrm>
            <a:off x="8381847" y="4160520"/>
            <a:ext cx="2895447" cy="320040"/>
          </a:xfrm>
          <a:prstGeom prst="rect">
            <a:avLst/>
          </a:prstGeom>
          <a:noFill/>
        </p:spPr>
        <p:txBody>
          <a:bodyPr wrap="square" lIns="0" rIns="0" tIns="0" bIns="0" anchor="ctr">
            <a:spAutoFit/>
          </a:bodyPr>
          <a:lstStyle/>
          <a:p>
            <a:pPr algn="l">
              <a:lnSpc>
                <a:spcPct val="120000"/>
              </a:lnSpc>
            </a:pPr>
            <a:r>
              <a:rPr sz="1200" b="0" i="0">
                <a:solidFill>
                  <a:srgbClr val="F4F6FB"/>
                </a:solidFill>
                <a:latin typeface="Inter"/>
              </a:rPr>
              <a:t>5 sondes lues à 1 s</a:t>
            </a:r>
          </a:p>
        </p:txBody>
      </p:sp>
      <p:sp>
        <p:nvSpPr>
          <p:cNvPr id="24" name="Rounded Rectangle 23"/>
          <p:cNvSpPr/>
          <p:nvPr/>
        </p:nvSpPr>
        <p:spPr>
          <a:xfrm>
            <a:off x="6507327" y="4663440"/>
            <a:ext cx="1737360" cy="292608"/>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60">
                <a:solidFill>
                  <a:srgbClr val="4ECDC4"/>
                </a:solidFill>
                <a:latin typeface="JetBrains Mono"/>
              </a:rPr>
              <a:t>② RASPBERRY</a:t>
            </a:r>
          </a:p>
        </p:txBody>
      </p:sp>
      <p:sp>
        <p:nvSpPr>
          <p:cNvPr id="25" name="TextBox 24"/>
          <p:cNvSpPr txBox="1"/>
          <p:nvPr/>
        </p:nvSpPr>
        <p:spPr>
          <a:xfrm>
            <a:off x="8381847" y="4663440"/>
            <a:ext cx="2895447" cy="320040"/>
          </a:xfrm>
          <a:prstGeom prst="rect">
            <a:avLst/>
          </a:prstGeom>
          <a:noFill/>
        </p:spPr>
        <p:txBody>
          <a:bodyPr wrap="square" lIns="0" rIns="0" tIns="0" bIns="0" anchor="ctr">
            <a:spAutoFit/>
          </a:bodyPr>
          <a:lstStyle/>
          <a:p>
            <a:pPr algn="l">
              <a:lnSpc>
                <a:spcPct val="120000"/>
              </a:lnSpc>
            </a:pPr>
            <a:r>
              <a:rPr sz="1200" b="0" i="0">
                <a:solidFill>
                  <a:srgbClr val="F4F6FB"/>
                </a:solidFill>
                <a:latin typeface="Inter"/>
              </a:rPr>
              <a:t>Agrégation 60 s · moyenne, min, max</a:t>
            </a:r>
          </a:p>
        </p:txBody>
      </p:sp>
      <p:sp>
        <p:nvSpPr>
          <p:cNvPr id="26" name="Rounded Rectangle 25"/>
          <p:cNvSpPr/>
          <p:nvPr/>
        </p:nvSpPr>
        <p:spPr>
          <a:xfrm>
            <a:off x="6507327" y="5166360"/>
            <a:ext cx="1737360" cy="292608"/>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60">
                <a:solidFill>
                  <a:srgbClr val="4ECDC4"/>
                </a:solidFill>
                <a:latin typeface="JetBrains Mono"/>
              </a:rPr>
              <a:t>③ BACKEND</a:t>
            </a:r>
          </a:p>
        </p:txBody>
      </p:sp>
      <p:sp>
        <p:nvSpPr>
          <p:cNvPr id="27" name="TextBox 26"/>
          <p:cNvSpPr txBox="1"/>
          <p:nvPr/>
        </p:nvSpPr>
        <p:spPr>
          <a:xfrm>
            <a:off x="8381847" y="5166360"/>
            <a:ext cx="2895447" cy="320040"/>
          </a:xfrm>
          <a:prstGeom prst="rect">
            <a:avLst/>
          </a:prstGeom>
          <a:noFill/>
        </p:spPr>
        <p:txBody>
          <a:bodyPr wrap="square" lIns="0" rIns="0" tIns="0" bIns="0" anchor="ctr">
            <a:spAutoFit/>
          </a:bodyPr>
          <a:lstStyle/>
          <a:p>
            <a:pPr algn="l">
              <a:lnSpc>
                <a:spcPct val="120000"/>
              </a:lnSpc>
            </a:pPr>
            <a:r>
              <a:rPr sz="1200" b="0" i="0">
                <a:solidFill>
                  <a:srgbClr val="F4F6FB"/>
                </a:solidFill>
                <a:latin typeface="Inter"/>
              </a:rPr>
              <a:t>POST /api/capteurs/ingest · JSON</a:t>
            </a:r>
          </a:p>
        </p:txBody>
      </p:sp>
      <p:sp>
        <p:nvSpPr>
          <p:cNvPr id="28" name="TextBox 27"/>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14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MODÉLISATION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Modélisation UML.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Cas d'utilisation et diagramme de classes.</a:t>
            </a:r>
          </a:p>
        </p:txBody>
      </p:sp>
      <p:sp>
        <p:nvSpPr>
          <p:cNvPr id="9" name="Rounded Rectangle 8"/>
          <p:cNvSpPr/>
          <p:nvPr/>
        </p:nvSpPr>
        <p:spPr>
          <a:xfrm>
            <a:off x="640080"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483854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1" name="TextBox 10"/>
          <p:cNvSpPr txBox="1"/>
          <p:nvPr/>
        </p:nvSpPr>
        <p:spPr>
          <a:xfrm>
            <a:off x="868680" y="3145536"/>
            <a:ext cx="483854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Diagramme de cas d'utilisation</a:t>
            </a:r>
          </a:p>
        </p:txBody>
      </p:sp>
      <p:sp>
        <p:nvSpPr>
          <p:cNvPr id="12" name="TextBox 11"/>
          <p:cNvSpPr txBox="1"/>
          <p:nvPr/>
        </p:nvSpPr>
        <p:spPr>
          <a:xfrm>
            <a:off x="868680" y="3648456"/>
            <a:ext cx="4838547"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4 acteurs (Responsable, Chef de Ligne, Technicien, système IA) · 12 cas d'utilisation globaux couvrant supervision, intervention, notification et analyse.</a:t>
            </a:r>
          </a:p>
        </p:txBody>
      </p:sp>
      <p:sp>
        <p:nvSpPr>
          <p:cNvPr id="13" name="Rounded Rectangle 12"/>
          <p:cNvSpPr/>
          <p:nvPr/>
        </p:nvSpPr>
        <p:spPr>
          <a:xfrm>
            <a:off x="3924147" y="5577840"/>
            <a:ext cx="1828800" cy="320040"/>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20">
                <a:solidFill>
                  <a:srgbClr val="FFB37A"/>
                </a:solidFill>
                <a:latin typeface="JetBrains Mono"/>
              </a:rPr>
              <a:t>voir diagramme joint</a:t>
            </a:r>
          </a:p>
        </p:txBody>
      </p:sp>
      <p:sp>
        <p:nvSpPr>
          <p:cNvPr id="14" name="Rounded Rectangle 13"/>
          <p:cNvSpPr/>
          <p:nvPr/>
        </p:nvSpPr>
        <p:spPr>
          <a:xfrm>
            <a:off x="6255867"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4467" y="2852928"/>
            <a:ext cx="483854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6" name="TextBox 15"/>
          <p:cNvSpPr txBox="1"/>
          <p:nvPr/>
        </p:nvSpPr>
        <p:spPr>
          <a:xfrm>
            <a:off x="6484467" y="3145536"/>
            <a:ext cx="483854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Diagramme de classes</a:t>
            </a:r>
          </a:p>
        </p:txBody>
      </p:sp>
      <p:sp>
        <p:nvSpPr>
          <p:cNvPr id="17" name="TextBox 16"/>
          <p:cNvSpPr txBox="1"/>
          <p:nvPr/>
        </p:nvSpPr>
        <p:spPr>
          <a:xfrm>
            <a:off x="6484467" y="3648456"/>
            <a:ext cx="4838547"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9 classes métier — Machine, Utilisateur, Intervention, Alerte, Capteur, Maintenance (type enum), AnalyseTCO, PreventiveChecklist, Notification.</a:t>
            </a:r>
          </a:p>
        </p:txBody>
      </p:sp>
      <p:sp>
        <p:nvSpPr>
          <p:cNvPr id="18" name="Rounded Rectangle 17"/>
          <p:cNvSpPr/>
          <p:nvPr/>
        </p:nvSpPr>
        <p:spPr>
          <a:xfrm>
            <a:off x="9539935" y="5577840"/>
            <a:ext cx="1828800" cy="320040"/>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20">
                <a:solidFill>
                  <a:srgbClr val="FFB37A"/>
                </a:solidFill>
                <a:latin typeface="JetBrains Mono"/>
              </a:rPr>
              <a:t>voir diagramme joint</a:t>
            </a:r>
          </a:p>
        </p:txBody>
      </p:sp>
      <p:sp>
        <p:nvSpPr>
          <p:cNvPr id="19" name="TextBox 1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15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PIPELINE TEMPS RÉEL</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Du capteur à l'alerte.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Cinq étapes · moins d'une minute · sans intervention humaine.</a:t>
            </a:r>
          </a:p>
        </p:txBody>
      </p:sp>
      <p:sp>
        <p:nvSpPr>
          <p:cNvPr id="9" name="Rounded Rectangle 8"/>
          <p:cNvSpPr/>
          <p:nvPr/>
        </p:nvSpPr>
        <p:spPr>
          <a:xfrm>
            <a:off x="640080"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① CAPTEUR</a:t>
            </a:r>
          </a:p>
        </p:txBody>
      </p:sp>
      <p:sp>
        <p:nvSpPr>
          <p:cNvPr id="11" name="TextBox 10"/>
          <p:cNvSpPr txBox="1"/>
          <p:nvPr/>
        </p:nvSpPr>
        <p:spPr>
          <a:xfrm>
            <a:off x="640080"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5 sondes · 1 s</a:t>
            </a:r>
          </a:p>
        </p:txBody>
      </p:sp>
      <p:sp>
        <p:nvSpPr>
          <p:cNvPr id="12" name="Rounded Rectangle 11"/>
          <p:cNvSpPr/>
          <p:nvPr/>
        </p:nvSpPr>
        <p:spPr>
          <a:xfrm>
            <a:off x="2849819"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49819"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② EDGE</a:t>
            </a:r>
          </a:p>
        </p:txBody>
      </p:sp>
      <p:sp>
        <p:nvSpPr>
          <p:cNvPr id="14" name="TextBox 13"/>
          <p:cNvSpPr txBox="1"/>
          <p:nvPr/>
        </p:nvSpPr>
        <p:spPr>
          <a:xfrm>
            <a:off x="2849819"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Raspberry · 60 s</a:t>
            </a:r>
          </a:p>
        </p:txBody>
      </p:sp>
      <p:sp>
        <p:nvSpPr>
          <p:cNvPr id="15" name="Rounded Rectangle 14"/>
          <p:cNvSpPr/>
          <p:nvPr/>
        </p:nvSpPr>
        <p:spPr>
          <a:xfrm>
            <a:off x="5059558"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59558"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③ BACKEND</a:t>
            </a:r>
          </a:p>
        </p:txBody>
      </p:sp>
      <p:sp>
        <p:nvSpPr>
          <p:cNvPr id="17" name="TextBox 16"/>
          <p:cNvSpPr txBox="1"/>
          <p:nvPr/>
        </p:nvSpPr>
        <p:spPr>
          <a:xfrm>
            <a:off x="5059558"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POST /ingest</a:t>
            </a:r>
          </a:p>
        </p:txBody>
      </p:sp>
      <p:sp>
        <p:nvSpPr>
          <p:cNvPr id="18" name="Rounded Rectangle 17"/>
          <p:cNvSpPr/>
          <p:nvPr/>
        </p:nvSpPr>
        <p:spPr>
          <a:xfrm>
            <a:off x="7269297"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297"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④ IA</a:t>
            </a:r>
          </a:p>
        </p:txBody>
      </p:sp>
      <p:sp>
        <p:nvSpPr>
          <p:cNvPr id="20" name="TextBox 19"/>
          <p:cNvSpPr txBox="1"/>
          <p:nvPr/>
        </p:nvSpPr>
        <p:spPr>
          <a:xfrm>
            <a:off x="7269297"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proba &gt; 80 %</a:t>
            </a:r>
          </a:p>
        </p:txBody>
      </p:sp>
      <p:sp>
        <p:nvSpPr>
          <p:cNvPr id="21" name="Rounded Rectangle 20"/>
          <p:cNvSpPr/>
          <p:nvPr/>
        </p:nvSpPr>
        <p:spPr>
          <a:xfrm>
            <a:off x="9479036"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79036"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⑤ ALERTE</a:t>
            </a:r>
          </a:p>
        </p:txBody>
      </p:sp>
      <p:sp>
        <p:nvSpPr>
          <p:cNvPr id="23" name="TextBox 22"/>
          <p:cNvSpPr txBox="1"/>
          <p:nvPr/>
        </p:nvSpPr>
        <p:spPr>
          <a:xfrm>
            <a:off x="9479036"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Push Firebase</a:t>
            </a:r>
          </a:p>
        </p:txBody>
      </p:sp>
      <p:sp>
        <p:nvSpPr>
          <p:cNvPr id="24" name="Rounded Rectangle 23"/>
          <p:cNvSpPr/>
          <p:nvPr/>
        </p:nvSpPr>
        <p:spPr>
          <a:xfrm>
            <a:off x="640080" y="4937760"/>
            <a:ext cx="3454298" cy="8686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37760"/>
            <a:ext cx="2286000" cy="86868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~60 s</a:t>
            </a:r>
          </a:p>
        </p:txBody>
      </p:sp>
      <p:sp>
        <p:nvSpPr>
          <p:cNvPr id="26" name="TextBox 25"/>
          <p:cNvSpPr txBox="1"/>
          <p:nvPr/>
        </p:nvSpPr>
        <p:spPr>
          <a:xfrm>
            <a:off x="3200400" y="4937760"/>
            <a:ext cx="619658" cy="868680"/>
          </a:xfrm>
          <a:prstGeom prst="rect">
            <a:avLst/>
          </a:prstGeom>
          <a:noFill/>
        </p:spPr>
        <p:txBody>
          <a:bodyPr wrap="square" lIns="0" rIns="0" tIns="0" bIns="0" anchor="ctr">
            <a:spAutoFit/>
          </a:bodyPr>
          <a:lstStyle/>
          <a:p>
            <a:pPr algn="l">
              <a:lnSpc>
                <a:spcPct val="110000"/>
              </a:lnSpc>
            </a:pPr>
            <a:r>
              <a:rPr sz="1200" b="0" i="0">
                <a:solidFill>
                  <a:srgbClr val="C9D0DC"/>
                </a:solidFill>
                <a:latin typeface="Inter"/>
              </a:rPr>
              <a:t>Latence bout-en-bout</a:t>
            </a:r>
          </a:p>
        </p:txBody>
      </p:sp>
      <p:sp>
        <p:nvSpPr>
          <p:cNvPr id="27" name="Rounded Rectangle 26"/>
          <p:cNvSpPr/>
          <p:nvPr/>
        </p:nvSpPr>
        <p:spPr>
          <a:xfrm>
            <a:off x="4368698" y="4937760"/>
            <a:ext cx="3454298" cy="8686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3018" y="4937760"/>
            <a:ext cx="2286000" cy="86868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Automatique</a:t>
            </a:r>
          </a:p>
        </p:txBody>
      </p:sp>
      <p:sp>
        <p:nvSpPr>
          <p:cNvPr id="29" name="TextBox 28"/>
          <p:cNvSpPr txBox="1"/>
          <p:nvPr/>
        </p:nvSpPr>
        <p:spPr>
          <a:xfrm>
            <a:off x="6929018" y="4937760"/>
            <a:ext cx="619658" cy="868680"/>
          </a:xfrm>
          <a:prstGeom prst="rect">
            <a:avLst/>
          </a:prstGeom>
          <a:noFill/>
        </p:spPr>
        <p:txBody>
          <a:bodyPr wrap="square" lIns="0" rIns="0" tIns="0" bIns="0" anchor="ctr">
            <a:spAutoFit/>
          </a:bodyPr>
          <a:lstStyle/>
          <a:p>
            <a:pPr algn="l">
              <a:lnSpc>
                <a:spcPct val="110000"/>
              </a:lnSpc>
            </a:pPr>
            <a:r>
              <a:rPr sz="1200" b="0" i="0">
                <a:solidFill>
                  <a:srgbClr val="C9D0DC"/>
                </a:solidFill>
                <a:latin typeface="Inter"/>
              </a:rPr>
              <a:t>Zéro action manuelle</a:t>
            </a:r>
          </a:p>
        </p:txBody>
      </p:sp>
      <p:sp>
        <p:nvSpPr>
          <p:cNvPr id="30" name="Rounded Rectangle 29"/>
          <p:cNvSpPr/>
          <p:nvPr/>
        </p:nvSpPr>
        <p:spPr>
          <a:xfrm>
            <a:off x="8097316" y="4937760"/>
            <a:ext cx="3454298" cy="8686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1636" y="4937760"/>
            <a:ext cx="2286000" cy="86868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Terrain</a:t>
            </a:r>
          </a:p>
        </p:txBody>
      </p:sp>
      <p:sp>
        <p:nvSpPr>
          <p:cNvPr id="32" name="TextBox 31"/>
          <p:cNvSpPr txBox="1"/>
          <p:nvPr/>
        </p:nvSpPr>
        <p:spPr>
          <a:xfrm>
            <a:off x="10657636" y="4937760"/>
            <a:ext cx="619658" cy="868680"/>
          </a:xfrm>
          <a:prstGeom prst="rect">
            <a:avLst/>
          </a:prstGeom>
          <a:noFill/>
        </p:spPr>
        <p:txBody>
          <a:bodyPr wrap="square" lIns="0" rIns="0" tIns="0" bIns="0" anchor="ctr">
            <a:spAutoFit/>
          </a:bodyPr>
          <a:lstStyle/>
          <a:p>
            <a:pPr algn="l">
              <a:lnSpc>
                <a:spcPct val="110000"/>
              </a:lnSpc>
            </a:pPr>
            <a:r>
              <a:rPr sz="1200" b="0" i="0">
                <a:solidFill>
                  <a:srgbClr val="C9D0DC"/>
                </a:solidFill>
                <a:latin typeface="Inter"/>
              </a:rPr>
              <a:t>Notification mobile</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04</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Développement et implémentation</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Backend · IA · Applications web et mobile · Déploiement</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BACKEND API</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Node.js + MongoDB.</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API REST · 8 collections · trois rôles utilisateur.</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6996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ENDPOINTS PRINCIPAUX</a:t>
            </a:r>
          </a:p>
        </p:txBody>
      </p:sp>
      <p:sp>
        <p:nvSpPr>
          <p:cNvPr id="11" name="TextBox 10"/>
          <p:cNvSpPr txBox="1"/>
          <p:nvPr/>
        </p:nvSpPr>
        <p:spPr>
          <a:xfrm>
            <a:off x="914400" y="3429000"/>
            <a:ext cx="548640" cy="320040"/>
          </a:xfrm>
          <a:prstGeom prst="rect">
            <a:avLst/>
          </a:prstGeom>
          <a:noFill/>
        </p:spPr>
        <p:txBody>
          <a:bodyPr wrap="square" lIns="0" rIns="0" tIns="0" bIns="0" anchor="t">
            <a:spAutoFit/>
          </a:bodyPr>
          <a:lstStyle/>
          <a:p>
            <a:pPr algn="l">
              <a:lnSpc>
                <a:spcPct val="110000"/>
              </a:lnSpc>
            </a:pPr>
            <a:r>
              <a:rPr sz="1000" b="1" i="0">
                <a:solidFill>
                  <a:srgbClr val="FF9548"/>
                </a:solidFill>
                <a:latin typeface="JetBrains Mono"/>
              </a:rPr>
              <a:t>POST</a:t>
            </a:r>
          </a:p>
        </p:txBody>
      </p:sp>
      <p:sp>
        <p:nvSpPr>
          <p:cNvPr id="12" name="TextBox 11"/>
          <p:cNvSpPr txBox="1"/>
          <p:nvPr/>
        </p:nvSpPr>
        <p:spPr>
          <a:xfrm>
            <a:off x="1508760" y="3429000"/>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/api/capteurs/ingest</a:t>
            </a:r>
          </a:p>
        </p:txBody>
      </p:sp>
      <p:sp>
        <p:nvSpPr>
          <p:cNvPr id="13" name="TextBox 12"/>
          <p:cNvSpPr txBox="1"/>
          <p:nvPr/>
        </p:nvSpPr>
        <p:spPr>
          <a:xfrm>
            <a:off x="914400" y="3721608"/>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Ingestion IoT</a:t>
            </a:r>
          </a:p>
        </p:txBody>
      </p:sp>
      <p:sp>
        <p:nvSpPr>
          <p:cNvPr id="14" name="TextBox 13"/>
          <p:cNvSpPr txBox="1"/>
          <p:nvPr/>
        </p:nvSpPr>
        <p:spPr>
          <a:xfrm>
            <a:off x="914400" y="4087368"/>
            <a:ext cx="548640" cy="320040"/>
          </a:xfrm>
          <a:prstGeom prst="rect">
            <a:avLst/>
          </a:prstGeom>
          <a:noFill/>
        </p:spPr>
        <p:txBody>
          <a:bodyPr wrap="square" lIns="0" rIns="0" tIns="0" bIns="0" anchor="t">
            <a:spAutoFit/>
          </a:bodyPr>
          <a:lstStyle/>
          <a:p>
            <a:pPr algn="l">
              <a:lnSpc>
                <a:spcPct val="110000"/>
              </a:lnSpc>
            </a:pPr>
            <a:r>
              <a:rPr sz="1000" b="1" i="0">
                <a:solidFill>
                  <a:srgbClr val="4ADE80"/>
                </a:solidFill>
                <a:latin typeface="JetBrains Mono"/>
              </a:rPr>
              <a:t>GET</a:t>
            </a:r>
          </a:p>
        </p:txBody>
      </p:sp>
      <p:sp>
        <p:nvSpPr>
          <p:cNvPr id="15" name="TextBox 14"/>
          <p:cNvSpPr txBox="1"/>
          <p:nvPr/>
        </p:nvSpPr>
        <p:spPr>
          <a:xfrm>
            <a:off x="1508760" y="4087368"/>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/api/machines</a:t>
            </a:r>
          </a:p>
        </p:txBody>
      </p:sp>
      <p:sp>
        <p:nvSpPr>
          <p:cNvPr id="16" name="TextBox 15"/>
          <p:cNvSpPr txBox="1"/>
          <p:nvPr/>
        </p:nvSpPr>
        <p:spPr>
          <a:xfrm>
            <a:off x="914400" y="4379976"/>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Liste machines</a:t>
            </a:r>
          </a:p>
        </p:txBody>
      </p:sp>
      <p:sp>
        <p:nvSpPr>
          <p:cNvPr id="17" name="TextBox 16"/>
          <p:cNvSpPr txBox="1"/>
          <p:nvPr/>
        </p:nvSpPr>
        <p:spPr>
          <a:xfrm>
            <a:off x="914400" y="4745736"/>
            <a:ext cx="548640" cy="320040"/>
          </a:xfrm>
          <a:prstGeom prst="rect">
            <a:avLst/>
          </a:prstGeom>
          <a:noFill/>
        </p:spPr>
        <p:txBody>
          <a:bodyPr wrap="square" lIns="0" rIns="0" tIns="0" bIns="0" anchor="t">
            <a:spAutoFit/>
          </a:bodyPr>
          <a:lstStyle/>
          <a:p>
            <a:pPr algn="l">
              <a:lnSpc>
                <a:spcPct val="110000"/>
              </a:lnSpc>
            </a:pPr>
            <a:r>
              <a:rPr sz="1000" b="1" i="0">
                <a:solidFill>
                  <a:srgbClr val="FF9548"/>
                </a:solidFill>
                <a:latin typeface="JetBrains Mono"/>
              </a:rPr>
              <a:t>POST</a:t>
            </a:r>
          </a:p>
        </p:txBody>
      </p:sp>
      <p:sp>
        <p:nvSpPr>
          <p:cNvPr id="18" name="TextBox 17"/>
          <p:cNvSpPr txBox="1"/>
          <p:nvPr/>
        </p:nvSpPr>
        <p:spPr>
          <a:xfrm>
            <a:off x="1508760" y="4745736"/>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/api/interventions</a:t>
            </a:r>
          </a:p>
        </p:txBody>
      </p:sp>
      <p:sp>
        <p:nvSpPr>
          <p:cNvPr id="19" name="TextBox 18"/>
          <p:cNvSpPr txBox="1"/>
          <p:nvPr/>
        </p:nvSpPr>
        <p:spPr>
          <a:xfrm>
            <a:off x="914400" y="5038344"/>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Créer intervention</a:t>
            </a:r>
          </a:p>
        </p:txBody>
      </p:sp>
      <p:sp>
        <p:nvSpPr>
          <p:cNvPr id="20" name="TextBox 19"/>
          <p:cNvSpPr txBox="1"/>
          <p:nvPr/>
        </p:nvSpPr>
        <p:spPr>
          <a:xfrm>
            <a:off x="914400" y="5404104"/>
            <a:ext cx="548640" cy="320040"/>
          </a:xfrm>
          <a:prstGeom prst="rect">
            <a:avLst/>
          </a:prstGeom>
          <a:noFill/>
        </p:spPr>
        <p:txBody>
          <a:bodyPr wrap="square" lIns="0" rIns="0" tIns="0" bIns="0" anchor="t">
            <a:spAutoFit/>
          </a:bodyPr>
          <a:lstStyle/>
          <a:p>
            <a:pPr algn="l">
              <a:lnSpc>
                <a:spcPct val="110000"/>
              </a:lnSpc>
            </a:pPr>
            <a:r>
              <a:rPr sz="1000" b="1" i="0">
                <a:solidFill>
                  <a:srgbClr val="4ADE80"/>
                </a:solidFill>
                <a:latin typeface="JetBrains Mono"/>
              </a:rPr>
              <a:t>GET</a:t>
            </a:r>
          </a:p>
        </p:txBody>
      </p:sp>
      <p:sp>
        <p:nvSpPr>
          <p:cNvPr id="21" name="TextBox 20"/>
          <p:cNvSpPr txBox="1"/>
          <p:nvPr/>
        </p:nvSpPr>
        <p:spPr>
          <a:xfrm>
            <a:off x="1508760" y="5404104"/>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/api/alertes</a:t>
            </a:r>
          </a:p>
        </p:txBody>
      </p:sp>
      <p:sp>
        <p:nvSpPr>
          <p:cNvPr id="22" name="TextBox 21"/>
          <p:cNvSpPr txBox="1"/>
          <p:nvPr/>
        </p:nvSpPr>
        <p:spPr>
          <a:xfrm>
            <a:off x="914400" y="5696712"/>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Alertes actives</a:t>
            </a:r>
          </a:p>
        </p:txBody>
      </p:sp>
      <p:sp>
        <p:nvSpPr>
          <p:cNvPr id="23" name="TextBox 22"/>
          <p:cNvSpPr txBox="1"/>
          <p:nvPr/>
        </p:nvSpPr>
        <p:spPr>
          <a:xfrm>
            <a:off x="914400" y="6062472"/>
            <a:ext cx="548640" cy="320040"/>
          </a:xfrm>
          <a:prstGeom prst="rect">
            <a:avLst/>
          </a:prstGeom>
          <a:noFill/>
        </p:spPr>
        <p:txBody>
          <a:bodyPr wrap="square" lIns="0" rIns="0" tIns="0" bIns="0" anchor="t">
            <a:spAutoFit/>
          </a:bodyPr>
          <a:lstStyle/>
          <a:p>
            <a:pPr algn="l">
              <a:lnSpc>
                <a:spcPct val="110000"/>
              </a:lnSpc>
            </a:pPr>
            <a:r>
              <a:rPr sz="1000" b="1" i="0">
                <a:solidFill>
                  <a:srgbClr val="FF9548"/>
                </a:solidFill>
                <a:latin typeface="JetBrains Mono"/>
              </a:rPr>
              <a:t>POST</a:t>
            </a:r>
          </a:p>
        </p:txBody>
      </p:sp>
      <p:sp>
        <p:nvSpPr>
          <p:cNvPr id="24" name="TextBox 23"/>
          <p:cNvSpPr txBox="1"/>
          <p:nvPr/>
        </p:nvSpPr>
        <p:spPr>
          <a:xfrm>
            <a:off x="1508760" y="6062472"/>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/api/auth/login</a:t>
            </a:r>
          </a:p>
        </p:txBody>
      </p:sp>
      <p:sp>
        <p:nvSpPr>
          <p:cNvPr id="25" name="TextBox 24"/>
          <p:cNvSpPr txBox="1"/>
          <p:nvPr/>
        </p:nvSpPr>
        <p:spPr>
          <a:xfrm>
            <a:off x="914400" y="6355080"/>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Auth JWT</a:t>
            </a:r>
          </a:p>
        </p:txBody>
      </p:sp>
      <p:sp>
        <p:nvSpPr>
          <p:cNvPr id="26" name="Rounded Rectangle 25"/>
          <p:cNvSpPr/>
          <p:nvPr/>
        </p:nvSpPr>
        <p:spPr>
          <a:xfrm>
            <a:off x="6233007" y="2651760"/>
            <a:ext cx="531860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7327" y="2926080"/>
            <a:ext cx="4769967" cy="365760"/>
          </a:xfrm>
          <a:prstGeom prst="rect">
            <a:avLst/>
          </a:prstGeom>
          <a:noFill/>
        </p:spPr>
        <p:txBody>
          <a:bodyPr wrap="square" lIns="0" rIns="0" tIns="0" bIns="0" anchor="t">
            <a:spAutoFit/>
          </a:bodyPr>
          <a:lstStyle/>
          <a:p>
            <a:pPr algn="l">
              <a:lnSpc>
                <a:spcPct val="110000"/>
              </a:lnSpc>
            </a:pPr>
            <a:r>
              <a:rPr sz="1000" b="1" i="0" spc="200">
                <a:solidFill>
                  <a:srgbClr val="4ECDC4"/>
                </a:solidFill>
                <a:latin typeface="JetBrains Mono"/>
              </a:rPr>
              <a:t>COLLECTIONS MONGODB</a:t>
            </a:r>
          </a:p>
        </p:txBody>
      </p:sp>
      <p:sp>
        <p:nvSpPr>
          <p:cNvPr id="28" name="Rounded Rectangle 27"/>
          <p:cNvSpPr/>
          <p:nvPr/>
        </p:nvSpPr>
        <p:spPr>
          <a:xfrm>
            <a:off x="6507327" y="342900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User</a:t>
            </a:r>
          </a:p>
        </p:txBody>
      </p:sp>
      <p:sp>
        <p:nvSpPr>
          <p:cNvPr id="29" name="Rounded Rectangle 28"/>
          <p:cNvSpPr/>
          <p:nvPr/>
        </p:nvSpPr>
        <p:spPr>
          <a:xfrm>
            <a:off x="9029471" y="342900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Machine</a:t>
            </a:r>
          </a:p>
        </p:txBody>
      </p:sp>
      <p:sp>
        <p:nvSpPr>
          <p:cNvPr id="30" name="Rounded Rectangle 29"/>
          <p:cNvSpPr/>
          <p:nvPr/>
        </p:nvSpPr>
        <p:spPr>
          <a:xfrm>
            <a:off x="6507327" y="393192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Capteur</a:t>
            </a:r>
          </a:p>
        </p:txBody>
      </p:sp>
      <p:sp>
        <p:nvSpPr>
          <p:cNvPr id="31" name="Rounded Rectangle 30"/>
          <p:cNvSpPr/>
          <p:nvPr/>
        </p:nvSpPr>
        <p:spPr>
          <a:xfrm>
            <a:off x="9029471" y="393192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Intervention</a:t>
            </a:r>
          </a:p>
        </p:txBody>
      </p:sp>
      <p:sp>
        <p:nvSpPr>
          <p:cNvPr id="32" name="Rounded Rectangle 31"/>
          <p:cNvSpPr/>
          <p:nvPr/>
        </p:nvSpPr>
        <p:spPr>
          <a:xfrm>
            <a:off x="6507327" y="443484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Alerte</a:t>
            </a:r>
          </a:p>
        </p:txBody>
      </p:sp>
      <p:sp>
        <p:nvSpPr>
          <p:cNvPr id="33" name="Rounded Rectangle 32"/>
          <p:cNvSpPr/>
          <p:nvPr/>
        </p:nvSpPr>
        <p:spPr>
          <a:xfrm>
            <a:off x="9029471" y="443484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Maintenance</a:t>
            </a:r>
          </a:p>
        </p:txBody>
      </p:sp>
      <p:sp>
        <p:nvSpPr>
          <p:cNvPr id="34" name="Rounded Rectangle 33"/>
          <p:cNvSpPr/>
          <p:nvPr/>
        </p:nvSpPr>
        <p:spPr>
          <a:xfrm>
            <a:off x="6507327" y="493776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AnalyseTCO</a:t>
            </a:r>
          </a:p>
        </p:txBody>
      </p:sp>
      <p:sp>
        <p:nvSpPr>
          <p:cNvPr id="35" name="Rounded Rectangle 34"/>
          <p:cNvSpPr/>
          <p:nvPr/>
        </p:nvSpPr>
        <p:spPr>
          <a:xfrm>
            <a:off x="9029471" y="493776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PreventiveChecklist</a:t>
            </a:r>
          </a:p>
        </p:txBody>
      </p:sp>
      <p:sp>
        <p:nvSpPr>
          <p:cNvPr id="36" name="TextBox 35"/>
          <p:cNvSpPr txBox="1"/>
          <p:nvPr/>
        </p:nvSpPr>
        <p:spPr>
          <a:xfrm>
            <a:off x="6507327" y="5715000"/>
            <a:ext cx="4769967" cy="320040"/>
          </a:xfrm>
          <a:prstGeom prst="rect">
            <a:avLst/>
          </a:prstGeom>
          <a:noFill/>
        </p:spPr>
        <p:txBody>
          <a:bodyPr wrap="square" lIns="0" rIns="0" tIns="0" bIns="0" anchor="t">
            <a:spAutoFit/>
          </a:bodyPr>
          <a:lstStyle/>
          <a:p>
            <a:pPr algn="ctr">
              <a:lnSpc>
                <a:spcPct val="110000"/>
              </a:lnSpc>
            </a:pPr>
            <a:r>
              <a:rPr sz="1000" b="0" i="0" spc="100">
                <a:solidFill>
                  <a:srgbClr val="7D8496"/>
                </a:solidFill>
                <a:latin typeface="JetBrains Mono"/>
              </a:rPr>
              <a:t>3 rôles  ·  JWT auth  ·  x-api-key pour l'IoT</a:t>
            </a:r>
          </a:p>
        </p:txBody>
      </p:sp>
      <p:sp>
        <p:nvSpPr>
          <p:cNvPr id="37" name="TextBox 36"/>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18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MICROSERVICE INTELLIGENCE ARTIFICIELLE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Trois modèles ML.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 microservice FastAPI · scikit-learn + XGBoost.</a:t>
            </a:r>
          </a:p>
        </p:txBody>
      </p:sp>
      <p:sp>
        <p:nvSpPr>
          <p:cNvPr id="9" name="Rounded Rectangle 8"/>
          <p:cNvSpPr/>
          <p:nvPr/>
        </p:nvSpPr>
        <p:spPr>
          <a:xfrm>
            <a:off x="640080" y="2651760"/>
            <a:ext cx="3484778" cy="27432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RF v1</a:t>
            </a:r>
          </a:p>
        </p:txBody>
      </p:sp>
      <p:sp>
        <p:nvSpPr>
          <p:cNvPr id="11" name="Rounded Rectangle 10"/>
          <p:cNvSpPr/>
          <p:nvPr/>
        </p:nvSpPr>
        <p:spPr>
          <a:xfrm>
            <a:off x="2981858"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F1 0.15</a:t>
            </a:r>
          </a:p>
        </p:txBody>
      </p:sp>
      <p:sp>
        <p:nvSpPr>
          <p:cNvPr id="12" name="TextBox 11"/>
          <p:cNvSpPr txBox="1"/>
          <p:nvPr/>
        </p:nvSpPr>
        <p:spPr>
          <a:xfrm>
            <a:off x="868680"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Historique · zones</a:t>
            </a:r>
          </a:p>
        </p:txBody>
      </p:sp>
      <p:sp>
        <p:nvSpPr>
          <p:cNvPr id="13" name="TextBox 12"/>
          <p:cNvSpPr txBox="1"/>
          <p:nvPr/>
        </p:nvSpPr>
        <p:spPr>
          <a:xfrm>
            <a:off x="868680" y="3648456"/>
            <a:ext cx="3027578" cy="182880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Baseline entraînée sur l'historique ICEM.
Sortie : zone probable de la panne.</a:t>
            </a:r>
          </a:p>
        </p:txBody>
      </p:sp>
      <p:sp>
        <p:nvSpPr>
          <p:cNvPr id="14" name="Rounded Rectangle 13"/>
          <p:cNvSpPr/>
          <p:nvPr/>
        </p:nvSpPr>
        <p:spPr>
          <a:xfrm>
            <a:off x="4353458" y="2651760"/>
            <a:ext cx="3484778" cy="27432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2058"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RF v2</a:t>
            </a:r>
          </a:p>
        </p:txBody>
      </p:sp>
      <p:sp>
        <p:nvSpPr>
          <p:cNvPr id="16" name="Rounded Rectangle 15"/>
          <p:cNvSpPr/>
          <p:nvPr/>
        </p:nvSpPr>
        <p:spPr>
          <a:xfrm>
            <a:off x="6695236"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F1 0.45</a:t>
            </a:r>
          </a:p>
        </p:txBody>
      </p:sp>
      <p:sp>
        <p:nvSpPr>
          <p:cNvPr id="17" name="TextBox 16"/>
          <p:cNvSpPr txBox="1"/>
          <p:nvPr/>
        </p:nvSpPr>
        <p:spPr>
          <a:xfrm>
            <a:off x="4582058"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IoT synthétique · causes</a:t>
            </a:r>
          </a:p>
        </p:txBody>
      </p:sp>
      <p:sp>
        <p:nvSpPr>
          <p:cNvPr id="18" name="TextBox 17"/>
          <p:cNvSpPr txBox="1"/>
          <p:nvPr/>
        </p:nvSpPr>
        <p:spPr>
          <a:xfrm>
            <a:off x="4582058" y="3648456"/>
            <a:ext cx="3027578" cy="182880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Réentraîné sur signaux IoT étiquetés par cause physique (13 classes).</a:t>
            </a:r>
          </a:p>
        </p:txBody>
      </p:sp>
      <p:sp>
        <p:nvSpPr>
          <p:cNvPr id="19" name="Rounded Rectangle 18"/>
          <p:cNvSpPr/>
          <p:nvPr/>
        </p:nvSpPr>
        <p:spPr>
          <a:xfrm>
            <a:off x="8066836" y="2651760"/>
            <a:ext cx="3484778" cy="27432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5436"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XGB v3</a:t>
            </a:r>
          </a:p>
        </p:txBody>
      </p:sp>
      <p:sp>
        <p:nvSpPr>
          <p:cNvPr id="21" name="Rounded Rectangle 20"/>
          <p:cNvSpPr/>
          <p:nvPr/>
        </p:nvSpPr>
        <p:spPr>
          <a:xfrm>
            <a:off x="10408615"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F1 0.83</a:t>
            </a:r>
          </a:p>
        </p:txBody>
      </p:sp>
      <p:sp>
        <p:nvSpPr>
          <p:cNvPr id="22" name="TextBox 21"/>
          <p:cNvSpPr txBox="1"/>
          <p:nvPr/>
        </p:nvSpPr>
        <p:spPr>
          <a:xfrm>
            <a:off x="8295436"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Probabilité · horizon 2 h</a:t>
            </a:r>
          </a:p>
        </p:txBody>
      </p:sp>
      <p:sp>
        <p:nvSpPr>
          <p:cNvPr id="23" name="TextBox 22"/>
          <p:cNvSpPr txBox="1"/>
          <p:nvPr/>
        </p:nvSpPr>
        <p:spPr>
          <a:xfrm>
            <a:off x="8295436" y="3648456"/>
            <a:ext cx="3027578" cy="182880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Gradient boosting · sortie probabilité + cause + fenêtre 2 h.</a:t>
            </a:r>
          </a:p>
        </p:txBody>
      </p:sp>
      <p:sp>
        <p:nvSpPr>
          <p:cNvPr id="24" name="Rounded Rectangle 23"/>
          <p:cNvSpPr/>
          <p:nvPr/>
        </p:nvSpPr>
        <p:spPr>
          <a:xfrm>
            <a:off x="640080" y="5577840"/>
            <a:ext cx="10911535" cy="777240"/>
          </a:xfrm>
          <a:prstGeom prst="roundRect">
            <a:avLst>
              <a:gd name="adj" fmla="val 6000"/>
            </a:avLst>
          </a:prstGeom>
          <a:solidFill>
            <a:srgbClr val="101A45">
              <a:alpha val="3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577840"/>
            <a:ext cx="10911535" cy="777240"/>
          </a:xfrm>
          <a:prstGeom prst="rect">
            <a:avLst/>
          </a:prstGeom>
          <a:noFill/>
        </p:spPr>
        <p:txBody>
          <a:bodyPr wrap="square" lIns="0" rIns="0" tIns="0" bIns="0" anchor="ctr">
            <a:spAutoFit/>
          </a:bodyPr>
          <a:lstStyle/>
          <a:p>
            <a:pPr algn="ctr">
              <a:lnSpc>
                <a:spcPct val="110000"/>
              </a:lnSpc>
            </a:pPr>
            <a:r>
              <a:rPr sz="1700" b="1" i="0">
                <a:solidFill>
                  <a:srgbClr val="FFB37A"/>
                </a:solidFill>
                <a:latin typeface="Space Grotesk"/>
              </a:rPr>
              <a:t>Seuil 80 %   ⇒   création automatique d'une maintenance prédictive.</a:t>
            </a:r>
          </a:p>
        </p:txBody>
      </p:sp>
      <p:sp>
        <p:nvSpPr>
          <p:cNvPr id="26" name="TextBox 25"/>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19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DONNÉES D'ENTRAÎNEMENT</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Deux sources de données.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Historique réel · signaux synthétiques ancrés physiquement.</a:t>
            </a:r>
          </a:p>
        </p:txBody>
      </p:sp>
      <p:sp>
        <p:nvSpPr>
          <p:cNvPr id="9" name="Rounded Rectangle 8"/>
          <p:cNvSpPr/>
          <p:nvPr/>
        </p:nvSpPr>
        <p:spPr>
          <a:xfrm>
            <a:off x="640080" y="2651760"/>
            <a:ext cx="5295747" cy="24688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47107" cy="36576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SOURCE 01 · HISTORIQUE ICEM</a:t>
            </a:r>
          </a:p>
        </p:txBody>
      </p:sp>
      <p:sp>
        <p:nvSpPr>
          <p:cNvPr id="11" name="TextBox 10"/>
          <p:cNvSpPr txBox="1"/>
          <p:nvPr/>
        </p:nvSpPr>
        <p:spPr>
          <a:xfrm>
            <a:off x="914400" y="3429000"/>
            <a:ext cx="4747107" cy="640080"/>
          </a:xfrm>
          <a:prstGeom prst="rect">
            <a:avLst/>
          </a:prstGeom>
          <a:noFill/>
        </p:spPr>
        <p:txBody>
          <a:bodyPr wrap="square" lIns="0" rIns="0" tIns="0" bIns="0" anchor="t">
            <a:spAutoFit/>
          </a:bodyPr>
          <a:lstStyle/>
          <a:p>
            <a:pPr algn="l">
              <a:lnSpc>
                <a:spcPct val="110000"/>
              </a:lnSpc>
            </a:pPr>
            <a:r>
              <a:rPr sz="3200" b="1" i="0">
                <a:solidFill>
                  <a:srgbClr val="FFFFFF"/>
                </a:solidFill>
                <a:latin typeface="Space Grotesk"/>
              </a:rPr>
              <a:t>1 467 événements</a:t>
            </a:r>
          </a:p>
        </p:txBody>
      </p:sp>
      <p:sp>
        <p:nvSpPr>
          <p:cNvPr id="12" name="TextBox 11"/>
          <p:cNvSpPr txBox="1"/>
          <p:nvPr/>
        </p:nvSpPr>
        <p:spPr>
          <a:xfrm>
            <a:off x="914400" y="4069080"/>
            <a:ext cx="4747107" cy="365760"/>
          </a:xfrm>
          <a:prstGeom prst="rect">
            <a:avLst/>
          </a:prstGeom>
          <a:noFill/>
        </p:spPr>
        <p:txBody>
          <a:bodyPr wrap="square" lIns="0" rIns="0" tIns="0" bIns="0" anchor="t">
            <a:spAutoFit/>
          </a:bodyPr>
          <a:lstStyle/>
          <a:p>
            <a:pPr algn="l">
              <a:lnSpc>
                <a:spcPct val="110000"/>
              </a:lnSpc>
            </a:pPr>
            <a:r>
              <a:rPr sz="1300" b="0" i="0">
                <a:solidFill>
                  <a:srgbClr val="C9D0DC"/>
                </a:solidFill>
                <a:latin typeface="Inter"/>
              </a:rPr>
              <a:t>ICEM · période 2019 – 2024 · 5 ans</a:t>
            </a:r>
          </a:p>
        </p:txBody>
      </p:sp>
      <p:sp>
        <p:nvSpPr>
          <p:cNvPr id="13" name="TextBox 12"/>
          <p:cNvSpPr txBox="1"/>
          <p:nvPr/>
        </p:nvSpPr>
        <p:spPr>
          <a:xfrm>
            <a:off x="914400" y="4480560"/>
            <a:ext cx="4747107" cy="548640"/>
          </a:xfrm>
          <a:prstGeom prst="rect">
            <a:avLst/>
          </a:prstGeom>
          <a:noFill/>
        </p:spPr>
        <p:txBody>
          <a:bodyPr wrap="square" lIns="0" rIns="0" tIns="0" bIns="0" anchor="t">
            <a:spAutoFit/>
          </a:bodyPr>
          <a:lstStyle/>
          <a:p>
            <a:pPr algn="l">
              <a:lnSpc>
                <a:spcPct val="110000"/>
              </a:lnSpc>
            </a:pPr>
            <a:r>
              <a:rPr sz="1100" b="0" i="0">
                <a:solidFill>
                  <a:srgbClr val="7D8496"/>
                </a:solidFill>
                <a:latin typeface="Inter"/>
              </a:rPr>
              <a:t>Champs : machine · zone · cause · durée · date · technicien</a:t>
            </a:r>
          </a:p>
        </p:txBody>
      </p:sp>
      <p:sp>
        <p:nvSpPr>
          <p:cNvPr id="14" name="Rounded Rectangle 13"/>
          <p:cNvSpPr/>
          <p:nvPr/>
        </p:nvSpPr>
        <p:spPr>
          <a:xfrm>
            <a:off x="6255867" y="2651760"/>
            <a:ext cx="5295747" cy="24688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0187" y="2926080"/>
            <a:ext cx="4747107" cy="365760"/>
          </a:xfrm>
          <a:prstGeom prst="rect">
            <a:avLst/>
          </a:prstGeom>
          <a:noFill/>
        </p:spPr>
        <p:txBody>
          <a:bodyPr wrap="square" lIns="0" rIns="0" tIns="0" bIns="0" anchor="t">
            <a:spAutoFit/>
          </a:bodyPr>
          <a:lstStyle/>
          <a:p>
            <a:pPr algn="l">
              <a:lnSpc>
                <a:spcPct val="110000"/>
              </a:lnSpc>
            </a:pPr>
            <a:r>
              <a:rPr sz="1000" b="1" i="0" spc="180">
                <a:solidFill>
                  <a:srgbClr val="4ECDC4"/>
                </a:solidFill>
                <a:latin typeface="JetBrains Mono"/>
              </a:rPr>
              <a:t>SOURCE 02 · SYNTHÉTIQUE IoT</a:t>
            </a:r>
          </a:p>
        </p:txBody>
      </p:sp>
      <p:sp>
        <p:nvSpPr>
          <p:cNvPr id="16" name="TextBox 15"/>
          <p:cNvSpPr txBox="1"/>
          <p:nvPr/>
        </p:nvSpPr>
        <p:spPr>
          <a:xfrm>
            <a:off x="6530187" y="3429000"/>
            <a:ext cx="4747107" cy="640080"/>
          </a:xfrm>
          <a:prstGeom prst="rect">
            <a:avLst/>
          </a:prstGeom>
          <a:noFill/>
        </p:spPr>
        <p:txBody>
          <a:bodyPr wrap="square" lIns="0" rIns="0" tIns="0" bIns="0" anchor="t">
            <a:spAutoFit/>
          </a:bodyPr>
          <a:lstStyle/>
          <a:p>
            <a:pPr algn="l">
              <a:lnSpc>
                <a:spcPct val="110000"/>
              </a:lnSpc>
            </a:pPr>
            <a:r>
              <a:rPr sz="3200" b="1" i="0">
                <a:solidFill>
                  <a:srgbClr val="FFFFFF"/>
                </a:solidFill>
                <a:latin typeface="Space Grotesk"/>
              </a:rPr>
              <a:t>64 800 lignes  ·  1 min</a:t>
            </a:r>
          </a:p>
        </p:txBody>
      </p:sp>
      <p:sp>
        <p:nvSpPr>
          <p:cNvPr id="17" name="TextBox 16"/>
          <p:cNvSpPr txBox="1"/>
          <p:nvPr/>
        </p:nvSpPr>
        <p:spPr>
          <a:xfrm>
            <a:off x="6530187" y="4069080"/>
            <a:ext cx="4747107" cy="365760"/>
          </a:xfrm>
          <a:prstGeom prst="rect">
            <a:avLst/>
          </a:prstGeom>
          <a:noFill/>
        </p:spPr>
        <p:txBody>
          <a:bodyPr wrap="square" lIns="0" rIns="0" tIns="0" bIns="0" anchor="t">
            <a:spAutoFit/>
          </a:bodyPr>
          <a:lstStyle/>
          <a:p>
            <a:pPr algn="l">
              <a:lnSpc>
                <a:spcPct val="110000"/>
              </a:lnSpc>
            </a:pPr>
            <a:r>
              <a:rPr sz="1300" b="0" i="0">
                <a:solidFill>
                  <a:srgbClr val="C9D0DC"/>
                </a:solidFill>
                <a:latin typeface="Inter"/>
              </a:rPr>
              <a:t>Physique + FMEA · 13 causes ancrées</a:t>
            </a:r>
          </a:p>
        </p:txBody>
      </p:sp>
      <p:sp>
        <p:nvSpPr>
          <p:cNvPr id="18" name="TextBox 17"/>
          <p:cNvSpPr txBox="1"/>
          <p:nvPr/>
        </p:nvSpPr>
        <p:spPr>
          <a:xfrm>
            <a:off x="6530187" y="4480560"/>
            <a:ext cx="4747107" cy="548640"/>
          </a:xfrm>
          <a:prstGeom prst="rect">
            <a:avLst/>
          </a:prstGeom>
          <a:noFill/>
        </p:spPr>
        <p:txBody>
          <a:bodyPr wrap="square" lIns="0" rIns="0" tIns="0" bIns="0" anchor="t">
            <a:spAutoFit/>
          </a:bodyPr>
          <a:lstStyle/>
          <a:p>
            <a:pPr algn="l">
              <a:lnSpc>
                <a:spcPct val="110000"/>
              </a:lnSpc>
            </a:pPr>
            <a:r>
              <a:rPr sz="1100" b="0" i="0">
                <a:solidFill>
                  <a:srgbClr val="7D8496"/>
                </a:solidFill>
                <a:latin typeface="Inter"/>
              </a:rPr>
              <a:t>Signaux : DHT22 · MPU-6050 · AMG8833 · SCT-013</a:t>
            </a:r>
          </a:p>
        </p:txBody>
      </p:sp>
      <p:sp>
        <p:nvSpPr>
          <p:cNvPr id="19" name="Rounded Rectangle 18"/>
          <p:cNvSpPr/>
          <p:nvPr/>
        </p:nvSpPr>
        <p:spPr>
          <a:xfrm>
            <a:off x="640080" y="5394960"/>
            <a:ext cx="10911535" cy="685800"/>
          </a:xfrm>
          <a:prstGeom prst="roundRect">
            <a:avLst>
              <a:gd name="adj" fmla="val 6000"/>
            </a:avLst>
          </a:prstGeom>
          <a:solidFill>
            <a:srgbClr val="101A45">
              <a:alpha val="2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394960"/>
            <a:ext cx="10911535" cy="685800"/>
          </a:xfrm>
          <a:prstGeom prst="rect">
            <a:avLst/>
          </a:prstGeom>
          <a:noFill/>
        </p:spPr>
        <p:txBody>
          <a:bodyPr wrap="square" lIns="0" rIns="0" tIns="0" bIns="0" anchor="ctr">
            <a:spAutoFit/>
          </a:bodyPr>
          <a:lstStyle/>
          <a:p>
            <a:pPr algn="ctr">
              <a:lnSpc>
                <a:spcPct val="110000"/>
              </a:lnSpc>
            </a:pPr>
            <a:r>
              <a:rPr sz="1200" b="0" i="0" spc="100">
                <a:solidFill>
                  <a:srgbClr val="FFB37A"/>
                </a:solidFill>
                <a:latin typeface="JetBrains Mono"/>
              </a:rPr>
              <a:t>Découpage stratifié   ·   80 % entraînement   ·   20 % test   ·   shuffle par cause (12 960 test)</a:t>
            </a:r>
          </a:p>
        </p:txBody>
      </p:sp>
      <p:sp>
        <p:nvSpPr>
          <p:cNvPr id="21" name="TextBox 20"/>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20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TAXONOMIE DES CAUSES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Treize causes.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Grille FMEA validée par le technicien d'atelier.</a:t>
            </a:r>
          </a:p>
        </p:txBody>
      </p:sp>
      <p:sp>
        <p:nvSpPr>
          <p:cNvPr id="9" name="Rounded Rectangle 8"/>
          <p:cNvSpPr/>
          <p:nvPr/>
        </p:nvSpPr>
        <p:spPr>
          <a:xfrm>
            <a:off x="640080"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C01</a:t>
            </a:r>
          </a:p>
        </p:txBody>
      </p:sp>
      <p:sp>
        <p:nvSpPr>
          <p:cNvPr id="11" name="TextBox 10"/>
          <p:cNvSpPr txBox="1"/>
          <p:nvPr/>
        </p:nvSpPr>
        <p:spPr>
          <a:xfrm>
            <a:off x="822960"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Cellule K obstruée</a:t>
            </a:r>
          </a:p>
        </p:txBody>
      </p:sp>
      <p:sp>
        <p:nvSpPr>
          <p:cNvPr id="12" name="Rounded Rectangle 11"/>
          <p:cNvSpPr/>
          <p:nvPr/>
        </p:nvSpPr>
        <p:spPr>
          <a:xfrm>
            <a:off x="3409111"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1991"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C02</a:t>
            </a:r>
          </a:p>
        </p:txBody>
      </p:sp>
      <p:sp>
        <p:nvSpPr>
          <p:cNvPr id="14" name="TextBox 13"/>
          <p:cNvSpPr txBox="1"/>
          <p:nvPr/>
        </p:nvSpPr>
        <p:spPr>
          <a:xfrm>
            <a:off x="3591991"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Lame émoussée</a:t>
            </a:r>
          </a:p>
        </p:txBody>
      </p:sp>
      <p:sp>
        <p:nvSpPr>
          <p:cNvPr id="15" name="Rounded Rectangle 14"/>
          <p:cNvSpPr/>
          <p:nvPr/>
        </p:nvSpPr>
        <p:spPr>
          <a:xfrm>
            <a:off x="6178143"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1023"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C03</a:t>
            </a:r>
          </a:p>
        </p:txBody>
      </p:sp>
      <p:sp>
        <p:nvSpPr>
          <p:cNvPr id="17" name="TextBox 16"/>
          <p:cNvSpPr txBox="1"/>
          <p:nvPr/>
        </p:nvSpPr>
        <p:spPr>
          <a:xfrm>
            <a:off x="6361023"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MINI / Terminale mal ajustée</a:t>
            </a:r>
          </a:p>
        </p:txBody>
      </p:sp>
      <p:sp>
        <p:nvSpPr>
          <p:cNvPr id="18" name="Rounded Rectangle 17"/>
          <p:cNvSpPr/>
          <p:nvPr/>
        </p:nvSpPr>
        <p:spPr>
          <a:xfrm>
            <a:off x="8947175"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0055"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C04</a:t>
            </a:r>
          </a:p>
        </p:txBody>
      </p:sp>
      <p:sp>
        <p:nvSpPr>
          <p:cNvPr id="20" name="TextBox 19"/>
          <p:cNvSpPr txBox="1"/>
          <p:nvPr/>
        </p:nvSpPr>
        <p:spPr>
          <a:xfrm>
            <a:off x="9130055"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Vérin pneumatique HS</a:t>
            </a:r>
          </a:p>
        </p:txBody>
      </p:sp>
      <p:sp>
        <p:nvSpPr>
          <p:cNvPr id="21" name="Rounded Rectangle 20"/>
          <p:cNvSpPr/>
          <p:nvPr/>
        </p:nvSpPr>
        <p:spPr>
          <a:xfrm>
            <a:off x="640080"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C05</a:t>
            </a:r>
          </a:p>
        </p:txBody>
      </p:sp>
      <p:sp>
        <p:nvSpPr>
          <p:cNvPr id="23" name="TextBox 22"/>
          <p:cNvSpPr txBox="1"/>
          <p:nvPr/>
        </p:nvSpPr>
        <p:spPr>
          <a:xfrm>
            <a:off x="822960"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Fuite pneumatique</a:t>
            </a:r>
          </a:p>
        </p:txBody>
      </p:sp>
      <p:sp>
        <p:nvSpPr>
          <p:cNvPr id="24" name="Rounded Rectangle 23"/>
          <p:cNvSpPr/>
          <p:nvPr/>
        </p:nvSpPr>
        <p:spPr>
          <a:xfrm>
            <a:off x="3409111"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1991"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C06</a:t>
            </a:r>
          </a:p>
        </p:txBody>
      </p:sp>
      <p:sp>
        <p:nvSpPr>
          <p:cNvPr id="26" name="TextBox 25"/>
          <p:cNvSpPr txBox="1"/>
          <p:nvPr/>
        </p:nvSpPr>
        <p:spPr>
          <a:xfrm>
            <a:off x="3591991"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Frein bobine déréglé</a:t>
            </a:r>
          </a:p>
        </p:txBody>
      </p:sp>
      <p:sp>
        <p:nvSpPr>
          <p:cNvPr id="27" name="Rounded Rectangle 26"/>
          <p:cNvSpPr/>
          <p:nvPr/>
        </p:nvSpPr>
        <p:spPr>
          <a:xfrm>
            <a:off x="6178143"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1023"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C07</a:t>
            </a:r>
          </a:p>
        </p:txBody>
      </p:sp>
      <p:sp>
        <p:nvSpPr>
          <p:cNvPr id="29" name="TextBox 28"/>
          <p:cNvSpPr txBox="1"/>
          <p:nvPr/>
        </p:nvSpPr>
        <p:spPr>
          <a:xfrm>
            <a:off x="6361023"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Détecteur fil HS</a:t>
            </a:r>
          </a:p>
        </p:txBody>
      </p:sp>
      <p:sp>
        <p:nvSpPr>
          <p:cNvPr id="30" name="Rounded Rectangle 29"/>
          <p:cNvSpPr/>
          <p:nvPr/>
        </p:nvSpPr>
        <p:spPr>
          <a:xfrm>
            <a:off x="8947175"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30055"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C08</a:t>
            </a:r>
          </a:p>
        </p:txBody>
      </p:sp>
      <p:sp>
        <p:nvSpPr>
          <p:cNvPr id="32" name="TextBox 31"/>
          <p:cNvSpPr txBox="1"/>
          <p:nvPr/>
        </p:nvSpPr>
        <p:spPr>
          <a:xfrm>
            <a:off x="9130055"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Encodeur dérive</a:t>
            </a:r>
          </a:p>
        </p:txBody>
      </p:sp>
      <p:sp>
        <p:nvSpPr>
          <p:cNvPr id="33" name="Rounded Rectangle 32"/>
          <p:cNvSpPr/>
          <p:nvPr/>
        </p:nvSpPr>
        <p:spPr>
          <a:xfrm>
            <a:off x="640080"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C09</a:t>
            </a:r>
          </a:p>
        </p:txBody>
      </p:sp>
      <p:sp>
        <p:nvSpPr>
          <p:cNvPr id="35" name="TextBox 34"/>
          <p:cNvSpPr txBox="1"/>
          <p:nvPr/>
        </p:nvSpPr>
        <p:spPr>
          <a:xfrm>
            <a:off x="822960"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Guide-fil usé</a:t>
            </a:r>
          </a:p>
        </p:txBody>
      </p:sp>
      <p:sp>
        <p:nvSpPr>
          <p:cNvPr id="36" name="Rounded Rectangle 35"/>
          <p:cNvSpPr/>
          <p:nvPr/>
        </p:nvSpPr>
        <p:spPr>
          <a:xfrm>
            <a:off x="3409111"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91991"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C10</a:t>
            </a:r>
          </a:p>
        </p:txBody>
      </p:sp>
      <p:sp>
        <p:nvSpPr>
          <p:cNvPr id="38" name="TextBox 37"/>
          <p:cNvSpPr txBox="1"/>
          <p:nvPr/>
        </p:nvSpPr>
        <p:spPr>
          <a:xfrm>
            <a:off x="3591991"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Câble / phase HS</a:t>
            </a:r>
          </a:p>
        </p:txBody>
      </p:sp>
      <p:sp>
        <p:nvSpPr>
          <p:cNvPr id="39" name="Rounded Rectangle 38"/>
          <p:cNvSpPr/>
          <p:nvPr/>
        </p:nvSpPr>
        <p:spPr>
          <a:xfrm>
            <a:off x="6178143"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1023"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C11</a:t>
            </a:r>
          </a:p>
        </p:txBody>
      </p:sp>
      <p:sp>
        <p:nvSpPr>
          <p:cNvPr id="41" name="TextBox 40"/>
          <p:cNvSpPr txBox="1"/>
          <p:nvPr/>
        </p:nvSpPr>
        <p:spPr>
          <a:xfrm>
            <a:off x="6361023"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Servomoteur surcharge</a:t>
            </a:r>
          </a:p>
        </p:txBody>
      </p:sp>
      <p:sp>
        <p:nvSpPr>
          <p:cNvPr id="42" name="Rounded Rectangle 41"/>
          <p:cNvSpPr/>
          <p:nvPr/>
        </p:nvSpPr>
        <p:spPr>
          <a:xfrm>
            <a:off x="8947175"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30055"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C12</a:t>
            </a:r>
          </a:p>
        </p:txBody>
      </p:sp>
      <p:sp>
        <p:nvSpPr>
          <p:cNvPr id="44" name="TextBox 43"/>
          <p:cNvSpPr txBox="1"/>
          <p:nvPr/>
        </p:nvSpPr>
        <p:spPr>
          <a:xfrm>
            <a:off x="9130055"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Roue Gommino usée</a:t>
            </a:r>
          </a:p>
        </p:txBody>
      </p:sp>
      <p:sp>
        <p:nvSpPr>
          <p:cNvPr id="45" name="Rounded Rectangle 44"/>
          <p:cNvSpPr/>
          <p:nvPr/>
        </p:nvSpPr>
        <p:spPr>
          <a:xfrm>
            <a:off x="640080" y="5244084"/>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5381244"/>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C13</a:t>
            </a:r>
          </a:p>
        </p:txBody>
      </p:sp>
      <p:sp>
        <p:nvSpPr>
          <p:cNvPr id="47" name="TextBox 46"/>
          <p:cNvSpPr txBox="1"/>
          <p:nvPr/>
        </p:nvSpPr>
        <p:spPr>
          <a:xfrm>
            <a:off x="822960" y="5701284"/>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Autre / hors catalogue</a:t>
            </a:r>
          </a:p>
        </p:txBody>
      </p:sp>
      <p:sp>
        <p:nvSpPr>
          <p:cNvPr id="48" name="TextBox 47"/>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10 causes → signature capteur claire    ·    3 causes → signal manuel uniquement</a:t>
            </a:r>
          </a:p>
        </p:txBody>
      </p:sp>
      <p:sp>
        <p:nvSpPr>
          <p:cNvPr id="49" name="TextBox 4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21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RÉSULTATS DES MODÈLES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F1 par modèle.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XGBoost gagne · l'écart n'est pas anodin.</a:t>
            </a:r>
          </a:p>
        </p:txBody>
      </p:sp>
      <p:sp>
        <p:nvSpPr>
          <p:cNvPr id="9" name="Rounded Rectangle 8"/>
          <p:cNvSpPr/>
          <p:nvPr/>
        </p:nvSpPr>
        <p:spPr>
          <a:xfrm>
            <a:off x="640080"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4710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F1 SCORE (MACRO)</a:t>
            </a:r>
          </a:p>
        </p:txBody>
      </p:sp>
      <p:sp>
        <p:nvSpPr>
          <p:cNvPr id="11" name="TextBox 10"/>
          <p:cNvSpPr txBox="1"/>
          <p:nvPr/>
        </p:nvSpPr>
        <p:spPr>
          <a:xfrm>
            <a:off x="914400" y="3566160"/>
            <a:ext cx="1463040" cy="502920"/>
          </a:xfrm>
          <a:prstGeom prst="rect">
            <a:avLst/>
          </a:prstGeom>
          <a:noFill/>
        </p:spPr>
        <p:txBody>
          <a:bodyPr wrap="square" lIns="0" rIns="0" tIns="0" bIns="0" anchor="ctr">
            <a:spAutoFit/>
          </a:bodyPr>
          <a:lstStyle/>
          <a:p>
            <a:pPr algn="l">
              <a:lnSpc>
                <a:spcPct val="110000"/>
              </a:lnSpc>
            </a:pPr>
            <a:r>
              <a:rPr sz="1300" b="0" i="0">
                <a:solidFill>
                  <a:srgbClr val="FFFFFF"/>
                </a:solidFill>
                <a:latin typeface="Inter"/>
              </a:rPr>
              <a:t>RF v1</a:t>
            </a:r>
          </a:p>
        </p:txBody>
      </p:sp>
      <p:sp>
        <p:nvSpPr>
          <p:cNvPr id="12" name="Rounded Rectangle 11"/>
          <p:cNvSpPr/>
          <p:nvPr/>
        </p:nvSpPr>
        <p:spPr>
          <a:xfrm>
            <a:off x="1371600" y="3566160"/>
            <a:ext cx="4289907" cy="502920"/>
          </a:xfrm>
          <a:prstGeom prst="roundRect">
            <a:avLst>
              <a:gd name="adj" fmla="val 40000"/>
            </a:avLst>
          </a:prstGeom>
          <a:solidFill>
            <a:srgbClr val="10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3566160"/>
            <a:ext cx="643486" cy="502920"/>
          </a:xfrm>
          <a:prstGeom prst="roundRect">
            <a:avLst>
              <a:gd name="adj" fmla="val 40000"/>
            </a:avLst>
          </a:prstGeom>
          <a:solidFill>
            <a:srgbClr val="7D8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6526" y="3566160"/>
            <a:ext cx="1097280" cy="502920"/>
          </a:xfrm>
          <a:prstGeom prst="rect">
            <a:avLst/>
          </a:prstGeom>
          <a:noFill/>
        </p:spPr>
        <p:txBody>
          <a:bodyPr wrap="square" lIns="0" rIns="0" tIns="0" bIns="0" anchor="ctr">
            <a:spAutoFit/>
          </a:bodyPr>
          <a:lstStyle/>
          <a:p>
            <a:pPr algn="l">
              <a:lnSpc>
                <a:spcPct val="110000"/>
              </a:lnSpc>
            </a:pPr>
            <a:r>
              <a:rPr sz="1300" b="1" i="0">
                <a:solidFill>
                  <a:srgbClr val="7D8496"/>
                </a:solidFill>
                <a:latin typeface="JetBrains Mono"/>
              </a:rPr>
              <a:t>0.150</a:t>
            </a:r>
          </a:p>
        </p:txBody>
      </p:sp>
      <p:sp>
        <p:nvSpPr>
          <p:cNvPr id="15" name="TextBox 14"/>
          <p:cNvSpPr txBox="1"/>
          <p:nvPr/>
        </p:nvSpPr>
        <p:spPr>
          <a:xfrm>
            <a:off x="914400" y="4434840"/>
            <a:ext cx="1463040" cy="502920"/>
          </a:xfrm>
          <a:prstGeom prst="rect">
            <a:avLst/>
          </a:prstGeom>
          <a:noFill/>
        </p:spPr>
        <p:txBody>
          <a:bodyPr wrap="square" lIns="0" rIns="0" tIns="0" bIns="0" anchor="ctr">
            <a:spAutoFit/>
          </a:bodyPr>
          <a:lstStyle/>
          <a:p>
            <a:pPr algn="l">
              <a:lnSpc>
                <a:spcPct val="110000"/>
              </a:lnSpc>
            </a:pPr>
            <a:r>
              <a:rPr sz="1300" b="0" i="0">
                <a:solidFill>
                  <a:srgbClr val="FFFFFF"/>
                </a:solidFill>
                <a:latin typeface="Inter"/>
              </a:rPr>
              <a:t>RF v2</a:t>
            </a:r>
          </a:p>
        </p:txBody>
      </p:sp>
      <p:sp>
        <p:nvSpPr>
          <p:cNvPr id="16" name="Rounded Rectangle 15"/>
          <p:cNvSpPr/>
          <p:nvPr/>
        </p:nvSpPr>
        <p:spPr>
          <a:xfrm>
            <a:off x="1371600" y="4434840"/>
            <a:ext cx="4289907" cy="502920"/>
          </a:xfrm>
          <a:prstGeom prst="roundRect">
            <a:avLst>
              <a:gd name="adj" fmla="val 40000"/>
            </a:avLst>
          </a:prstGeom>
          <a:solidFill>
            <a:srgbClr val="10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371600" y="4434840"/>
            <a:ext cx="1930458" cy="502920"/>
          </a:xfrm>
          <a:prstGeom prst="roundRect">
            <a:avLst>
              <a:gd name="adj" fmla="val 40000"/>
            </a:avLst>
          </a:prstGeom>
          <a:solidFill>
            <a:srgbClr val="687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93498" y="4434840"/>
            <a:ext cx="1097280" cy="502920"/>
          </a:xfrm>
          <a:prstGeom prst="rect">
            <a:avLst/>
          </a:prstGeom>
          <a:noFill/>
        </p:spPr>
        <p:txBody>
          <a:bodyPr wrap="square" lIns="0" rIns="0" tIns="0" bIns="0" anchor="ctr">
            <a:spAutoFit/>
          </a:bodyPr>
          <a:lstStyle/>
          <a:p>
            <a:pPr algn="l">
              <a:lnSpc>
                <a:spcPct val="110000"/>
              </a:lnSpc>
            </a:pPr>
            <a:r>
              <a:rPr sz="1300" b="1" i="0">
                <a:solidFill>
                  <a:srgbClr val="6879C9"/>
                </a:solidFill>
                <a:latin typeface="JetBrains Mono"/>
              </a:rPr>
              <a:t>0.450</a:t>
            </a:r>
          </a:p>
        </p:txBody>
      </p:sp>
      <p:sp>
        <p:nvSpPr>
          <p:cNvPr id="19" name="TextBox 18"/>
          <p:cNvSpPr txBox="1"/>
          <p:nvPr/>
        </p:nvSpPr>
        <p:spPr>
          <a:xfrm>
            <a:off x="914400" y="5303520"/>
            <a:ext cx="1463040" cy="502920"/>
          </a:xfrm>
          <a:prstGeom prst="rect">
            <a:avLst/>
          </a:prstGeom>
          <a:noFill/>
        </p:spPr>
        <p:txBody>
          <a:bodyPr wrap="square" lIns="0" rIns="0" tIns="0" bIns="0" anchor="ctr">
            <a:spAutoFit/>
          </a:bodyPr>
          <a:lstStyle/>
          <a:p>
            <a:pPr algn="l">
              <a:lnSpc>
                <a:spcPct val="110000"/>
              </a:lnSpc>
            </a:pPr>
            <a:r>
              <a:rPr sz="1300" b="0" i="0">
                <a:solidFill>
                  <a:srgbClr val="FFFFFF"/>
                </a:solidFill>
                <a:latin typeface="Inter"/>
              </a:rPr>
              <a:t>XGBoost v3</a:t>
            </a:r>
          </a:p>
        </p:txBody>
      </p:sp>
      <p:sp>
        <p:nvSpPr>
          <p:cNvPr id="20" name="Rounded Rectangle 19"/>
          <p:cNvSpPr/>
          <p:nvPr/>
        </p:nvSpPr>
        <p:spPr>
          <a:xfrm>
            <a:off x="1371600" y="5303520"/>
            <a:ext cx="4289907" cy="502920"/>
          </a:xfrm>
          <a:prstGeom prst="roundRect">
            <a:avLst>
              <a:gd name="adj" fmla="val 40000"/>
            </a:avLst>
          </a:prstGeom>
          <a:solidFill>
            <a:srgbClr val="10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371600" y="5303520"/>
            <a:ext cx="3560623" cy="502920"/>
          </a:xfrm>
          <a:prstGeom prst="roundRect">
            <a:avLst>
              <a:gd name="adj" fmla="val 40000"/>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3663" y="5303520"/>
            <a:ext cx="1097280" cy="502920"/>
          </a:xfrm>
          <a:prstGeom prst="rect">
            <a:avLst/>
          </a:prstGeom>
          <a:noFill/>
        </p:spPr>
        <p:txBody>
          <a:bodyPr wrap="square" lIns="0" rIns="0" tIns="0" bIns="0" anchor="ctr">
            <a:spAutoFit/>
          </a:bodyPr>
          <a:lstStyle/>
          <a:p>
            <a:pPr algn="l">
              <a:lnSpc>
                <a:spcPct val="110000"/>
              </a:lnSpc>
            </a:pPr>
            <a:r>
              <a:rPr sz="1300" b="1" i="0">
                <a:solidFill>
                  <a:srgbClr val="FF7A1A"/>
                </a:solidFill>
                <a:latin typeface="JetBrains Mono"/>
              </a:rPr>
              <a:t>0.830</a:t>
            </a:r>
          </a:p>
        </p:txBody>
      </p:sp>
      <p:sp>
        <p:nvSpPr>
          <p:cNvPr id="23" name="Rounded Rectangle 22"/>
          <p:cNvSpPr/>
          <p:nvPr/>
        </p:nvSpPr>
        <p:spPr>
          <a:xfrm>
            <a:off x="6255867" y="2651760"/>
            <a:ext cx="529574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0187" y="2926080"/>
            <a:ext cx="4747107" cy="365760"/>
          </a:xfrm>
          <a:prstGeom prst="rect">
            <a:avLst/>
          </a:prstGeom>
          <a:noFill/>
        </p:spPr>
        <p:txBody>
          <a:bodyPr wrap="square" lIns="0" rIns="0" tIns="0" bIns="0" anchor="t">
            <a:spAutoFit/>
          </a:bodyPr>
          <a:lstStyle/>
          <a:p>
            <a:pPr algn="l">
              <a:lnSpc>
                <a:spcPct val="110000"/>
              </a:lnSpc>
            </a:pPr>
            <a:r>
              <a:rPr sz="1000" b="1" i="0" spc="200">
                <a:solidFill>
                  <a:srgbClr val="4ECDC4"/>
                </a:solidFill>
                <a:latin typeface="JetBrains Mono"/>
              </a:rPr>
              <a:t>POURQUOI XGBOOST</a:t>
            </a:r>
          </a:p>
        </p:txBody>
      </p:sp>
      <p:sp>
        <p:nvSpPr>
          <p:cNvPr id="25" name="TextBox 24"/>
          <p:cNvSpPr txBox="1"/>
          <p:nvPr/>
        </p:nvSpPr>
        <p:spPr>
          <a:xfrm>
            <a:off x="6530187" y="3474720"/>
            <a:ext cx="4747107"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pace Grotesk"/>
              </a:rPr>
              <a:t>▸  Gradient boosting</a:t>
            </a:r>
          </a:p>
        </p:txBody>
      </p:sp>
      <p:sp>
        <p:nvSpPr>
          <p:cNvPr id="26" name="TextBox 25"/>
          <p:cNvSpPr txBox="1"/>
          <p:nvPr/>
        </p:nvSpPr>
        <p:spPr>
          <a:xfrm>
            <a:off x="6804507" y="3840480"/>
            <a:ext cx="4472787" cy="777240"/>
          </a:xfrm>
          <a:prstGeom prst="rect">
            <a:avLst/>
          </a:prstGeom>
          <a:noFill/>
        </p:spPr>
        <p:txBody>
          <a:bodyPr wrap="square" lIns="0" rIns="0" tIns="0" bIns="0" anchor="t">
            <a:spAutoFit/>
          </a:bodyPr>
          <a:lstStyle/>
          <a:p>
            <a:pPr algn="l">
              <a:lnSpc>
                <a:spcPct val="135000"/>
              </a:lnSpc>
            </a:pPr>
            <a:r>
              <a:rPr sz="1200" b="0" i="0">
                <a:solidFill>
                  <a:srgbClr val="C9D0DC"/>
                </a:solidFill>
                <a:latin typeface="Inter"/>
              </a:rPr>
              <a:t>apprend les erreurs séquentiellement, contrairement à un vote de random forest.</a:t>
            </a:r>
          </a:p>
        </p:txBody>
      </p:sp>
      <p:sp>
        <p:nvSpPr>
          <p:cNvPr id="27" name="TextBox 26"/>
          <p:cNvSpPr txBox="1"/>
          <p:nvPr/>
        </p:nvSpPr>
        <p:spPr>
          <a:xfrm>
            <a:off x="6530187" y="4709160"/>
            <a:ext cx="4747107"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pace Grotesk"/>
              </a:rPr>
              <a:t>▸  Robuste au déséquilibre</a:t>
            </a:r>
          </a:p>
        </p:txBody>
      </p:sp>
      <p:sp>
        <p:nvSpPr>
          <p:cNvPr id="28" name="TextBox 27"/>
          <p:cNvSpPr txBox="1"/>
          <p:nvPr/>
        </p:nvSpPr>
        <p:spPr>
          <a:xfrm>
            <a:off x="6804507" y="5074920"/>
            <a:ext cx="4472787" cy="777240"/>
          </a:xfrm>
          <a:prstGeom prst="rect">
            <a:avLst/>
          </a:prstGeom>
          <a:noFill/>
        </p:spPr>
        <p:txBody>
          <a:bodyPr wrap="square" lIns="0" rIns="0" tIns="0" bIns="0" anchor="t">
            <a:spAutoFit/>
          </a:bodyPr>
          <a:lstStyle/>
          <a:p>
            <a:pPr algn="l">
              <a:lnSpc>
                <a:spcPct val="135000"/>
              </a:lnSpc>
            </a:pPr>
            <a:r>
              <a:rPr sz="1200" b="0" i="0">
                <a:solidFill>
                  <a:srgbClr val="C9D0DC"/>
                </a:solidFill>
                <a:latin typeface="Inter"/>
              </a:rPr>
              <a:t>F1 macro &gt; accuracy quand certaines causes sont rares.</a:t>
            </a:r>
          </a:p>
        </p:txBody>
      </p:sp>
      <p:sp>
        <p:nvSpPr>
          <p:cNvPr id="29" name="TextBox 28"/>
          <p:cNvSpPr txBox="1"/>
          <p:nvPr/>
        </p:nvSpPr>
        <p:spPr>
          <a:xfrm>
            <a:off x="6530187" y="5943600"/>
            <a:ext cx="4747107"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pace Grotesk"/>
              </a:rPr>
              <a:t>▸  Rapide en inférence</a:t>
            </a:r>
          </a:p>
        </p:txBody>
      </p:sp>
      <p:sp>
        <p:nvSpPr>
          <p:cNvPr id="30" name="TextBox 29"/>
          <p:cNvSpPr txBox="1"/>
          <p:nvPr/>
        </p:nvSpPr>
        <p:spPr>
          <a:xfrm>
            <a:off x="6804507" y="6309360"/>
            <a:ext cx="4472787" cy="777240"/>
          </a:xfrm>
          <a:prstGeom prst="rect">
            <a:avLst/>
          </a:prstGeom>
          <a:noFill/>
        </p:spPr>
        <p:txBody>
          <a:bodyPr wrap="square" lIns="0" rIns="0" tIns="0" bIns="0" anchor="t">
            <a:spAutoFit/>
          </a:bodyPr>
          <a:lstStyle/>
          <a:p>
            <a:pPr algn="l">
              <a:lnSpc>
                <a:spcPct val="135000"/>
              </a:lnSpc>
            </a:pPr>
            <a:r>
              <a:rPr sz="1200" b="0" i="0">
                <a:solidFill>
                  <a:srgbClr val="C9D0DC"/>
                </a:solidFill>
                <a:latin typeface="Inter"/>
              </a:rPr>
              <a:t>~15 ms par prédiction — compatible temps réel.</a:t>
            </a:r>
          </a:p>
        </p:txBody>
      </p:sp>
      <p:sp>
        <p:nvSpPr>
          <p:cNvPr id="31" name="TextBox 30"/>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22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ÉVALUATION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Confusion &amp; courbe ROC.</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 modèle qui sépare bien les classes majoritaires.</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69967" cy="36576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MATRICE DE CONFUSION · RF v2</a:t>
            </a:r>
          </a:p>
        </p:txBody>
      </p:sp>
      <p:sp>
        <p:nvSpPr>
          <p:cNvPr id="11" name="Rectangle 10"/>
          <p:cNvSpPr/>
          <p:nvPr/>
        </p:nvSpPr>
        <p:spPr>
          <a:xfrm>
            <a:off x="1371600" y="35661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35661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35661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 y="35661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35661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0" y="40233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0" y="40233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40233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0" y="40233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0" y="40233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71600" y="44805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0" y="44805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86000" y="44805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44805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0" y="44805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371600" y="49377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0" y="49377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286000" y="49377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0" y="49377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0" y="49377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53949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28800" y="53949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286000" y="53949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0" y="53949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0" y="53949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715000"/>
            <a:ext cx="4769967" cy="365760"/>
          </a:xfrm>
          <a:prstGeom prst="rect">
            <a:avLst/>
          </a:prstGeom>
          <a:noFill/>
        </p:spPr>
        <p:txBody>
          <a:bodyPr wrap="square" lIns="0" rIns="0" tIns="0" bIns="0" anchor="t">
            <a:spAutoFit/>
          </a:bodyPr>
          <a:lstStyle/>
          <a:p>
            <a:pPr algn="ctr">
              <a:lnSpc>
                <a:spcPct val="110000"/>
              </a:lnSpc>
            </a:pPr>
            <a:r>
              <a:rPr sz="1100" b="0" i="1">
                <a:solidFill>
                  <a:srgbClr val="7D8496"/>
                </a:solidFill>
                <a:latin typeface="Inter"/>
              </a:rPr>
              <a:t>Diagonale = prédictions correctes</a:t>
            </a:r>
          </a:p>
        </p:txBody>
      </p:sp>
      <p:sp>
        <p:nvSpPr>
          <p:cNvPr id="37" name="Rounded Rectangle 36"/>
          <p:cNvSpPr/>
          <p:nvPr/>
        </p:nvSpPr>
        <p:spPr>
          <a:xfrm>
            <a:off x="6233007" y="2651760"/>
            <a:ext cx="531860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7327" y="2926080"/>
            <a:ext cx="4769967" cy="365760"/>
          </a:xfrm>
          <a:prstGeom prst="rect">
            <a:avLst/>
          </a:prstGeom>
          <a:noFill/>
        </p:spPr>
        <p:txBody>
          <a:bodyPr wrap="square" lIns="0" rIns="0" tIns="0" bIns="0" anchor="t">
            <a:spAutoFit/>
          </a:bodyPr>
          <a:lstStyle/>
          <a:p>
            <a:pPr algn="l">
              <a:lnSpc>
                <a:spcPct val="110000"/>
              </a:lnSpc>
            </a:pPr>
            <a:r>
              <a:rPr sz="1000" b="1" i="0" spc="180">
                <a:solidFill>
                  <a:srgbClr val="4ECDC4"/>
                </a:solidFill>
                <a:latin typeface="JetBrains Mono"/>
              </a:rPr>
              <a:t>COURBE ROC · XGBoost v3</a:t>
            </a:r>
          </a:p>
        </p:txBody>
      </p:sp>
      <p:sp>
        <p:nvSpPr>
          <p:cNvPr id="39" name="Rounded Rectangle 38"/>
          <p:cNvSpPr/>
          <p:nvPr/>
        </p:nvSpPr>
        <p:spPr>
          <a:xfrm>
            <a:off x="6507327" y="3566160"/>
            <a:ext cx="1468069" cy="1280160"/>
          </a:xfrm>
          <a:prstGeom prst="roundRect">
            <a:avLst>
              <a:gd name="adj" fmla="val 6000"/>
            </a:avLst>
          </a:prstGeom>
          <a:solidFill>
            <a:srgbClr val="101A45">
              <a:alpha val="20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07327" y="3749040"/>
            <a:ext cx="1468069" cy="640080"/>
          </a:xfrm>
          <a:prstGeom prst="rect">
            <a:avLst/>
          </a:prstGeom>
          <a:noFill/>
        </p:spPr>
        <p:txBody>
          <a:bodyPr wrap="square" lIns="0" rIns="0" tIns="0" bIns="0" anchor="t">
            <a:spAutoFit/>
          </a:bodyPr>
          <a:lstStyle/>
          <a:p>
            <a:pPr algn="ctr">
              <a:lnSpc>
                <a:spcPct val="110000"/>
              </a:lnSpc>
            </a:pPr>
            <a:r>
              <a:rPr sz="3200" b="1" i="0">
                <a:solidFill>
                  <a:srgbClr val="4ECDC4"/>
                </a:solidFill>
                <a:latin typeface="Space Grotesk"/>
              </a:rPr>
              <a:t>0.86</a:t>
            </a:r>
          </a:p>
        </p:txBody>
      </p:sp>
      <p:sp>
        <p:nvSpPr>
          <p:cNvPr id="41" name="TextBox 40"/>
          <p:cNvSpPr txBox="1"/>
          <p:nvPr/>
        </p:nvSpPr>
        <p:spPr>
          <a:xfrm>
            <a:off x="6507327" y="4389120"/>
            <a:ext cx="1468069" cy="32004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Précision</a:t>
            </a:r>
          </a:p>
        </p:txBody>
      </p:sp>
      <p:sp>
        <p:nvSpPr>
          <p:cNvPr id="42" name="Rounded Rectangle 41"/>
          <p:cNvSpPr/>
          <p:nvPr/>
        </p:nvSpPr>
        <p:spPr>
          <a:xfrm>
            <a:off x="8158276" y="3566160"/>
            <a:ext cx="1468069" cy="1280160"/>
          </a:xfrm>
          <a:prstGeom prst="roundRect">
            <a:avLst>
              <a:gd name="adj" fmla="val 6000"/>
            </a:avLst>
          </a:prstGeom>
          <a:solidFill>
            <a:srgbClr val="101A45">
              <a:alpha val="20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58276" y="3749040"/>
            <a:ext cx="1468069" cy="640080"/>
          </a:xfrm>
          <a:prstGeom prst="rect">
            <a:avLst/>
          </a:prstGeom>
          <a:noFill/>
        </p:spPr>
        <p:txBody>
          <a:bodyPr wrap="square" lIns="0" rIns="0" tIns="0" bIns="0" anchor="t">
            <a:spAutoFit/>
          </a:bodyPr>
          <a:lstStyle/>
          <a:p>
            <a:pPr algn="ctr">
              <a:lnSpc>
                <a:spcPct val="110000"/>
              </a:lnSpc>
            </a:pPr>
            <a:r>
              <a:rPr sz="3200" b="1" i="0">
                <a:solidFill>
                  <a:srgbClr val="4ECDC4"/>
                </a:solidFill>
                <a:latin typeface="Space Grotesk"/>
              </a:rPr>
              <a:t>0.81</a:t>
            </a:r>
          </a:p>
        </p:txBody>
      </p:sp>
      <p:sp>
        <p:nvSpPr>
          <p:cNvPr id="44" name="TextBox 43"/>
          <p:cNvSpPr txBox="1"/>
          <p:nvPr/>
        </p:nvSpPr>
        <p:spPr>
          <a:xfrm>
            <a:off x="8158276" y="4389120"/>
            <a:ext cx="1468069" cy="32004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Rappel</a:t>
            </a:r>
          </a:p>
        </p:txBody>
      </p:sp>
      <p:sp>
        <p:nvSpPr>
          <p:cNvPr id="45" name="Rounded Rectangle 44"/>
          <p:cNvSpPr/>
          <p:nvPr/>
        </p:nvSpPr>
        <p:spPr>
          <a:xfrm>
            <a:off x="9809225" y="3566160"/>
            <a:ext cx="1468069" cy="1280160"/>
          </a:xfrm>
          <a:prstGeom prst="roundRect">
            <a:avLst>
              <a:gd name="adj" fmla="val 6000"/>
            </a:avLst>
          </a:prstGeom>
          <a:solidFill>
            <a:srgbClr val="101A45">
              <a:alpha val="20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09225" y="3749040"/>
            <a:ext cx="1468069" cy="640080"/>
          </a:xfrm>
          <a:prstGeom prst="rect">
            <a:avLst/>
          </a:prstGeom>
          <a:noFill/>
        </p:spPr>
        <p:txBody>
          <a:bodyPr wrap="square" lIns="0" rIns="0" tIns="0" bIns="0" anchor="t">
            <a:spAutoFit/>
          </a:bodyPr>
          <a:lstStyle/>
          <a:p>
            <a:pPr algn="ctr">
              <a:lnSpc>
                <a:spcPct val="110000"/>
              </a:lnSpc>
            </a:pPr>
            <a:r>
              <a:rPr sz="3200" b="1" i="0">
                <a:solidFill>
                  <a:srgbClr val="4ECDC4"/>
                </a:solidFill>
                <a:latin typeface="Space Grotesk"/>
              </a:rPr>
              <a:t>0.91</a:t>
            </a:r>
          </a:p>
        </p:txBody>
      </p:sp>
      <p:sp>
        <p:nvSpPr>
          <p:cNvPr id="47" name="TextBox 46"/>
          <p:cNvSpPr txBox="1"/>
          <p:nvPr/>
        </p:nvSpPr>
        <p:spPr>
          <a:xfrm>
            <a:off x="9809225" y="4389120"/>
            <a:ext cx="1468069" cy="32004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AUC (moyen)</a:t>
            </a:r>
          </a:p>
        </p:txBody>
      </p:sp>
      <p:sp>
        <p:nvSpPr>
          <p:cNvPr id="48" name="TextBox 47"/>
          <p:cNvSpPr txBox="1"/>
          <p:nvPr/>
        </p:nvSpPr>
        <p:spPr>
          <a:xfrm>
            <a:off x="6507327" y="5120640"/>
            <a:ext cx="4769967" cy="914400"/>
          </a:xfrm>
          <a:prstGeom prst="rect">
            <a:avLst/>
          </a:prstGeom>
          <a:noFill/>
        </p:spPr>
        <p:txBody>
          <a:bodyPr wrap="square" lIns="0" rIns="0" tIns="0" bIns="0" anchor="t">
            <a:spAutoFit/>
          </a:bodyPr>
          <a:lstStyle/>
          <a:p>
            <a:pPr algn="l">
              <a:lnSpc>
                <a:spcPct val="140000"/>
              </a:lnSpc>
            </a:pPr>
            <a:r>
              <a:rPr sz="1300" b="0" i="0">
                <a:solidFill>
                  <a:srgbClr val="F4F6FB"/>
                </a:solidFill>
                <a:latin typeface="Inter"/>
              </a:rPr>
              <a:t>Seuil de décision fixé à 0.80 : au-dessus, création automatique d'une maintenance prédictive côté backend.</a:t>
            </a:r>
          </a:p>
        </p:txBody>
      </p:sp>
      <p:sp>
        <p:nvSpPr>
          <p:cNvPr id="49" name="TextBox 4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23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WEB — RESPONSABLE MAINTENANCE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Fonctionnalités web.</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Application React.js pour la supervision.</a:t>
            </a:r>
          </a:p>
        </p:txBody>
      </p:sp>
      <p:sp>
        <p:nvSpPr>
          <p:cNvPr id="9" name="Rounded Rectangle 8"/>
          <p:cNvSpPr/>
          <p:nvPr/>
        </p:nvSpPr>
        <p:spPr>
          <a:xfrm>
            <a:off x="640080" y="265176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01</a:t>
            </a:r>
          </a:p>
        </p:txBody>
      </p:sp>
      <p:sp>
        <p:nvSpPr>
          <p:cNvPr id="11" name="TextBox 10"/>
          <p:cNvSpPr txBox="1"/>
          <p:nvPr/>
        </p:nvSpPr>
        <p:spPr>
          <a:xfrm>
            <a:off x="1463040" y="274320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Authentification JWT</a:t>
            </a:r>
          </a:p>
        </p:txBody>
      </p:sp>
      <p:sp>
        <p:nvSpPr>
          <p:cNvPr id="12" name="TextBox 11"/>
          <p:cNvSpPr txBox="1"/>
          <p:nvPr/>
        </p:nvSpPr>
        <p:spPr>
          <a:xfrm>
            <a:off x="1463040" y="315468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Rôles Responsable · Chef de ligne · Technicien</a:t>
            </a:r>
          </a:p>
        </p:txBody>
      </p:sp>
      <p:sp>
        <p:nvSpPr>
          <p:cNvPr id="13" name="Rounded Rectangle 12"/>
          <p:cNvSpPr/>
          <p:nvPr/>
        </p:nvSpPr>
        <p:spPr>
          <a:xfrm>
            <a:off x="6187287" y="265176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78892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02</a:t>
            </a:r>
          </a:p>
        </p:txBody>
      </p:sp>
      <p:sp>
        <p:nvSpPr>
          <p:cNvPr id="15" name="TextBox 14"/>
          <p:cNvSpPr txBox="1"/>
          <p:nvPr/>
        </p:nvSpPr>
        <p:spPr>
          <a:xfrm>
            <a:off x="7010247" y="274320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Tableau de bord</a:t>
            </a:r>
          </a:p>
        </p:txBody>
      </p:sp>
      <p:sp>
        <p:nvSpPr>
          <p:cNvPr id="16" name="TextBox 15"/>
          <p:cNvSpPr txBox="1"/>
          <p:nvPr/>
        </p:nvSpPr>
        <p:spPr>
          <a:xfrm>
            <a:off x="7010247" y="315468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KPI MTBF · MTTR · disponibilité machine</a:t>
            </a:r>
          </a:p>
        </p:txBody>
      </p:sp>
      <p:sp>
        <p:nvSpPr>
          <p:cNvPr id="17" name="Rounded Rectangle 16"/>
          <p:cNvSpPr/>
          <p:nvPr/>
        </p:nvSpPr>
        <p:spPr>
          <a:xfrm>
            <a:off x="640080" y="390144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3860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03</a:t>
            </a:r>
          </a:p>
        </p:txBody>
      </p:sp>
      <p:sp>
        <p:nvSpPr>
          <p:cNvPr id="19" name="TextBox 18"/>
          <p:cNvSpPr txBox="1"/>
          <p:nvPr/>
        </p:nvSpPr>
        <p:spPr>
          <a:xfrm>
            <a:off x="1463040" y="399288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Gestion des machines</a:t>
            </a:r>
          </a:p>
        </p:txBody>
      </p:sp>
      <p:sp>
        <p:nvSpPr>
          <p:cNvPr id="20" name="TextBox 19"/>
          <p:cNvSpPr txBox="1"/>
          <p:nvPr/>
        </p:nvSpPr>
        <p:spPr>
          <a:xfrm>
            <a:off x="1463040" y="440436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Fiche technique · historique · état courant</a:t>
            </a:r>
          </a:p>
        </p:txBody>
      </p:sp>
      <p:sp>
        <p:nvSpPr>
          <p:cNvPr id="21" name="Rounded Rectangle 20"/>
          <p:cNvSpPr/>
          <p:nvPr/>
        </p:nvSpPr>
        <p:spPr>
          <a:xfrm>
            <a:off x="6187287" y="390144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1607" y="403860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04</a:t>
            </a:r>
          </a:p>
        </p:txBody>
      </p:sp>
      <p:sp>
        <p:nvSpPr>
          <p:cNvPr id="23" name="TextBox 22"/>
          <p:cNvSpPr txBox="1"/>
          <p:nvPr/>
        </p:nvSpPr>
        <p:spPr>
          <a:xfrm>
            <a:off x="7010247" y="399288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Interventions</a:t>
            </a:r>
          </a:p>
        </p:txBody>
      </p:sp>
      <p:sp>
        <p:nvSpPr>
          <p:cNvPr id="24" name="TextBox 23"/>
          <p:cNvSpPr txBox="1"/>
          <p:nvPr/>
        </p:nvSpPr>
        <p:spPr>
          <a:xfrm>
            <a:off x="7010247" y="440436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Création · suivi · badge de score IA</a:t>
            </a:r>
          </a:p>
        </p:txBody>
      </p:sp>
      <p:sp>
        <p:nvSpPr>
          <p:cNvPr id="25" name="Rounded Rectangle 24"/>
          <p:cNvSpPr/>
          <p:nvPr/>
        </p:nvSpPr>
        <p:spPr>
          <a:xfrm>
            <a:off x="640080" y="515112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28828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05</a:t>
            </a:r>
          </a:p>
        </p:txBody>
      </p:sp>
      <p:sp>
        <p:nvSpPr>
          <p:cNvPr id="27" name="TextBox 26"/>
          <p:cNvSpPr txBox="1"/>
          <p:nvPr/>
        </p:nvSpPr>
        <p:spPr>
          <a:xfrm>
            <a:off x="1463040" y="524256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Planning et alertes</a:t>
            </a:r>
          </a:p>
        </p:txBody>
      </p:sp>
      <p:sp>
        <p:nvSpPr>
          <p:cNvPr id="28" name="TextBox 27"/>
          <p:cNvSpPr txBox="1"/>
          <p:nvPr/>
        </p:nvSpPr>
        <p:spPr>
          <a:xfrm>
            <a:off x="1463040" y="565404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Calendrier maintenance · notifications</a:t>
            </a:r>
          </a:p>
        </p:txBody>
      </p:sp>
      <p:sp>
        <p:nvSpPr>
          <p:cNvPr id="29" name="Rounded Rectangle 28"/>
          <p:cNvSpPr/>
          <p:nvPr/>
        </p:nvSpPr>
        <p:spPr>
          <a:xfrm>
            <a:off x="6187287" y="515112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528828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06</a:t>
            </a:r>
          </a:p>
        </p:txBody>
      </p:sp>
      <p:sp>
        <p:nvSpPr>
          <p:cNvPr id="31" name="TextBox 30"/>
          <p:cNvSpPr txBox="1"/>
          <p:nvPr/>
        </p:nvSpPr>
        <p:spPr>
          <a:xfrm>
            <a:off x="7010247" y="524256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Analyse de fiabilité</a:t>
            </a:r>
          </a:p>
        </p:txBody>
      </p:sp>
      <p:sp>
        <p:nvSpPr>
          <p:cNvPr id="32" name="TextBox 31"/>
          <p:cNvSpPr txBox="1"/>
          <p:nvPr/>
        </p:nvSpPr>
        <p:spPr>
          <a:xfrm>
            <a:off x="7010247" y="565404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Génération de rapport PDF exportable</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24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WEB — INTERFACES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Tableau de bord.</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Pilotage complet pour le responsable maintenance.</a:t>
            </a:r>
          </a:p>
        </p:txBody>
      </p:sp>
      <p:sp>
        <p:nvSpPr>
          <p:cNvPr id="9" name="Rounded Rectangle 8"/>
          <p:cNvSpPr/>
          <p:nvPr/>
        </p:nvSpPr>
        <p:spPr>
          <a:xfrm>
            <a:off x="640080" y="2606040"/>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834640"/>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34640"/>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12" name="TextBox 11"/>
          <p:cNvSpPr txBox="1"/>
          <p:nvPr/>
        </p:nvSpPr>
        <p:spPr>
          <a:xfrm>
            <a:off x="914400" y="3739896"/>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Dashboard</a:t>
            </a:r>
          </a:p>
        </p:txBody>
      </p:sp>
      <p:sp>
        <p:nvSpPr>
          <p:cNvPr id="13" name="TextBox 12"/>
          <p:cNvSpPr txBox="1"/>
          <p:nvPr/>
        </p:nvSpPr>
        <p:spPr>
          <a:xfrm>
            <a:off x="914400" y="4005072"/>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MTBF · MTTR · pannes</a:t>
            </a:r>
          </a:p>
        </p:txBody>
      </p:sp>
      <p:sp>
        <p:nvSpPr>
          <p:cNvPr id="14" name="Rounded Rectangle 13"/>
          <p:cNvSpPr/>
          <p:nvPr/>
        </p:nvSpPr>
        <p:spPr>
          <a:xfrm>
            <a:off x="4332122" y="2606040"/>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5002" y="2834640"/>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5002" y="2834640"/>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17" name="TextBox 16"/>
          <p:cNvSpPr txBox="1"/>
          <p:nvPr/>
        </p:nvSpPr>
        <p:spPr>
          <a:xfrm>
            <a:off x="4606442" y="3739896"/>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Équipements</a:t>
            </a:r>
          </a:p>
        </p:txBody>
      </p:sp>
      <p:sp>
        <p:nvSpPr>
          <p:cNvPr id="18" name="TextBox 17"/>
          <p:cNvSpPr txBox="1"/>
          <p:nvPr/>
        </p:nvSpPr>
        <p:spPr>
          <a:xfrm>
            <a:off x="4606442" y="4005072"/>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Fiches machines</a:t>
            </a:r>
          </a:p>
        </p:txBody>
      </p:sp>
      <p:sp>
        <p:nvSpPr>
          <p:cNvPr id="19" name="Rounded Rectangle 18"/>
          <p:cNvSpPr/>
          <p:nvPr/>
        </p:nvSpPr>
        <p:spPr>
          <a:xfrm>
            <a:off x="8024164" y="2606040"/>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7044" y="2834640"/>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7044" y="2834640"/>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22" name="TextBox 21"/>
          <p:cNvSpPr txBox="1"/>
          <p:nvPr/>
        </p:nvSpPr>
        <p:spPr>
          <a:xfrm>
            <a:off x="8298484" y="3739896"/>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Interventions</a:t>
            </a:r>
          </a:p>
        </p:txBody>
      </p:sp>
      <p:sp>
        <p:nvSpPr>
          <p:cNvPr id="23" name="TextBox 22"/>
          <p:cNvSpPr txBox="1"/>
          <p:nvPr/>
        </p:nvSpPr>
        <p:spPr>
          <a:xfrm>
            <a:off x="8298484" y="4005072"/>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Score IA affiché</a:t>
            </a:r>
          </a:p>
        </p:txBody>
      </p:sp>
      <p:sp>
        <p:nvSpPr>
          <p:cNvPr id="24" name="Rounded Rectangle 23"/>
          <p:cNvSpPr/>
          <p:nvPr/>
        </p:nvSpPr>
        <p:spPr>
          <a:xfrm>
            <a:off x="640080" y="4471416"/>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4700016"/>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700016"/>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27" name="TextBox 26"/>
          <p:cNvSpPr txBox="1"/>
          <p:nvPr/>
        </p:nvSpPr>
        <p:spPr>
          <a:xfrm>
            <a:off x="914400" y="5605272"/>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Diagnostic IA</a:t>
            </a:r>
          </a:p>
        </p:txBody>
      </p:sp>
      <p:sp>
        <p:nvSpPr>
          <p:cNvPr id="28" name="TextBox 27"/>
          <p:cNvSpPr txBox="1"/>
          <p:nvPr/>
        </p:nvSpPr>
        <p:spPr>
          <a:xfrm>
            <a:off x="914400" y="5870448"/>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Cause instantanée</a:t>
            </a:r>
          </a:p>
        </p:txBody>
      </p:sp>
      <p:sp>
        <p:nvSpPr>
          <p:cNvPr id="29" name="Rounded Rectangle 28"/>
          <p:cNvSpPr/>
          <p:nvPr/>
        </p:nvSpPr>
        <p:spPr>
          <a:xfrm>
            <a:off x="4332122" y="4471416"/>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15002" y="4700016"/>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15002" y="4700016"/>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32" name="TextBox 31"/>
          <p:cNvSpPr txBox="1"/>
          <p:nvPr/>
        </p:nvSpPr>
        <p:spPr>
          <a:xfrm>
            <a:off x="4606442" y="5605272"/>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Alertes</a:t>
            </a:r>
          </a:p>
        </p:txBody>
      </p:sp>
      <p:sp>
        <p:nvSpPr>
          <p:cNvPr id="33" name="TextBox 32"/>
          <p:cNvSpPr txBox="1"/>
          <p:nvPr/>
        </p:nvSpPr>
        <p:spPr>
          <a:xfrm>
            <a:off x="4606442" y="5870448"/>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Temps réel</a:t>
            </a:r>
          </a:p>
        </p:txBody>
      </p:sp>
      <p:sp>
        <p:nvSpPr>
          <p:cNvPr id="34" name="Rounded Rectangle 33"/>
          <p:cNvSpPr/>
          <p:nvPr/>
        </p:nvSpPr>
        <p:spPr>
          <a:xfrm>
            <a:off x="8024164" y="4471416"/>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07044" y="4700016"/>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07044" y="4700016"/>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37" name="TextBox 36"/>
          <p:cNvSpPr txBox="1"/>
          <p:nvPr/>
        </p:nvSpPr>
        <p:spPr>
          <a:xfrm>
            <a:off x="8298484" y="5605272"/>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Fiabilité</a:t>
            </a:r>
          </a:p>
        </p:txBody>
      </p:sp>
      <p:sp>
        <p:nvSpPr>
          <p:cNvPr id="38" name="TextBox 37"/>
          <p:cNvSpPr txBox="1"/>
          <p:nvPr/>
        </p:nvSpPr>
        <p:spPr>
          <a:xfrm>
            <a:off x="8298484" y="5870448"/>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Rapport PDF</a:t>
            </a:r>
          </a:p>
        </p:txBody>
      </p:sp>
      <p:sp>
        <p:nvSpPr>
          <p:cNvPr id="39" name="TextBox 38"/>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komax-gmao.render.com</a:t>
            </a:r>
          </a:p>
        </p:txBody>
      </p:sp>
      <p:sp>
        <p:nvSpPr>
          <p:cNvPr id="40" name="TextBox 39"/>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25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MOBILE — TECHNICIEN TERRAIN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Fonctionnalités mobile.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Application Flutter pour les techniciens terrain.</a:t>
            </a:r>
          </a:p>
        </p:txBody>
      </p:sp>
      <p:sp>
        <p:nvSpPr>
          <p:cNvPr id="9" name="Rounded Rectangle 8"/>
          <p:cNvSpPr/>
          <p:nvPr/>
        </p:nvSpPr>
        <p:spPr>
          <a:xfrm>
            <a:off x="640080" y="2606040"/>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33141"/>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01</a:t>
            </a:r>
          </a:p>
        </p:txBody>
      </p:sp>
      <p:sp>
        <p:nvSpPr>
          <p:cNvPr id="11" name="TextBox 10"/>
          <p:cNvSpPr txBox="1"/>
          <p:nvPr/>
        </p:nvSpPr>
        <p:spPr>
          <a:xfrm>
            <a:off x="1508760" y="2606040"/>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Connexion sécurisée</a:t>
            </a:r>
          </a:p>
        </p:txBody>
      </p:sp>
      <p:sp>
        <p:nvSpPr>
          <p:cNvPr id="12" name="TextBox 11"/>
          <p:cNvSpPr txBox="1"/>
          <p:nvPr/>
        </p:nvSpPr>
        <p:spPr>
          <a:xfrm>
            <a:off x="4480560" y="2606040"/>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JWT · rôles Technicien et Chef de ligne</a:t>
            </a:r>
          </a:p>
        </p:txBody>
      </p:sp>
      <p:sp>
        <p:nvSpPr>
          <p:cNvPr id="13" name="Rounded Rectangle 12"/>
          <p:cNvSpPr/>
          <p:nvPr/>
        </p:nvSpPr>
        <p:spPr>
          <a:xfrm>
            <a:off x="640080" y="3354019"/>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81120"/>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02</a:t>
            </a:r>
          </a:p>
        </p:txBody>
      </p:sp>
      <p:sp>
        <p:nvSpPr>
          <p:cNvPr id="15" name="TextBox 14"/>
          <p:cNvSpPr txBox="1"/>
          <p:nvPr/>
        </p:nvSpPr>
        <p:spPr>
          <a:xfrm>
            <a:off x="1508760" y="3354019"/>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Tableau de bord</a:t>
            </a:r>
          </a:p>
        </p:txBody>
      </p:sp>
      <p:sp>
        <p:nvSpPr>
          <p:cNvPr id="16" name="TextBox 15"/>
          <p:cNvSpPr txBox="1"/>
          <p:nvPr/>
        </p:nvSpPr>
        <p:spPr>
          <a:xfrm>
            <a:off x="4480560" y="3354019"/>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Machines assignées · alertes récentes</a:t>
            </a:r>
          </a:p>
        </p:txBody>
      </p:sp>
      <p:sp>
        <p:nvSpPr>
          <p:cNvPr id="17" name="Rounded Rectangle 16"/>
          <p:cNvSpPr/>
          <p:nvPr/>
        </p:nvSpPr>
        <p:spPr>
          <a:xfrm>
            <a:off x="640080" y="4101998"/>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29100"/>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03</a:t>
            </a:r>
          </a:p>
        </p:txBody>
      </p:sp>
      <p:sp>
        <p:nvSpPr>
          <p:cNvPr id="19" name="TextBox 18"/>
          <p:cNvSpPr txBox="1"/>
          <p:nvPr/>
        </p:nvSpPr>
        <p:spPr>
          <a:xfrm>
            <a:off x="1508760" y="4101998"/>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Interventions terrain</a:t>
            </a:r>
          </a:p>
        </p:txBody>
      </p:sp>
      <p:sp>
        <p:nvSpPr>
          <p:cNvPr id="20" name="TextBox 19"/>
          <p:cNvSpPr txBox="1"/>
          <p:nvPr/>
        </p:nvSpPr>
        <p:spPr>
          <a:xfrm>
            <a:off x="4480560" y="4101998"/>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Créer · consulter · photo avant / après</a:t>
            </a:r>
          </a:p>
        </p:txBody>
      </p:sp>
      <p:sp>
        <p:nvSpPr>
          <p:cNvPr id="21" name="Rounded Rectangle 20"/>
          <p:cNvSpPr/>
          <p:nvPr/>
        </p:nvSpPr>
        <p:spPr>
          <a:xfrm>
            <a:off x="640080" y="4849977"/>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977079"/>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04</a:t>
            </a:r>
          </a:p>
        </p:txBody>
      </p:sp>
      <p:sp>
        <p:nvSpPr>
          <p:cNvPr id="23" name="TextBox 22"/>
          <p:cNvSpPr txBox="1"/>
          <p:nvPr/>
        </p:nvSpPr>
        <p:spPr>
          <a:xfrm>
            <a:off x="1508760" y="4849977"/>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Checklist journalière</a:t>
            </a:r>
          </a:p>
        </p:txBody>
      </p:sp>
      <p:sp>
        <p:nvSpPr>
          <p:cNvPr id="24" name="TextBox 23"/>
          <p:cNvSpPr txBox="1"/>
          <p:nvPr/>
        </p:nvSpPr>
        <p:spPr>
          <a:xfrm>
            <a:off x="4480560" y="4849977"/>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Contrôle quotidien · photo OK / NOK</a:t>
            </a:r>
          </a:p>
        </p:txBody>
      </p:sp>
      <p:sp>
        <p:nvSpPr>
          <p:cNvPr id="25" name="Rounded Rectangle 24"/>
          <p:cNvSpPr/>
          <p:nvPr/>
        </p:nvSpPr>
        <p:spPr>
          <a:xfrm>
            <a:off x="640080" y="5597956"/>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725058"/>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05</a:t>
            </a:r>
          </a:p>
        </p:txBody>
      </p:sp>
      <p:sp>
        <p:nvSpPr>
          <p:cNvPr id="27" name="TextBox 26"/>
          <p:cNvSpPr txBox="1"/>
          <p:nvPr/>
        </p:nvSpPr>
        <p:spPr>
          <a:xfrm>
            <a:off x="1508760" y="5597956"/>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Notifications push</a:t>
            </a:r>
          </a:p>
        </p:txBody>
      </p:sp>
      <p:sp>
        <p:nvSpPr>
          <p:cNvPr id="28" name="TextBox 27"/>
          <p:cNvSpPr txBox="1"/>
          <p:nvPr/>
        </p:nvSpPr>
        <p:spPr>
          <a:xfrm>
            <a:off x="4480560" y="5597956"/>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Firebase · alertes IA temps réel</a:t>
            </a:r>
          </a:p>
        </p:txBody>
      </p:sp>
      <p:sp>
        <p:nvSpPr>
          <p:cNvPr id="29" name="Rounded Rectangle 28"/>
          <p:cNvSpPr/>
          <p:nvPr/>
        </p:nvSpPr>
        <p:spPr>
          <a:xfrm>
            <a:off x="8229600" y="2606040"/>
            <a:ext cx="3322015" cy="36118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95360" y="3246120"/>
            <a:ext cx="2590495" cy="2331720"/>
          </a:xfrm>
          <a:prstGeom prst="roundRect">
            <a:avLst>
              <a:gd name="adj" fmla="val 12000"/>
            </a:avLst>
          </a:prstGeom>
          <a:solidFill>
            <a:srgbClr val="0A1230"/>
          </a:solidFill>
          <a:ln w="1905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3246120"/>
            <a:ext cx="2590495" cy="2331720"/>
          </a:xfrm>
          <a:prstGeom prst="rect">
            <a:avLst/>
          </a:prstGeom>
          <a:noFill/>
        </p:spPr>
        <p:txBody>
          <a:bodyPr wrap="square" lIns="0" rIns="0" tIns="0" bIns="0" anchor="ctr">
            <a:spAutoFit/>
          </a:bodyPr>
          <a:lstStyle/>
          <a:p>
            <a:pPr algn="ctr">
              <a:lnSpc>
                <a:spcPct val="110000"/>
              </a:lnSpc>
            </a:pPr>
            <a:r>
              <a:rPr sz="1200" b="0" i="0">
                <a:solidFill>
                  <a:srgbClr val="4ECDC4"/>
                </a:solidFill>
                <a:latin typeface="JetBrains Mono"/>
              </a:rPr>
              <a:t>[ Flutter ]</a:t>
            </a:r>
          </a:p>
        </p:txBody>
      </p:sp>
      <p:sp>
        <p:nvSpPr>
          <p:cNvPr id="32" name="TextBox 31"/>
          <p:cNvSpPr txBox="1"/>
          <p:nvPr/>
        </p:nvSpPr>
        <p:spPr>
          <a:xfrm>
            <a:off x="8229600" y="5760720"/>
            <a:ext cx="3322015" cy="320040"/>
          </a:xfrm>
          <a:prstGeom prst="rect">
            <a:avLst/>
          </a:prstGeom>
          <a:noFill/>
        </p:spPr>
        <p:txBody>
          <a:bodyPr wrap="square" lIns="0" rIns="0" tIns="0" bIns="0" anchor="t">
            <a:spAutoFit/>
          </a:bodyPr>
          <a:lstStyle/>
          <a:p>
            <a:pPr algn="ctr">
              <a:lnSpc>
                <a:spcPct val="110000"/>
              </a:lnSpc>
            </a:pPr>
            <a:r>
              <a:rPr sz="1000" b="1" i="0" spc="180">
                <a:solidFill>
                  <a:srgbClr val="4ECDC4"/>
                </a:solidFill>
                <a:latin typeface="JetBrains Mono"/>
              </a:rPr>
              <a:t>FLUTTER · ANDROID</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26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MOBILE — INTERFACES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Terrain, dans la poche.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Le technicien reçoit une alerte en 60 secondes.</a:t>
            </a:r>
          </a:p>
        </p:txBody>
      </p:sp>
      <p:sp>
        <p:nvSpPr>
          <p:cNvPr id="9" name="Rounded Rectangle 8"/>
          <p:cNvSpPr/>
          <p:nvPr/>
        </p:nvSpPr>
        <p:spPr>
          <a:xfrm>
            <a:off x="640080"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12" name="TextBox 11"/>
          <p:cNvSpPr txBox="1"/>
          <p:nvPr/>
        </p:nvSpPr>
        <p:spPr>
          <a:xfrm>
            <a:off x="640080"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Tableau de bord</a:t>
            </a:r>
          </a:p>
        </p:txBody>
      </p:sp>
      <p:sp>
        <p:nvSpPr>
          <p:cNvPr id="13" name="TextBox 12"/>
          <p:cNvSpPr txBox="1"/>
          <p:nvPr/>
        </p:nvSpPr>
        <p:spPr>
          <a:xfrm>
            <a:off x="640080"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Vue synthétique</a:t>
            </a:r>
          </a:p>
        </p:txBody>
      </p:sp>
      <p:sp>
        <p:nvSpPr>
          <p:cNvPr id="14" name="Rounded Rectangle 13"/>
          <p:cNvSpPr/>
          <p:nvPr/>
        </p:nvSpPr>
        <p:spPr>
          <a:xfrm>
            <a:off x="3425113"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99433"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9433"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17" name="TextBox 16"/>
          <p:cNvSpPr txBox="1"/>
          <p:nvPr/>
        </p:nvSpPr>
        <p:spPr>
          <a:xfrm>
            <a:off x="3425113"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Interventions</a:t>
            </a:r>
          </a:p>
        </p:txBody>
      </p:sp>
      <p:sp>
        <p:nvSpPr>
          <p:cNvPr id="18" name="TextBox 17"/>
          <p:cNvSpPr txBox="1"/>
          <p:nvPr/>
        </p:nvSpPr>
        <p:spPr>
          <a:xfrm>
            <a:off x="3425113"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Créer / consulter</a:t>
            </a:r>
          </a:p>
        </p:txBody>
      </p:sp>
      <p:sp>
        <p:nvSpPr>
          <p:cNvPr id="19" name="Rounded Rectangle 18"/>
          <p:cNvSpPr/>
          <p:nvPr/>
        </p:nvSpPr>
        <p:spPr>
          <a:xfrm>
            <a:off x="6210147"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84467"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4467"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22" name="TextBox 21"/>
          <p:cNvSpPr txBox="1"/>
          <p:nvPr/>
        </p:nvSpPr>
        <p:spPr>
          <a:xfrm>
            <a:off x="6210147"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Alertes push</a:t>
            </a:r>
          </a:p>
        </p:txBody>
      </p:sp>
      <p:sp>
        <p:nvSpPr>
          <p:cNvPr id="23" name="TextBox 22"/>
          <p:cNvSpPr txBox="1"/>
          <p:nvPr/>
        </p:nvSpPr>
        <p:spPr>
          <a:xfrm>
            <a:off x="6210147"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Temps réel</a:t>
            </a:r>
          </a:p>
        </p:txBody>
      </p:sp>
      <p:sp>
        <p:nvSpPr>
          <p:cNvPr id="24" name="Rounded Rectangle 23"/>
          <p:cNvSpPr/>
          <p:nvPr/>
        </p:nvSpPr>
        <p:spPr>
          <a:xfrm>
            <a:off x="8995181"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69501"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69501"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27" name="TextBox 26"/>
          <p:cNvSpPr txBox="1"/>
          <p:nvPr/>
        </p:nvSpPr>
        <p:spPr>
          <a:xfrm>
            <a:off x="8995181"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Checklists</a:t>
            </a:r>
          </a:p>
        </p:txBody>
      </p:sp>
      <p:sp>
        <p:nvSpPr>
          <p:cNvPr id="28" name="TextBox 27"/>
          <p:cNvSpPr txBox="1"/>
          <p:nvPr/>
        </p:nvSpPr>
        <p:spPr>
          <a:xfrm>
            <a:off x="8995181"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Preuve photo OK/NOK</a:t>
            </a:r>
          </a:p>
        </p:txBody>
      </p:sp>
      <p:sp>
        <p:nvSpPr>
          <p:cNvPr id="29" name="TextBox 28"/>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Flutter · Android · Firebase (push)   ·   Preuve photo OK/NOK   ·   Brouillon hors-ligne</a:t>
            </a:r>
          </a:p>
        </p:txBody>
      </p:sp>
      <p:sp>
        <p:nvSpPr>
          <p:cNvPr id="30" name="TextBox 29"/>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27 /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MODULE FIABILITÉ</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Analyse de fiabilité.</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Régression linéaire · rapport PDF généré automatiquement.</a:t>
            </a:r>
          </a:p>
        </p:txBody>
      </p:sp>
      <p:sp>
        <p:nvSpPr>
          <p:cNvPr id="9" name="Rounded Rectangle 8"/>
          <p:cNvSpPr/>
          <p:nvPr/>
        </p:nvSpPr>
        <p:spPr>
          <a:xfrm>
            <a:off x="640080"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8720" y="3017520"/>
            <a:ext cx="4198467" cy="2834640"/>
          </a:xfrm>
          <a:prstGeom prst="rect">
            <a:avLst/>
          </a:prstGeom>
          <a:solidFill>
            <a:srgbClr val="0A1230"/>
          </a:solidFill>
          <a:ln w="12700">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017520"/>
            <a:ext cx="4198467" cy="2834640"/>
          </a:xfrm>
          <a:prstGeom prst="rect">
            <a:avLst/>
          </a:prstGeom>
          <a:noFill/>
        </p:spPr>
        <p:txBody>
          <a:bodyPr wrap="square" lIns="0" rIns="0" tIns="0" bIns="0" anchor="ctr">
            <a:spAutoFit/>
          </a:bodyPr>
          <a:lstStyle/>
          <a:p>
            <a:pPr algn="ctr">
              <a:lnSpc>
                <a:spcPct val="110000"/>
              </a:lnSpc>
            </a:pPr>
            <a:r>
              <a:rPr sz="1200" b="0" i="0">
                <a:solidFill>
                  <a:srgbClr val="7D8496"/>
                </a:solidFill>
                <a:latin typeface="JetBrains Mono"/>
              </a:rPr>
              <a:t>[ Rapport PDF fiabilité ]</a:t>
            </a:r>
          </a:p>
        </p:txBody>
      </p:sp>
      <p:sp>
        <p:nvSpPr>
          <p:cNvPr id="12" name="Rounded Rectangle 11"/>
          <p:cNvSpPr/>
          <p:nvPr/>
        </p:nvSpPr>
        <p:spPr>
          <a:xfrm>
            <a:off x="6255867" y="2651760"/>
            <a:ext cx="529574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2926080"/>
            <a:ext cx="4747107" cy="365760"/>
          </a:xfrm>
          <a:prstGeom prst="rect">
            <a:avLst/>
          </a:prstGeom>
          <a:noFill/>
        </p:spPr>
        <p:txBody>
          <a:bodyPr wrap="square" lIns="0" rIns="0" tIns="0" bIns="0" anchor="t">
            <a:spAutoFit/>
          </a:bodyPr>
          <a:lstStyle/>
          <a:p>
            <a:pPr algn="l">
              <a:lnSpc>
                <a:spcPct val="110000"/>
              </a:lnSpc>
            </a:pPr>
            <a:r>
              <a:rPr sz="1000" b="1" i="0" spc="200">
                <a:solidFill>
                  <a:srgbClr val="4ECDC4"/>
                </a:solidFill>
                <a:latin typeface="JetBrains Mono"/>
              </a:rPr>
              <a:t>CONTENU DU RAPPORT</a:t>
            </a:r>
          </a:p>
        </p:txBody>
      </p:sp>
      <p:sp>
        <p:nvSpPr>
          <p:cNvPr id="14" name="TextBox 13"/>
          <p:cNvSpPr txBox="1"/>
          <p:nvPr/>
        </p:nvSpPr>
        <p:spPr>
          <a:xfrm>
            <a:off x="6530187" y="3520440"/>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15" name="TextBox 14"/>
          <p:cNvSpPr txBox="1"/>
          <p:nvPr/>
        </p:nvSpPr>
        <p:spPr>
          <a:xfrm>
            <a:off x="7078827" y="3520440"/>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Disponibilité</a:t>
            </a:r>
          </a:p>
        </p:txBody>
      </p:sp>
      <p:sp>
        <p:nvSpPr>
          <p:cNvPr id="16" name="TextBox 15"/>
          <p:cNvSpPr txBox="1"/>
          <p:nvPr/>
        </p:nvSpPr>
        <p:spPr>
          <a:xfrm>
            <a:off x="7078827" y="3794760"/>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projection sur 24 mois glissants</a:t>
            </a:r>
          </a:p>
        </p:txBody>
      </p:sp>
      <p:sp>
        <p:nvSpPr>
          <p:cNvPr id="17" name="TextBox 16"/>
          <p:cNvSpPr txBox="1"/>
          <p:nvPr/>
        </p:nvSpPr>
        <p:spPr>
          <a:xfrm>
            <a:off x="6530187" y="4178808"/>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18" name="TextBox 17"/>
          <p:cNvSpPr txBox="1"/>
          <p:nvPr/>
        </p:nvSpPr>
        <p:spPr>
          <a:xfrm>
            <a:off x="7078827" y="4178808"/>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Nombre de pannes</a:t>
            </a:r>
          </a:p>
        </p:txBody>
      </p:sp>
      <p:sp>
        <p:nvSpPr>
          <p:cNvPr id="19" name="TextBox 18"/>
          <p:cNvSpPr txBox="1"/>
          <p:nvPr/>
        </p:nvSpPr>
        <p:spPr>
          <a:xfrm>
            <a:off x="7078827" y="4453128"/>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tendance et courbe évolutive</a:t>
            </a:r>
          </a:p>
        </p:txBody>
      </p:sp>
      <p:sp>
        <p:nvSpPr>
          <p:cNvPr id="20" name="TextBox 19"/>
          <p:cNvSpPr txBox="1"/>
          <p:nvPr/>
        </p:nvSpPr>
        <p:spPr>
          <a:xfrm>
            <a:off x="6530187" y="4837176"/>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21" name="TextBox 20"/>
          <p:cNvSpPr txBox="1"/>
          <p:nvPr/>
        </p:nvSpPr>
        <p:spPr>
          <a:xfrm>
            <a:off x="7078827" y="4837176"/>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Export PDF</a:t>
            </a:r>
          </a:p>
        </p:txBody>
      </p:sp>
      <p:sp>
        <p:nvSpPr>
          <p:cNvPr id="22" name="TextBox 21"/>
          <p:cNvSpPr txBox="1"/>
          <p:nvPr/>
        </p:nvSpPr>
        <p:spPr>
          <a:xfrm>
            <a:off x="7078827" y="5111496"/>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signé · daté · logo ICEM intégré</a:t>
            </a:r>
          </a:p>
        </p:txBody>
      </p:sp>
      <p:sp>
        <p:nvSpPr>
          <p:cNvPr id="23" name="TextBox 22"/>
          <p:cNvSpPr txBox="1"/>
          <p:nvPr/>
        </p:nvSpPr>
        <p:spPr>
          <a:xfrm>
            <a:off x="6530187" y="5495544"/>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24" name="TextBox 23"/>
          <p:cNvSpPr txBox="1"/>
          <p:nvPr/>
        </p:nvSpPr>
        <p:spPr>
          <a:xfrm>
            <a:off x="7078827" y="5495544"/>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Comparaison</a:t>
            </a:r>
          </a:p>
        </p:txBody>
      </p:sp>
      <p:sp>
        <p:nvSpPr>
          <p:cNvPr id="25" name="TextBox 24"/>
          <p:cNvSpPr txBox="1"/>
          <p:nvPr/>
        </p:nvSpPr>
        <p:spPr>
          <a:xfrm>
            <a:off x="7078827" y="5769864"/>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Alpha 433 H vs Gamma 333 PC</a:t>
            </a:r>
          </a:p>
        </p:txBody>
      </p:sp>
      <p:sp>
        <p:nvSpPr>
          <p:cNvPr id="26" name="TextBox 25"/>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28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DÉPLOIEMENT LOCAL</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Déploiement local.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Réseau interne ICEM — pas de cloud, données restent sur site.</a:t>
            </a:r>
          </a:p>
        </p:txBody>
      </p:sp>
      <p:sp>
        <p:nvSpPr>
          <p:cNvPr id="9" name="Rounded Rectangle 8"/>
          <p:cNvSpPr/>
          <p:nvPr/>
        </p:nvSpPr>
        <p:spPr>
          <a:xfrm>
            <a:off x="640080" y="2651760"/>
            <a:ext cx="5295747" cy="3566160"/>
          </a:xfrm>
          <a:prstGeom prst="roundRect">
            <a:avLst>
              <a:gd name="adj" fmla="val 6000"/>
            </a:avLst>
          </a:prstGeom>
          <a:solidFill>
            <a:srgbClr val="101A45">
              <a:alpha val="10000"/>
            </a:srgbClr>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34640"/>
            <a:ext cx="4838547" cy="274320"/>
          </a:xfrm>
          <a:prstGeom prst="rect">
            <a:avLst/>
          </a:prstGeom>
          <a:noFill/>
        </p:spPr>
        <p:txBody>
          <a:bodyPr wrap="square" lIns="0" rIns="0" tIns="0" bIns="0" anchor="t">
            <a:spAutoFit/>
          </a:bodyPr>
          <a:lstStyle/>
          <a:p>
            <a:pPr algn="l">
              <a:lnSpc>
                <a:spcPct val="110000"/>
              </a:lnSpc>
            </a:pPr>
            <a:r>
              <a:rPr sz="1100" b="0" i="0">
                <a:solidFill>
                  <a:srgbClr val="7D8496"/>
                </a:solidFill>
                <a:latin typeface="JetBrains Mono"/>
              </a:rPr>
              <a:t>●  ●  ●     pm2 status</a:t>
            </a:r>
          </a:p>
        </p:txBody>
      </p:sp>
      <p:sp>
        <p:nvSpPr>
          <p:cNvPr id="11" name="Rectangle 10"/>
          <p:cNvSpPr/>
          <p:nvPr/>
        </p:nvSpPr>
        <p:spPr>
          <a:xfrm>
            <a:off x="868680" y="3154680"/>
            <a:ext cx="4838547" cy="6350"/>
          </a:xfrm>
          <a:prstGeom prst="rect">
            <a:avLst/>
          </a:prstGeom>
          <a:solidFill>
            <a:srgbClr val="3A3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337560"/>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t>
            </a:r>
          </a:p>
        </p:txBody>
      </p:sp>
      <p:sp>
        <p:nvSpPr>
          <p:cNvPr id="13" name="TextBox 12"/>
          <p:cNvSpPr txBox="1"/>
          <p:nvPr/>
        </p:nvSpPr>
        <p:spPr>
          <a:xfrm>
            <a:off x="1234440" y="3337560"/>
            <a:ext cx="4472787" cy="292608"/>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pm2 start ecosystem.config.js</a:t>
            </a:r>
          </a:p>
        </p:txBody>
      </p:sp>
      <p:sp>
        <p:nvSpPr>
          <p:cNvPr id="14" name="TextBox 13"/>
          <p:cNvSpPr txBox="1"/>
          <p:nvPr/>
        </p:nvSpPr>
        <p:spPr>
          <a:xfrm>
            <a:off x="960120" y="3685032"/>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15" name="TextBox 14"/>
          <p:cNvSpPr txBox="1"/>
          <p:nvPr/>
        </p:nvSpPr>
        <p:spPr>
          <a:xfrm>
            <a:off x="1234440" y="3685032"/>
            <a:ext cx="4472787" cy="292608"/>
          </a:xfrm>
          <a:prstGeom prst="rect">
            <a:avLst/>
          </a:prstGeom>
          <a:noFill/>
        </p:spPr>
        <p:txBody>
          <a:bodyPr wrap="square" lIns="0" rIns="0" tIns="0" bIns="0" anchor="t">
            <a:spAutoFit/>
          </a:bodyPr>
          <a:lstStyle/>
          <a:p>
            <a:pPr algn="l">
              <a:lnSpc>
                <a:spcPct val="110000"/>
              </a:lnSpc>
            </a:pPr>
            <a:r>
              <a:rPr sz="1100" b="0" i="0">
                <a:solidFill>
                  <a:srgbClr val="4ADE80"/>
                </a:solidFill>
                <a:latin typeface="JetBrains Mono"/>
              </a:rPr>
              <a:t>[PM2] Starting backend-express...</a:t>
            </a:r>
          </a:p>
        </p:txBody>
      </p:sp>
      <p:sp>
        <p:nvSpPr>
          <p:cNvPr id="16" name="TextBox 15"/>
          <p:cNvSpPr txBox="1"/>
          <p:nvPr/>
        </p:nvSpPr>
        <p:spPr>
          <a:xfrm>
            <a:off x="960120" y="4032504"/>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17" name="TextBox 16"/>
          <p:cNvSpPr txBox="1"/>
          <p:nvPr/>
        </p:nvSpPr>
        <p:spPr>
          <a:xfrm>
            <a:off x="1234440" y="4032504"/>
            <a:ext cx="4472787" cy="292608"/>
          </a:xfrm>
          <a:prstGeom prst="rect">
            <a:avLst/>
          </a:prstGeom>
          <a:noFill/>
        </p:spPr>
        <p:txBody>
          <a:bodyPr wrap="square" lIns="0" rIns="0" tIns="0" bIns="0" anchor="t">
            <a:spAutoFit/>
          </a:bodyPr>
          <a:lstStyle/>
          <a:p>
            <a:pPr algn="l">
              <a:lnSpc>
                <a:spcPct val="110000"/>
              </a:lnSpc>
            </a:pPr>
            <a:r>
              <a:rPr sz="1100" b="0" i="0">
                <a:solidFill>
                  <a:srgbClr val="4ADE80"/>
                </a:solidFill>
                <a:latin typeface="JetBrains Mono"/>
              </a:rPr>
              <a:t>[PM2] Starting fastapi-uvicorn...</a:t>
            </a:r>
          </a:p>
        </p:txBody>
      </p:sp>
      <p:sp>
        <p:nvSpPr>
          <p:cNvPr id="18" name="TextBox 17"/>
          <p:cNvSpPr txBox="1"/>
          <p:nvPr/>
        </p:nvSpPr>
        <p:spPr>
          <a:xfrm>
            <a:off x="960120" y="4379976"/>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19" name="TextBox 18"/>
          <p:cNvSpPr txBox="1"/>
          <p:nvPr/>
        </p:nvSpPr>
        <p:spPr>
          <a:xfrm>
            <a:off x="1234440" y="4379976"/>
            <a:ext cx="4472787" cy="292608"/>
          </a:xfrm>
          <a:prstGeom prst="rect">
            <a:avLst/>
          </a:prstGeom>
          <a:noFill/>
        </p:spPr>
        <p:txBody>
          <a:bodyPr wrap="square" lIns="0" rIns="0" tIns="0" bIns="0" anchor="t">
            <a:spAutoFit/>
          </a:bodyPr>
          <a:lstStyle/>
          <a:p>
            <a:pPr algn="l">
              <a:lnSpc>
                <a:spcPct val="110000"/>
              </a:lnSpc>
            </a:pPr>
            <a:r>
              <a:rPr sz="1100" b="0" i="0">
                <a:solidFill>
                  <a:srgbClr val="C9D0DC"/>
                </a:solidFill>
                <a:latin typeface="JetBrains Mono"/>
              </a:rPr>
              <a:t>backend-express  | 0 | online | 82.4mb</a:t>
            </a:r>
          </a:p>
        </p:txBody>
      </p:sp>
      <p:sp>
        <p:nvSpPr>
          <p:cNvPr id="20" name="TextBox 19"/>
          <p:cNvSpPr txBox="1"/>
          <p:nvPr/>
        </p:nvSpPr>
        <p:spPr>
          <a:xfrm>
            <a:off x="960120" y="4727448"/>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21" name="TextBox 20"/>
          <p:cNvSpPr txBox="1"/>
          <p:nvPr/>
        </p:nvSpPr>
        <p:spPr>
          <a:xfrm>
            <a:off x="1234440" y="4727448"/>
            <a:ext cx="4472787" cy="292608"/>
          </a:xfrm>
          <a:prstGeom prst="rect">
            <a:avLst/>
          </a:prstGeom>
          <a:noFill/>
        </p:spPr>
        <p:txBody>
          <a:bodyPr wrap="square" lIns="0" rIns="0" tIns="0" bIns="0" anchor="t">
            <a:spAutoFit/>
          </a:bodyPr>
          <a:lstStyle/>
          <a:p>
            <a:pPr algn="l">
              <a:lnSpc>
                <a:spcPct val="110000"/>
              </a:lnSpc>
            </a:pPr>
            <a:r>
              <a:rPr sz="1100" b="0" i="0">
                <a:solidFill>
                  <a:srgbClr val="C9D0DC"/>
                </a:solidFill>
                <a:latin typeface="JetBrains Mono"/>
              </a:rPr>
              <a:t>fastapi-uvicorn  | 1 | online | 94.1mb</a:t>
            </a:r>
          </a:p>
        </p:txBody>
      </p:sp>
      <p:sp>
        <p:nvSpPr>
          <p:cNvPr id="22" name="TextBox 21"/>
          <p:cNvSpPr txBox="1"/>
          <p:nvPr/>
        </p:nvSpPr>
        <p:spPr>
          <a:xfrm>
            <a:off x="960120" y="5074920"/>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t>
            </a:r>
          </a:p>
        </p:txBody>
      </p:sp>
      <p:sp>
        <p:nvSpPr>
          <p:cNvPr id="23" name="TextBox 22"/>
          <p:cNvSpPr txBox="1"/>
          <p:nvPr/>
        </p:nvSpPr>
        <p:spPr>
          <a:xfrm>
            <a:off x="1234440" y="5074920"/>
            <a:ext cx="4472787" cy="292608"/>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curl http://localhost:3000/health</a:t>
            </a:r>
          </a:p>
        </p:txBody>
      </p:sp>
      <p:sp>
        <p:nvSpPr>
          <p:cNvPr id="24" name="TextBox 23"/>
          <p:cNvSpPr txBox="1"/>
          <p:nvPr/>
        </p:nvSpPr>
        <p:spPr>
          <a:xfrm>
            <a:off x="960120" y="5422392"/>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25" name="TextBox 24"/>
          <p:cNvSpPr txBox="1"/>
          <p:nvPr/>
        </p:nvSpPr>
        <p:spPr>
          <a:xfrm>
            <a:off x="1234440" y="5422392"/>
            <a:ext cx="4472787" cy="292608"/>
          </a:xfrm>
          <a:prstGeom prst="rect">
            <a:avLst/>
          </a:prstGeom>
          <a:noFill/>
        </p:spPr>
        <p:txBody>
          <a:bodyPr wrap="square" lIns="0" rIns="0" tIns="0" bIns="0" anchor="t">
            <a:spAutoFit/>
          </a:bodyPr>
          <a:lstStyle/>
          <a:p>
            <a:pPr algn="l">
              <a:lnSpc>
                <a:spcPct val="110000"/>
              </a:lnSpc>
            </a:pPr>
            <a:r>
              <a:rPr sz="1100" b="0" i="0">
                <a:solidFill>
                  <a:srgbClr val="4ECDC4"/>
                </a:solidFill>
                <a:latin typeface="JetBrains Mono"/>
              </a:rPr>
              <a:t>{"status":"ok","db":"connected"}</a:t>
            </a:r>
          </a:p>
        </p:txBody>
      </p:sp>
      <p:sp>
        <p:nvSpPr>
          <p:cNvPr id="26" name="Rounded Rectangle 25"/>
          <p:cNvSpPr/>
          <p:nvPr/>
        </p:nvSpPr>
        <p:spPr>
          <a:xfrm>
            <a:off x="6255867" y="2651760"/>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4467" y="2770632"/>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01</a:t>
            </a:r>
          </a:p>
        </p:txBody>
      </p:sp>
      <p:sp>
        <p:nvSpPr>
          <p:cNvPr id="28" name="TextBox 27"/>
          <p:cNvSpPr txBox="1"/>
          <p:nvPr/>
        </p:nvSpPr>
        <p:spPr>
          <a:xfrm>
            <a:off x="7124547" y="2651760"/>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Serveur local Windows</a:t>
            </a:r>
          </a:p>
        </p:txBody>
      </p:sp>
      <p:sp>
        <p:nvSpPr>
          <p:cNvPr id="29" name="TextBox 28"/>
          <p:cNvSpPr txBox="1"/>
          <p:nvPr/>
        </p:nvSpPr>
        <p:spPr>
          <a:xfrm>
            <a:off x="10004906" y="2651760"/>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Réseau interne ICEM · pas de cloud</a:t>
            </a:r>
          </a:p>
        </p:txBody>
      </p:sp>
      <p:sp>
        <p:nvSpPr>
          <p:cNvPr id="30" name="Rounded Rectangle 29"/>
          <p:cNvSpPr/>
          <p:nvPr/>
        </p:nvSpPr>
        <p:spPr>
          <a:xfrm>
            <a:off x="6255867" y="3392424"/>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84467" y="3511296"/>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02</a:t>
            </a:r>
          </a:p>
        </p:txBody>
      </p:sp>
      <p:sp>
        <p:nvSpPr>
          <p:cNvPr id="32" name="TextBox 31"/>
          <p:cNvSpPr txBox="1"/>
          <p:nvPr/>
        </p:nvSpPr>
        <p:spPr>
          <a:xfrm>
            <a:off x="7124547" y="3392424"/>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Backend Express.js</a:t>
            </a:r>
          </a:p>
        </p:txBody>
      </p:sp>
      <p:sp>
        <p:nvSpPr>
          <p:cNvPr id="33" name="TextBox 32"/>
          <p:cNvSpPr txBox="1"/>
          <p:nvPr/>
        </p:nvSpPr>
        <p:spPr>
          <a:xfrm>
            <a:off x="10004906" y="3392424"/>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PM2 · port 3000</a:t>
            </a:r>
          </a:p>
        </p:txBody>
      </p:sp>
      <p:sp>
        <p:nvSpPr>
          <p:cNvPr id="34" name="Rounded Rectangle 33"/>
          <p:cNvSpPr/>
          <p:nvPr/>
        </p:nvSpPr>
        <p:spPr>
          <a:xfrm>
            <a:off x="6255867" y="4133088"/>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4467" y="4251960"/>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03</a:t>
            </a:r>
          </a:p>
        </p:txBody>
      </p:sp>
      <p:sp>
        <p:nvSpPr>
          <p:cNvPr id="36" name="TextBox 35"/>
          <p:cNvSpPr txBox="1"/>
          <p:nvPr/>
        </p:nvSpPr>
        <p:spPr>
          <a:xfrm>
            <a:off x="7124547" y="4133088"/>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MongoDB local</a:t>
            </a:r>
          </a:p>
        </p:txBody>
      </p:sp>
      <p:sp>
        <p:nvSpPr>
          <p:cNvPr id="37" name="TextBox 36"/>
          <p:cNvSpPr txBox="1"/>
          <p:nvPr/>
        </p:nvSpPr>
        <p:spPr>
          <a:xfrm>
            <a:off x="10004906" y="4133088"/>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Base métier centralisée</a:t>
            </a:r>
          </a:p>
        </p:txBody>
      </p:sp>
      <p:sp>
        <p:nvSpPr>
          <p:cNvPr id="38" name="Rounded Rectangle 37"/>
          <p:cNvSpPr/>
          <p:nvPr/>
        </p:nvSpPr>
        <p:spPr>
          <a:xfrm>
            <a:off x="6255867" y="4873752"/>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84467" y="4992624"/>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04</a:t>
            </a:r>
          </a:p>
        </p:txBody>
      </p:sp>
      <p:sp>
        <p:nvSpPr>
          <p:cNvPr id="40" name="TextBox 39"/>
          <p:cNvSpPr txBox="1"/>
          <p:nvPr/>
        </p:nvSpPr>
        <p:spPr>
          <a:xfrm>
            <a:off x="7124547" y="4873752"/>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Microservices FastAPI</a:t>
            </a:r>
          </a:p>
        </p:txBody>
      </p:sp>
      <p:sp>
        <p:nvSpPr>
          <p:cNvPr id="41" name="TextBox 40"/>
          <p:cNvSpPr txBox="1"/>
          <p:nvPr/>
        </p:nvSpPr>
        <p:spPr>
          <a:xfrm>
            <a:off x="10004906" y="4873752"/>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Uvicorn · port 8001</a:t>
            </a:r>
          </a:p>
        </p:txBody>
      </p:sp>
      <p:sp>
        <p:nvSpPr>
          <p:cNvPr id="42" name="Rounded Rectangle 41"/>
          <p:cNvSpPr/>
          <p:nvPr/>
        </p:nvSpPr>
        <p:spPr>
          <a:xfrm>
            <a:off x="6255867" y="5614416"/>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84467" y="5733288"/>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05</a:t>
            </a:r>
          </a:p>
        </p:txBody>
      </p:sp>
      <p:sp>
        <p:nvSpPr>
          <p:cNvPr id="44" name="TextBox 43"/>
          <p:cNvSpPr txBox="1"/>
          <p:nvPr/>
        </p:nvSpPr>
        <p:spPr>
          <a:xfrm>
            <a:off x="7124547" y="5614416"/>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App web + mobile</a:t>
            </a:r>
          </a:p>
        </p:txBody>
      </p:sp>
      <p:sp>
        <p:nvSpPr>
          <p:cNvPr id="45" name="TextBox 44"/>
          <p:cNvSpPr txBox="1"/>
          <p:nvPr/>
        </p:nvSpPr>
        <p:spPr>
          <a:xfrm>
            <a:off x="10004906" y="5614416"/>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Accès LAN sur postes utilisateurs</a:t>
            </a:r>
          </a:p>
        </p:txBody>
      </p:sp>
      <p:sp>
        <p:nvSpPr>
          <p:cNvPr id="46" name="TextBox 45"/>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29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05</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Démonstration</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Passage à la démo live du système</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06 · CONCLUSION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CE QUE NOUS AVONS LIVRÉ</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Ce qui a été livré.</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Quatre chiffres qui résument six mois de travail.</a:t>
            </a:r>
          </a:p>
        </p:txBody>
      </p:sp>
      <p:sp>
        <p:nvSpPr>
          <p:cNvPr id="9" name="Rounded Rectangle 8"/>
          <p:cNvSpPr/>
          <p:nvPr/>
        </p:nvSpPr>
        <p:spPr>
          <a:xfrm>
            <a:off x="640080"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0.835</a:t>
            </a:r>
          </a:p>
        </p:txBody>
      </p:sp>
      <p:sp>
        <p:nvSpPr>
          <p:cNvPr id="11" name="TextBox 10"/>
          <p:cNvSpPr txBox="1"/>
          <p:nvPr/>
        </p:nvSpPr>
        <p:spPr>
          <a:xfrm>
            <a:off x="822960"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F1-score</a:t>
            </a:r>
          </a:p>
        </p:txBody>
      </p:sp>
      <p:sp>
        <p:nvSpPr>
          <p:cNvPr id="12" name="TextBox 11"/>
          <p:cNvSpPr txBox="1"/>
          <p:nvPr/>
        </p:nvSpPr>
        <p:spPr>
          <a:xfrm>
            <a:off x="822960"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XGBoost v3 · macro</a:t>
            </a:r>
          </a:p>
        </p:txBody>
      </p:sp>
      <p:sp>
        <p:nvSpPr>
          <p:cNvPr id="13" name="Rounded Rectangle 12"/>
          <p:cNvSpPr/>
          <p:nvPr/>
        </p:nvSpPr>
        <p:spPr>
          <a:xfrm>
            <a:off x="3425113"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7993"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5</a:t>
            </a:r>
          </a:p>
        </p:txBody>
      </p:sp>
      <p:sp>
        <p:nvSpPr>
          <p:cNvPr id="15" name="TextBox 14"/>
          <p:cNvSpPr txBox="1"/>
          <p:nvPr/>
        </p:nvSpPr>
        <p:spPr>
          <a:xfrm>
            <a:off x="3607993"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Couches</a:t>
            </a:r>
          </a:p>
        </p:txBody>
      </p:sp>
      <p:sp>
        <p:nvSpPr>
          <p:cNvPr id="16" name="TextBox 15"/>
          <p:cNvSpPr txBox="1"/>
          <p:nvPr/>
        </p:nvSpPr>
        <p:spPr>
          <a:xfrm>
            <a:off x="3607993"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Perception → App</a:t>
            </a:r>
          </a:p>
        </p:txBody>
      </p:sp>
      <p:sp>
        <p:nvSpPr>
          <p:cNvPr id="17" name="Rounded Rectangle 16"/>
          <p:cNvSpPr/>
          <p:nvPr/>
        </p:nvSpPr>
        <p:spPr>
          <a:xfrm>
            <a:off x="6210147"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3</a:t>
            </a:r>
          </a:p>
        </p:txBody>
      </p:sp>
      <p:sp>
        <p:nvSpPr>
          <p:cNvPr id="19" name="TextBox 18"/>
          <p:cNvSpPr txBox="1"/>
          <p:nvPr/>
        </p:nvSpPr>
        <p:spPr>
          <a:xfrm>
            <a:off x="6393027"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Modèles ML</a:t>
            </a:r>
          </a:p>
        </p:txBody>
      </p:sp>
      <p:sp>
        <p:nvSpPr>
          <p:cNvPr id="20" name="TextBox 19"/>
          <p:cNvSpPr txBox="1"/>
          <p:nvPr/>
        </p:nvSpPr>
        <p:spPr>
          <a:xfrm>
            <a:off x="6393027"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RF · RF · XGBoost</a:t>
            </a:r>
          </a:p>
        </p:txBody>
      </p:sp>
      <p:sp>
        <p:nvSpPr>
          <p:cNvPr id="21" name="Rounded Rectangle 20"/>
          <p:cNvSpPr/>
          <p:nvPr/>
        </p:nvSpPr>
        <p:spPr>
          <a:xfrm>
            <a:off x="8995181"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78061"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40</a:t>
            </a:r>
          </a:p>
        </p:txBody>
      </p:sp>
      <p:sp>
        <p:nvSpPr>
          <p:cNvPr id="23" name="TextBox 22"/>
          <p:cNvSpPr txBox="1"/>
          <p:nvPr/>
        </p:nvSpPr>
        <p:spPr>
          <a:xfrm>
            <a:off x="9178061"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Endpoints</a:t>
            </a:r>
          </a:p>
        </p:txBody>
      </p:sp>
      <p:sp>
        <p:nvSpPr>
          <p:cNvPr id="24" name="TextBox 23"/>
          <p:cNvSpPr txBox="1"/>
          <p:nvPr/>
        </p:nvSpPr>
        <p:spPr>
          <a:xfrm>
            <a:off x="9178061"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API REST + IA</a:t>
            </a:r>
          </a:p>
        </p:txBody>
      </p:sp>
      <p:sp>
        <p:nvSpPr>
          <p:cNvPr id="25" name="Rounded Rectangle 24"/>
          <p:cNvSpPr/>
          <p:nvPr/>
        </p:nvSpPr>
        <p:spPr>
          <a:xfrm>
            <a:off x="640080" y="5120640"/>
            <a:ext cx="10911535" cy="914400"/>
          </a:xfrm>
          <a:prstGeom prst="roundRect">
            <a:avLst>
              <a:gd name="adj" fmla="val 6000"/>
            </a:avLst>
          </a:prstGeom>
          <a:solidFill>
            <a:srgbClr val="101A45">
              <a:alpha val="3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20640"/>
            <a:ext cx="10911535" cy="914400"/>
          </a:xfrm>
          <a:prstGeom prst="rect">
            <a:avLst/>
          </a:prstGeom>
          <a:noFill/>
        </p:spPr>
        <p:txBody>
          <a:bodyPr wrap="square" lIns="0" rIns="0" tIns="0" bIns="0" anchor="ctr">
            <a:spAutoFit/>
          </a:bodyPr>
          <a:lstStyle/>
          <a:p>
            <a:pPr algn="ctr">
              <a:lnSpc>
                <a:spcPct val="120000"/>
              </a:lnSpc>
            </a:pPr>
            <a:r>
              <a:rPr sz="1500" b="0" i="0">
                <a:solidFill>
                  <a:srgbClr val="FFFFFF"/>
                </a:solidFill>
                <a:latin typeface="Inter"/>
              </a:rPr>
              <a:t>Chaîne complète de bout en bout — du capteur physique jusqu'à l'écran mobile.</a:t>
            </a:r>
          </a:p>
          <a:p>
            <a:pPr algn="ctr">
              <a:lnSpc>
                <a:spcPct val="120000"/>
              </a:lnSpc>
              <a:spcBef>
                <a:spcPts val="400"/>
              </a:spcBef>
            </a:pPr>
            <a:r>
              <a:rPr sz="1200" b="1" i="0" spc="220">
                <a:solidFill>
                  <a:srgbClr val="FF9548"/>
                </a:solidFill>
                <a:latin typeface="JetBrains Mono"/>
              </a:rPr>
              <a:t>PROTOTYPE OPÉRATIONNEL</a:t>
            </a:r>
          </a:p>
        </p:txBody>
      </p:sp>
      <p:sp>
        <p:nvSpPr>
          <p:cNvPr id="27" name="TextBox 26"/>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31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06 · CONCLUSION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PISTES D'ÉVOLUTION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Et après ?</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Quatre pistes concrètes, priorisées.</a:t>
            </a:r>
          </a:p>
        </p:txBody>
      </p:sp>
      <p:sp>
        <p:nvSpPr>
          <p:cNvPr id="9" name="Rounded Rectangle 8"/>
          <p:cNvSpPr/>
          <p:nvPr/>
        </p:nvSpPr>
        <p:spPr>
          <a:xfrm>
            <a:off x="640080" y="265176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1" name="Rounded Rectangle 10"/>
          <p:cNvSpPr/>
          <p:nvPr/>
        </p:nvSpPr>
        <p:spPr>
          <a:xfrm>
            <a:off x="4838547"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COURT TERME</a:t>
            </a:r>
          </a:p>
        </p:txBody>
      </p:sp>
      <p:sp>
        <p:nvSpPr>
          <p:cNvPr id="12" name="TextBox 11"/>
          <p:cNvSpPr txBox="1"/>
          <p:nvPr/>
        </p:nvSpPr>
        <p:spPr>
          <a:xfrm>
            <a:off x="868680" y="314553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Edge AI</a:t>
            </a:r>
          </a:p>
        </p:txBody>
      </p:sp>
      <p:sp>
        <p:nvSpPr>
          <p:cNvPr id="13" name="TextBox 12"/>
          <p:cNvSpPr txBox="1"/>
          <p:nvPr/>
        </p:nvSpPr>
        <p:spPr>
          <a:xfrm>
            <a:off x="868680" y="364845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Déployer le modèle XGBoost sur le Raspberry — décision locale sans réseau.</a:t>
            </a:r>
          </a:p>
        </p:txBody>
      </p:sp>
      <p:sp>
        <p:nvSpPr>
          <p:cNvPr id="14" name="Rounded Rectangle 13"/>
          <p:cNvSpPr/>
          <p:nvPr/>
        </p:nvSpPr>
        <p:spPr>
          <a:xfrm>
            <a:off x="6210147" y="265176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8747" y="285292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6" name="Rounded Rectangle 15"/>
          <p:cNvSpPr/>
          <p:nvPr/>
        </p:nvSpPr>
        <p:spPr>
          <a:xfrm>
            <a:off x="10408615"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MOYEN TERME</a:t>
            </a:r>
          </a:p>
        </p:txBody>
      </p:sp>
      <p:sp>
        <p:nvSpPr>
          <p:cNvPr id="17" name="TextBox 16"/>
          <p:cNvSpPr txBox="1"/>
          <p:nvPr/>
        </p:nvSpPr>
        <p:spPr>
          <a:xfrm>
            <a:off x="6438747" y="314553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Weibull</a:t>
            </a:r>
          </a:p>
        </p:txBody>
      </p:sp>
      <p:sp>
        <p:nvSpPr>
          <p:cNvPr id="18" name="TextBox 17"/>
          <p:cNvSpPr txBox="1"/>
          <p:nvPr/>
        </p:nvSpPr>
        <p:spPr>
          <a:xfrm>
            <a:off x="6438747" y="364845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Remplacer la régression linéaire par une loi de Weibull pour la durée de vie.</a:t>
            </a:r>
          </a:p>
        </p:txBody>
      </p:sp>
      <p:sp>
        <p:nvSpPr>
          <p:cNvPr id="19" name="Rounded Rectangle 18"/>
          <p:cNvSpPr/>
          <p:nvPr/>
        </p:nvSpPr>
        <p:spPr>
          <a:xfrm>
            <a:off x="640080" y="454914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75030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03</a:t>
            </a:r>
          </a:p>
        </p:txBody>
      </p:sp>
      <p:sp>
        <p:nvSpPr>
          <p:cNvPr id="21" name="Rounded Rectangle 20"/>
          <p:cNvSpPr/>
          <p:nvPr/>
        </p:nvSpPr>
        <p:spPr>
          <a:xfrm>
            <a:off x="4838547" y="473202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MOYEN TERME</a:t>
            </a:r>
          </a:p>
        </p:txBody>
      </p:sp>
      <p:sp>
        <p:nvSpPr>
          <p:cNvPr id="22" name="TextBox 21"/>
          <p:cNvSpPr txBox="1"/>
          <p:nvPr/>
        </p:nvSpPr>
        <p:spPr>
          <a:xfrm>
            <a:off x="868680" y="504291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Calibration par machine</a:t>
            </a:r>
          </a:p>
        </p:txBody>
      </p:sp>
      <p:sp>
        <p:nvSpPr>
          <p:cNvPr id="23" name="TextBox 22"/>
          <p:cNvSpPr txBox="1"/>
          <p:nvPr/>
        </p:nvSpPr>
        <p:spPr>
          <a:xfrm>
            <a:off x="868680" y="554583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Deltas capteur spécifiques Alpha vs Gamma · F1 stratifié par modèle.</a:t>
            </a:r>
          </a:p>
        </p:txBody>
      </p:sp>
      <p:sp>
        <p:nvSpPr>
          <p:cNvPr id="24" name="Rounded Rectangle 23"/>
          <p:cNvSpPr/>
          <p:nvPr/>
        </p:nvSpPr>
        <p:spPr>
          <a:xfrm>
            <a:off x="6210147" y="454914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8747" y="475030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04</a:t>
            </a:r>
          </a:p>
        </p:txBody>
      </p:sp>
      <p:sp>
        <p:nvSpPr>
          <p:cNvPr id="26" name="Rounded Rectangle 25"/>
          <p:cNvSpPr/>
          <p:nvPr/>
        </p:nvSpPr>
        <p:spPr>
          <a:xfrm>
            <a:off x="10408615" y="473202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LONG TERME</a:t>
            </a:r>
          </a:p>
        </p:txBody>
      </p:sp>
      <p:sp>
        <p:nvSpPr>
          <p:cNvPr id="27" name="TextBox 26"/>
          <p:cNvSpPr txBox="1"/>
          <p:nvPr/>
        </p:nvSpPr>
        <p:spPr>
          <a:xfrm>
            <a:off x="6438747" y="504291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Vision</a:t>
            </a:r>
          </a:p>
        </p:txBody>
      </p:sp>
      <p:sp>
        <p:nvSpPr>
          <p:cNvPr id="28" name="TextBox 27"/>
          <p:cNvSpPr txBox="1"/>
          <p:nvPr/>
        </p:nvSpPr>
        <p:spPr>
          <a:xfrm>
            <a:off x="6438747" y="554583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Caméra + CV pour détecter les défauts de sertissage en sortie de machine.</a:t>
            </a:r>
          </a:p>
        </p:txBody>
      </p:sp>
      <p:sp>
        <p:nvSpPr>
          <p:cNvPr id="29" name="TextBox 2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32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0911535" cy="2286000"/>
          </a:xfrm>
          <a:prstGeom prst="rect">
            <a:avLst/>
          </a:prstGeom>
          <a:noFill/>
        </p:spPr>
        <p:txBody>
          <a:bodyPr wrap="square" lIns="0" rIns="0" tIns="0" bIns="0" anchor="t">
            <a:spAutoFit/>
          </a:bodyPr>
          <a:lstStyle/>
          <a:p>
            <a:pPr algn="ctr">
              <a:lnSpc>
                <a:spcPct val="100000"/>
              </a:lnSpc>
            </a:pPr>
            <a:r>
              <a:rPr sz="16000" b="1" i="0">
                <a:solidFill>
                  <a:srgbClr val="FFFFFF"/>
                </a:solidFill>
                <a:latin typeface="Space Grotesk"/>
              </a:rPr>
              <a:t>Merci.</a:t>
            </a:r>
          </a:p>
        </p:txBody>
      </p:sp>
      <p:sp>
        <p:nvSpPr>
          <p:cNvPr id="6" name="TextBox 5"/>
          <p:cNvSpPr txBox="1"/>
          <p:nvPr/>
        </p:nvSpPr>
        <p:spPr>
          <a:xfrm>
            <a:off x="640080" y="4023360"/>
            <a:ext cx="10911535" cy="640080"/>
          </a:xfrm>
          <a:prstGeom prst="rect">
            <a:avLst/>
          </a:prstGeom>
          <a:noFill/>
        </p:spPr>
        <p:txBody>
          <a:bodyPr wrap="square" lIns="0" rIns="0" tIns="0" bIns="0" anchor="t">
            <a:spAutoFit/>
          </a:bodyPr>
          <a:lstStyle/>
          <a:p>
            <a:pPr algn="ctr">
              <a:lnSpc>
                <a:spcPct val="110000"/>
              </a:lnSpc>
            </a:pPr>
            <a:r>
              <a:rPr sz="2400" b="0" i="0">
                <a:solidFill>
                  <a:srgbClr val="FFB37A"/>
                </a:solidFill>
                <a:latin typeface="Inter"/>
              </a:rPr>
              <a:t>Place aux questions du jury.</a:t>
            </a:r>
          </a:p>
        </p:txBody>
      </p:sp>
      <p:sp>
        <p:nvSpPr>
          <p:cNvPr id="7" name="TextBox 6"/>
          <p:cNvSpPr txBox="1"/>
          <p:nvPr/>
        </p:nvSpPr>
        <p:spPr>
          <a:xfrm>
            <a:off x="640080" y="5852160"/>
            <a:ext cx="10911535" cy="365760"/>
          </a:xfrm>
          <a:prstGeom prst="rect">
            <a:avLst/>
          </a:prstGeom>
          <a:noFill/>
        </p:spPr>
        <p:txBody>
          <a:bodyPr wrap="square" lIns="0" rIns="0" tIns="0" bIns="0" anchor="t">
            <a:spAutoFit/>
          </a:bodyPr>
          <a:lstStyle/>
          <a:p>
            <a:pPr algn="ctr">
              <a:lnSpc>
                <a:spcPct val="110000"/>
              </a:lnSpc>
            </a:pPr>
            <a:r>
              <a:rPr sz="1200" b="1" i="0" spc="250">
                <a:solidFill>
                  <a:srgbClr val="C9D0DC"/>
                </a:solidFill>
                <a:latin typeface="JetBrains Mono"/>
              </a:rPr>
              <a:t>MOUTIA BENSAAD  ·  ISET NABEUL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